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첫 문장 그대로, 낮고 천천히: "지금부터 사건번호 2026-몸-2, 통증 사건 심리를 개정합니다. 오늘 재판장은 여러분 각자, 저는 감정인입니다." 2초 침묵. [0:15–0:30] 감정인 소개 12초, 문구 고정: "스포츠의학 박사, 운동·재활운동 지도 20년, 기업·공공기관 강의. 저는 의료인이 아니며 진단·치료를 하지 않습니다." 무릎 연골 이식 수술 경험은 무릎 사건에서 30초 재등장. 화면 어디에도 '치료·환자·진단·검사' 단어 금지. [0:30–0:50] 카드 3장 훑기. 진술 카드에서 데이터 한 문장: "숫자 하나와 기기 무작위 번호만, 외부 클라우드에 익명 저장, 집계만 공개·기관 공유, 원자료는 30일 내 삭제." (담당자에게 사전 서면 고지, 참가자 페이지의 연령대 등 선택 항목은 끄거나 '선택' 표기.) "감정인은 이해관계가 있는 증인이라 여러분이 먼저 제 증거능력을 심사하셔야 합니다. 다음 장에서 제가 스스로 고지하겠습니다." [0:50–1:00] 손들기 후 바로 다음 장. 금지: '통증은 허상', '즉시 낫는다', '90%가 아프다'. 콜백 전제 주의: 2회차는 다른 참가자. '1회차 분들은 아시죠'류 발화 금지. 겹치는 분이 있어도 지목하지 않는다. 공은 '선물'이 아니라 '기관과 사전 협의된 실습 교구'로만 호칭(비용 처리는 담당자와 서면 확정).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[0:00–0:40] 카드는 읽지 않고 한 줄씩 가리키며: "자기보고, 대조군 없음, 기대효과, 그리고 제 이해관계. 법정에서 증거능력 없는 증거로 판결하지 않으시죠. 제가 먼저 고지합니다." 한계 3 발화 고정: "한쪽만 푸는 것은 기대효과를 없애지 못합니다 — 어느 쪽을 풀었는지 본인이 아니까요. 다만 '전체가 좋아진 기분'과 '푼 쪽만 다른 감각'을 구분하는 데는 도움이 됩니다. 눈을 가리는 실험은 오늘 하지 않으니 이 한계는 판결 한계에 그대로 남깁니다." [0:40–1:10] 쟁점 3 답: "움직여도 되는 것과 병원이 먼저인 것 — 오늘 기억할 대표 일곱 가지입니다. 저림, 힘 빠짐, 대소변, 발열, 야간통, 외상, 급성. 이 밖에도 원인 모를 체중 감소, 암 병력, 스테로이드 장기 복용은 의료기관이 먼저입니다. 이 목록은 오늘 실습 참가 여부용이고, 병원 갈지 말지의 최종 판단은 의료인의 몫입니다." 해당자는 손 들지 않아도 됨. [1:10–1:30] 강도 기준 1회 선언, 숫자 없이: "숨이 쉬어지는 아픔까지가 정답. 숨 막히면 너무 센 것. 이건 연구 근거가 아니라 제 현장 기준입니다." 이후 부위에서는 신호어 '숨!'만. 관할 안 세 가지도 '감정인의 실무 기준'이라고 층위를 밝힌다. '진단·검사'라는 단어는 쓰지 않는다. 1회차 Q&amp;A에 협착 진단자가 있었으나 개별 지목 금지, 전체 규칙으로만 처리. 마지막 문장: "그 이상은 말하지 않겠습니다."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화면의 쟁점 카드 7장은 answers에서 자동 생성된다(이 슬라이드에 cards를 넣지 말 것 — 중복 표시됨). 읽지 말고 화면을 보게 한다. "판사님들이 사건 심리 전에 쟁점부터 정리하시듯, 오늘 답할 질문 7개입니다. 3번은 방금 답했습니다. 답을 못 하면 감정인 기피 사유입니다." 어디서 답하는지는 lead 한 줄로. 웃음 1회만. 바로 다음 장. 데모 모드로 화면 확인 필수.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[0:00–0:25] "판사님, 하루에 기록을 몇 시간 보십니까?" 고시 발화 고정: "고용노동부 고시는 하루 4시간 이상 키보드·마우스를 집중 조작하는 작업을 '근골격계부담작업'으로 정해 사업주에게 유해요인조사를 하게 합니다. 기록 검토가 그 조문에 바로 해당한다고 말씀드리는 건 아닙니다. 다만 '오래 같은 자세'를 국가가 부담 요인으로 보는 취지는 같습니다." (고시 제4호 '임의로 자세를 바꿀 수 없는 조건에서 2시간 이상 목·허리를 구부리거나 트는 작업'은 '조건부'로만 언급 가능, 판사 업무 해당 여부는 단정하지 않음.) "범인은 나쁜 자세가 아니라 한 자세라는 가설입니다. 근육이 교대 근무를 못 한 겁니다." [0:25–0:45] 쟁점 2 실험 예고 후 즉시 시작: "지금부터 60초, 가장 바르다고 생각하는 자세로 앉아 계십시오. 제가 다음 장을 말하는 동안 유지합니다." 근거는 기관명+연도만, 수치는 고시 '4시간'만. 금지: '디스크가 생긴다' → '부담이 쌓입니다', '국가가 인정했다' → '고시의 취지'.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60초 실험 진행 중 — 근거 두 개를 기관명+연도로만 읽는다(논문 저자명은 화면·발화에서 제외, references에만). "좋은 의자는 좋은 변호사입니다. 부담을 나눠 주죠. 그런데 변호사가 대신 걸어 주진 않습니다." [0:30–0:45] "자, 어디가 먼저 뻐근합니까? 목? 어깨? 바른 자세로 60초 버틴 것도 정적 부하입니다. 가장 좋은 자세는 다음 자세입니다. 이 문장 하나 기억하십시오." 대비 문장(아무렇지 않은 분이 많을 때): "60초에 아무렇지 않으신 분 — 정상입니다. 고시가 부담작업으로 보는 기준은 같은 자세 4시간입니다. 그 4시간을 60초로 줄여 보여드릴 수는 없으니, 허리 사건에서 다른 방식(같은 의자, 한쪽만)으로 확인합니다." 금지: '60초 이상 고정되면 ~된다'류 수치 단정 — '오래 고정되면'으로.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[0:00–0:10] 공을 책상에 한 번 톡(의사봉). "증거조사를 개시합니다." 이 리듬을 부위마다 반복. [0:10–0:25] 세 규칙을 콜앤리스폰스로 고정: "아플 때 어떻게 한다?" → "내쉬고, 미간 풀고, 심봤다." 규칙 1 발화: "한쪽만 풀어도 기대는 남습니다. 대신 시간·피로·기분처럼 양쪽에 걸리는 요인은 빠지고, 반대편은 원래 상태로 보존됩니다." [0:25–0:30] 벌금 선포: "숨 참기 1만 원, 고개 끄덕임 1만 원, 발 아치 붕괴 1만 원. 법원이니 벌금은 익숙하시죠. 징수관은 옆자리 재판장님. 실제 징수는 없습니다." 끄덕임 벌금은 '내 몸을 인지했는가' 게임이지 끄덕이지 말라는 처방이 아님을 목 사건에서 밝힌다. 반대쪽 규칙을 반드시 말한다: "반대쪽은 재검사 숫자를 넣은 다음에 풉니다. 그 전에 풀면 대조군이 사라집니다." 사후 QR 숫자는 '누를 때 아픔'이 아니라 '동작 시 불편감'임을 부위마다 한 번씩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[1.5분] 휴대폰을 들고 찍고, 숫자 하나 누르고, 내려놓기. 응답 수가 올라가는 것을 보여주며 기다린다.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[5분] 0:00 공 톡. "증거조사 개시. 사건 1, 발. 주장: 발은 1층이라는 가설." 0:10 확인 동작: 기립, 대체 동작을 먼저 제시한다: "구두·힐·무릎 아픈 분·임신 중·균형 불안하면 뛰지 마시고 의자 잡고 한 발씩 체중 옮기기 셋. 나머지는 가볍게 셋." "어느 발이 둔합니까? 그 발부터 풉니다." 0:40 리셋 1 — 호흡 규칙 통합 설명은 여기서 1회만: "공은 굴리는 게 아니라 누르는 겁니다. 누르는 것보다 중요한 게 5초 동안 내쉬는 것. 창문에 김 서리듯 소리 나게. 옆사람 귀에 안 들리면 벌금." 발 감각 둔한 분·발 상처 이력·항응고제는 압박 생략 선언. 2:00 리셋 2 발가락 교대. "아프죠? 심봤다." 2:50 리셋 3 걷기 3걸음. 3:30 대질(클라이맥스): "공 빼고. 안 푼 발로 — 이게 원래 내 발. 푼 발로 — 다릅니까?" 탄성이 나오면 멈추고 되묻기: "지금 뭐라고 하셨습니까? 증인 진술로 채택하겠습니다." 1회차 현장 반응(매트 버전, 강사 메모)은 화면에 띄우지 않고 참고만. 4:20 집행 한 문장 + 1분 리셋 첫 10초 예고. 4:40 "재검사 들어갑니다. 같은 동작, 같은 기준. 누를 때 아픔이 아니라 동작할 때 불편감입니다." [사후 QR 화면] 입력 20초 → 입력 끝난 분부터 반대쪽 45초 속성(공 아치 5초 ×3 + 발가락 교대 ×5) → 보드 읽고 ruling 문장 그대로, 좋든 나쁘든. 금지: '족저근막염이 바로 없어진다' → '몇 점 달라지는지 보겠습니다'.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[1.5분] 같은 기준으로 재검사. 평균 감소 폭과 개선율을 증거처럼 읽어 준다. 변화 없는 분도 데이터라고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[1.5분] 휴대폰을 들고 찍고, 숫자 하나 누르고, 내려놓기. 응답 수가 올라가는 것을 보여주며 기다린다.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[5분] 0:00 공 톡. "사건 2, 목. 주장: 목은 피해자, 유력한 용의자는 등." 0:10 확인 동작(쟁점 5 답): "좌우 회전 10초. 걸리는 쪽 기억. 이게 목 자가 확인의 전부입니다." 0:30 리셋 1(쟁점 4 답, 번호 붙여): "쟁점 4 — 법대 위 1분의 핵심 30초입니다. 등받이에 등 위쪽, 배 조이고, 소리 없이 내쉬기 셋." 1:30 리셋 2 후두하 엄지, 좌우 비교. "아주 천천히. 빨리 움직이면 힘이 안 빠집니다(현장 관찰)." 어지럼·시야 흐림 즉시 중단. 해부학적 이유는 말하지 않는다. 2:40 리셋 3 끄덕임 습관 — 법원 맞춤 최고 구간. "왜 끄덕이시냐면 저에게 집중하시니까요. 경청하는 직업병입니다." 벌금 게임: "끄덕이면 1만 원 — 아, 또 끄덕이셨습니다, 2만 원." 웃음 뒤 반드시 착지: "끄덕임을 없애라는 게 아닙니다. 방금 내가 끄덕인 걸 몰랐다는 것 — 그 '모름'이 오늘의 발견입니다. 관계도 중요하니 70:30." 3:30 대질: "같은 속도로 회전. 목 한 번도 안 만졌습니다. 달라졌습니까? 이제 등을 범인이라 불러도 되겠습니까 — 판단은 재판장님이." 4:20 소결 예고. 4:40 재검사: "같은 동작 직후, 같은 기준." [사후 QR 화면] 입력 → 반대쪽 후두하 30초 속성 → ruling 문장에 쟁점 1·4 번호 붙여 회수. 저림 호소자는 즉석 처치 금지 → "지속되면 의료기관 평가". 1회차 협착 진단 참가자가 다시 오더라도 개별 지목 금지. 1회차 현장 반응(강사 메모)은 화면에 띄우지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[1.5분] 같은 기준으로 재검사. 평균 감소 폭과 개선율을 증거처럼 읽어 준다. 변화 없는 분도 데이터라고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[1.5분] 휴대폰을 들고 찍고, 숫자 하나 누르고, 내려놓기. 응답 수가 올라가는 것을 보여주며 기다린다.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[5분] 0:00 공 톡. "사건 3, 어깨. 주장: 통증은 근육의 집 주소 — 비유입니다. 아픈 자리가 항상 원인 자리는 아닙니다." 0:10 확인 동작(쟁점 5): 양팔 만세, 무거운 팔 기억. 0:30 리셋 1 승모근 모서리, 한쪽만. "오른손잡이는 보통 오른쪽. 아프면?" → "심봤다." 골다공증 진단자는 등받이 공 대신 손으로 가볍게, 항응고제는 압박 생략 선언. 1:40 리셋 2 겨드랑이 뒤 근육 벽 — 안전 문구 먼저, 이유 설명 없이: "정중앙은 누르지 않습니다. 등 쪽으로 손가락 한 마디. 저리면 중단 신호, 옮겨도 남으면 생략." 2:40 리셋 3 메타인지 실험: "지금 힘 몇 % 뺐습니까? 80%? — 5% 빼셨습니다. 물 먹은 솜, 녹은 아이스크림." 보톡스·외모 농담 없음. 3:20 대질(오늘 최고 클라이맥스): "공 빼고. 안 푼 팔 만세. 푼 팔 만세." 탄성이 나오면 멈추고 되묻기: "지금 뭐라고 하셨어요? 증인 진술로 채택하겠습니다." "아프면 유죄, 안 아프면 무죄가 아닙니다. 감각은 선악이 없어요." 기대효과 한 문장: "한쪽만 풀어도 기대는 남습니다. 전체 기분과 푼 쪽 감각만 구분해 보십시오." 4:20 집행: "스포츠카, 주차장에 두지 마십시오." + 1분 리셋 B 버전. 4:40 재검사: "만세 직후 불편감입니다. 누를 때 아픔이 아닙니다." [사후 QR 화면] 입력 → 반대쪽 모서리 45초 속성 → ruling. 1회차 현장 반응(참가자 발언 인용 없이 강사 메모)은 화면에 띄우지 않는다. 금지: '바로 낫게 해드린다' → '가벼워지는지 확인'.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[1.5분] 같은 기준으로 재검사. 평균 감소 폭과 개선율을 증거처럼 읽어 준다. 변화 없는 분도 데이터라고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[1.5분] 휴대폰을 들고 찍고, 숫자 하나 누르고, 내려놓기. 응답 수가 올라가는 것을 보여주며 기다린다.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[5분] 0:00 공 톡. "사건 4, 허리. 주장: 허리는 피해자, 유력한 용의자는 엉덩이." 0:10 확인 동작(쟁점 5): 앉아서 숙이기 또는 3걸음. 쟁점 5 종합 구호는 여기서 한 번: "돌리고, 들고, 걷고 — 10초씩, 0~10. 셋 중 가장 걸리는 게 오늘 내 사건입니다." 0:30 리셋 1 — 안전 문구 먼저, 이유 없이: "바퀴 의자는 벽에 붙이고 양발 바닥. 저리면 손가락 한 마디 옮기고, 남으면 생략." 인공관절·항응고제는 압박 생략 선언. "오늘 하루 종일 엉덩이가 방석이었습니다. 내 엉덩이가 외칩니다 — 전 방석이 아니에요." 1:20 "10초 불편할지, 오후 내내 뻐근할지 선택하세요. 하나 둘 셋에 완전히 뺍니다." 한 마디 이동 후 반복. 2:40 리셋 3 골반 중간점(쟁점 2·4 답): "앞뒤로 작게 5번, 가장 편한 중간. 이게 좋은 의자가 못 해주는 일입니다. 1분 리셋의 첫 10초가 이것." 3:20 대질: "공 빼고. 안 푼 다리 들기. 푼 다리. 일어나서 3걸음. 첫 걸음이 다릅니까?" 변화 없는 분 손들기 — 반드시 말한다: "원인이 엉덩이가 아닌 경우이니 더 중요한 정보입니다." 법원 청중은 예외를 인정하는 쪽을 신뢰. 4:20 집행 + 1분 리셋 첫 10초. 4:40 재검사: "같은 동작 직후, 누를 때 아픔 아님." [사후 QR 화면] 입력 → 반대쪽 뒷주머니 45초 속성 → ruling에 쟁점 2·4·5 번호 붙여 회수. 1회차 현장 반응(강사 메모)은 화면에 띄우지 않는다. 금지: '허리 한 방', '거의 마법', '즉시 없어진다' → '달라지는지 확인합니다'.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[1.5분] 같은 기준으로 재검사. 평균 감소 폭과 개선율을 증거처럼 읽어 준다. 변화 없는 분도 데이터라고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[1.5분] 휴대폰을 들고 찍고, 숫자 하나 누르고, 내려놓기. 응답 수가 올라가는 것을 보여주며 기다린다.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[5분] 0:00 공 톡. "마지막 사건, 무릎. 주장: 무릎은 2층이라는 가설." 0:10 확인 동작: 천천히 일어나기 1회, 무릎 방향 관찰. "안쪽으로 모입니까?" 0:30 리셋 1 허벅지 앞 압박 + 구부렸다 폈다 ×10. "움직이면서 내쉽니다. 옆사람 귀에 안 들리면 호흡 안 한 것." 인공관절·항응고제·멍 잘 드는 분은 압박 생략, 동작만(rules와 동일). 1:30 감정인 서사 30초 — 문구 고정: "수술과 병원 재활을 마친 뒤에도 남아 있던 불편이, 이완을 먼저 하고 순서를 이완→뒤쪽 강화→앞쪽 강화로 바꾼 뒤 달라져 지금 42km를 뜁니다. 수술·재활이 틀렸다는 뜻이 아니라 그 다음 단계 이야기이고, 표본 1명입니다. 병원 재활 중이면 그대로 하고 이완만 추가하십시오." 금지: '수술해도 안 낫는다', '슬개골이 더 당긴다'류 기전 단정. 2:20 리셋 2 발 3점·둘째 발가락 방향. 3:00 리셋 3 무릎 2% 일어나기 ×3(쟁점 6 단서): "5% 아니고 2%. 티 나지 않게." 3:40 대질: 좌우 다리 들기, 한 번 더 일어나기. 4:20 집행 + 1분 리셋. 4:40 "마지막 재검사. 일어날 때 불편감. 이제 판결로 갑니다." 벌금 결산 예고: "오늘 벌금 총액은 판결 뒤 발표합니다." [사후 QR 화면] 입력 → 반대쪽 허벅지 45초 속성 → ruling → 바로 판결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[1.5분] 같은 기준으로 재검사. 평균 감소 폭과 개선율을 증거처럼 읽어 준다. 변화 없는 분도 데이터라고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공개 전 고지: "판결 선고 전에 한 가지. 좋아진 분만 손 드는 자리가 아닙니다. 그대로인 분, 더 불편한 분도 오늘 증거의 일부입니다." 20초 침묵 후 '판결 선고' 버튼. [0:20–1:10] 보드 읽는 순서 고정: ① 참여자 수 "이 법정의 진술 건수" ② 변화 없음·증가 비율을 먼저 "이분들이 있어서 이 숫자가 믿을 만합니다. 전부 좋아졌다면 제가 먼저 의심합니다" ③ 분모를 소리 내어: "사전 0점은 내려갈 수 없으니 판정에서 제외했습니다. 사전 1점 이상 응답 중 1점 이상 내려간 비율입니다. 1점은 오차일 수 있어 2점 이상도 따로 보여드립니다" ④ 평균 감소 "5분 개입치고 크게 들리십니까, 작게 들리십니까 — 판단해 보실 만합니다" ⑤ 부위별 표에서 최대·최소 감소를 나란히 "용의자 가설이 가장 잘 맞은 부위와 덜 맞은 부위". N&lt;5 부위는 '참고용'이라고 말한다. 단위는 '건'으로 통일. [1:10–1:40] 주문·이유·조건·한계 낭독. 한계는 반드시 소리 내어 — '비맹검', '1회차와 조건 다름' 포함. [1:40–2:20] 쟁점 6 답: "헬스장 다니시는 분? 그런데도 목이 아프시죠. 운동은 체육관 1시간, 관리는 체육관 밖 23시간입니다. 오늘 체육관식 운동 0분에 이 숫자입니다. 운동하지 말라는 뜻이 아닙니다." 무릎 소결의 '순서(풀기→방향→강화)'는 쟁점 6의 부속 단서라고만 말한다. 1회차 문장 재활용: "풀어서 가벼워진 팔, 주차장에 두시면 다시 굳습니다." [2:20–2:30] 벌금 결산: "오늘 벌금 총액은 전액 공으로 대납 처리됐습니다. 싸게 먹혔죠." "오늘 답이 안 된 쟁점이 있으면 나가시면서 담당자께 말씀해 주십시오. 다음 회차의 첫 쟁점이 됩니다." "이 판결은 강의장 전체의 판결입니다. 여러분 각자의 판결문은 휴대폰에 있습니다." 강사 사례는 '표본 1명'이라고 스스로 말한다. '구조는 안 바뀌므로 변화분은 근육 몫'이라는 소거법은 쓰지 않는다. '운동 0분' 표현은 반드시 '체육관식 운동 0분'으로.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쟁점 7: 손가락 세 개 — "범인, 내쉬기, 1분 리셋." 판사님들은 요약을 잘 하시니 세 단어면 됩니다. 집행 주기는 한 문장으로만: "한 시간에 한 번 1분." [0:20–1:20] 쟁점 4 답을 몸으로 — A 법대 버전 전원 실연, 강사가 초를 센다(손·공 없음, 소리 없이): "0~10초 발 3점, 뒷주머니 쪽으로 체중 한 번. 10~40초 등받이에 등 위쪽, 배 조이고, 소리 안 나게 5초 내쉬기 셋. 40~55초 미간 힘 빼기. 55~60초 고개 좌우 — 달라졌습니까? 이게 법대 위 1분입니다. 집무실에서는 여기에 모서리 누르며 만세 둘을 더합니다(B)." 마지막 벌금 콜백: "방금 고개 끄덕인 걸 아신 분? 그 '앎'이 오늘의 발견입니다." [1:20–1:50] 옆사람에게 한 문장 낭독(30초). "말한 것만 집행됩니다." [1:50–2:00] 폐정 선언은 quote 한 버전만 + 공 톡. 벌금 결산·미답 쟁점 안내는 판결 슬라이드 끝에서 이미 처리. 사진 안내는 화면 safety로만, 발화 생략. 앱·베타·특허 언급 금지(무상 서비스는 개인에게 제안하지 않고 필요 시 기관 공식 절차로만). 반대쪽 숙제는 각 부위 사후 QR에서 이미 45초 처리했으므로 '오늘 밤 3분 더'로만. ■ 종료 후 개별 Q&amp;A 고정 대본(반드시 준수, 담당자에게도 사전 공유): "오늘은 개별 처치를 하지 않습니다. 진단명이 있으시면 담당 의료진과 상의하시고, 오늘 방법은 '추가'로만 쓰십시오. 저림·힘 빠짐이 있으면 오늘 압박은 하지 않는 것이 제 규칙입니다." 금지 항목: ① 진단명·영상 소견에 대한 설명 ② 특정 부위에 손 대기(즉석 압박) ③ '없어진다·10초면 된다·눌리고 있다'류 발언 ④ 개인 연락처·상담 유도. 사전 서면 확인 3항목: 촬영 여부·범위(뒷모습·실습 장면 위주), 강사 SNS·홈페이지·제안서 게시 가부, 기관명·로고 대외 사용 가부.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· 사건번호 2026-몸-2 · 개정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개정 — 오늘 재판장은 여러분 각자입니다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건을 심리합니다 — 발·목·어깨·허리·무릎. 저는 판결하지 않습니다. 감정인으로서 가설과 증거만 제출하고, 판단은 각자 자기 몸에서 하십니다.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3544824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81635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진술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0896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QR · 0~10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840480"/>
            <a:ext cx="31424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하나와 기기별 무작위 번호만 받습니다(익명 클라우드 저장). 집계만 공개, 원자료는 30일 내 삭제.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2064" y="2651760"/>
            <a:ext cx="3544824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3232" y="281635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증거조사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3232" y="310896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문헌 + 확인 + 실험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3232" y="3840480"/>
            <a:ext cx="31424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풀고 안 푼 쪽과 대질합니다. 반대편이 대조군입니다.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5488" y="2651760"/>
            <a:ext cx="3544824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6656" y="281635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재검사·판결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310896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 QR → 각자 판결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96656" y="3840480"/>
            <a:ext cx="31424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달라졌는지, 같은지, 더 불편한지 — 숫자로 판단합니다.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206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D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"통증은 실제 또는 잠재적 조직 손상과 관련되거나 그와 유사한, 불쾌한 감각적·정서적 경험이다." — IASP 통증 정의 개정(2020). 통증은 실재합니다. 다만 손상의 크기와 같은 뜻은 아닙니다.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증거능력 심사 · 감정인 자기 고지 · 쟁점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증거능력 고지 — 반박부터 인정하겠습니다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판사님들이 속으로 던지실 반박을 제가 먼저 인정합니다. 그래서 오늘의 기준은 '즉시 낫는다'가 아니라 '달라지는지 확인한다'입니다.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81635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0896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자기보고 · 직후 · 1회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840480"/>
            <a:ext cx="21991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0~10은 본인 진술입니다. 기분·기억이 섞이고, 내일까지 가는지는 별개 쟁점입니다.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78708" y="265176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9876" y="281635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579876" y="310896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대조군 없음 → 한쪽만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3840480"/>
            <a:ext cx="21991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차원 대조군은 없습니다. 한쪽만 풀어 시간·피로·기분처럼 양쪽에 걸리는 요인만 뺍니다.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08776" y="265176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9944" y="281635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310896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기대효과는 남습니다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9944" y="3840480"/>
            <a:ext cx="21991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풀어도 어느 쪽을 풀었는지 본인이 압니다(비맹검). 가림 실험은 오늘 하지 않습니다.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38844" y="265176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40012" y="281635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240012" y="310896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감정인의 이해관계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0012" y="3840480"/>
            <a:ext cx="21991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이 방법으로 일하는 사람입니다. 그래서 효과를 선언하지 않고 여러분이 측정합니다.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9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쟁점 3의 답 — 오늘 기억할 대표 일곱 가지(관할 밖): 저림 · 힘 빠짐 · 대소변 장애 · 발열 · 야간통 · 외상 · 급성 심한 통증. 하나라도 있으면 오늘 압박은 생략하고 의료기관 평가가 먼저입니다. 일곱 가지가 없어도 2~4주 이상 지속·악화, 원인 모를 체중 감소, 암 병력, 스테로이드 장기 복용은 평가 대상. 목·어깨 통증에 가슴 답답함·식은땀이 함께 오면 실습이 아니라 응급입니다. 각하(압박 생략, 동작만): 수술 직후 · 부종·열감 · 임신 중 · 항응고제 복용·멍 잘 드는 분 · 골다공증 진단 · 발 감각 저하. 뛰기 생략 대상(무릎 통증·임신·균형 불안·구두)은 대체 동작. 관할 안(오늘 실습 참가 기준 — 가이드라인이 아닌 감정인의 실무 기준): 자세를 바꾸면 덜해지고, 눌렀을 때 '시원한 불편감'이며, 숨이 쉬어지는 아픔까지. 숨이 막히면 너무 센 것입니다. 이 목록은 오늘 참가 여부용이며, 병원 갈지 말지의 최종 판단은 의료인의 몫입니다.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정리 · 어디서 답하는가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정리 — 오늘 답할 판사의 질문 7개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3은 방금 답했습니다. 1·2는 다음 두 장, 4는 목·허리·폐정, 5는 목·어깨·허리, 6은 무릎·판결, 7은 폐정에서 — 별도 시간 없이 심리 안에서 답합니다.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60320"/>
            <a:ext cx="2601468" cy="1645920"/>
          </a:xfrm>
          <a:prstGeom prst="roundRect">
            <a:avLst>
              <a:gd name="adj" fmla="val 8333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72491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01752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일을 오래 하면 목과 허리가 아픈가?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78708" y="2560320"/>
            <a:ext cx="2601468" cy="1645920"/>
          </a:xfrm>
          <a:prstGeom prst="roundRect">
            <a:avLst>
              <a:gd name="adj" fmla="val 8333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79876" y="272491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579876" y="301752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의자와 바른 자세만으로 해결되지 않는 이유는 무엇인가?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08776" y="2560320"/>
            <a:ext cx="2601468" cy="1645920"/>
          </a:xfrm>
          <a:prstGeom prst="roundRect">
            <a:avLst>
              <a:gd name="adj" fmla="val 8333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9944" y="272491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9944" y="301752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통증이 있을 때 움직여도 되는 것과 병원에 가야 하는 것을 어떻게 구분하는가?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038844" y="2560320"/>
            <a:ext cx="2601468" cy="1645920"/>
          </a:xfrm>
          <a:prstGeom prst="roundRect">
            <a:avLst>
              <a:gd name="adj" fmla="val 8333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40012" y="272491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240012" y="301752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재판이나 기록 검토 중 1분밖에 없다면 무엇을 해야 하는가?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389120"/>
            <a:ext cx="3544824" cy="1463040"/>
          </a:xfrm>
          <a:prstGeom prst="roundRect">
            <a:avLst>
              <a:gd name="adj" fmla="val 9375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455371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5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484632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어깨·목·허리 중 내 문제를 간단히 확인할 방법이 있는가?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322064" y="4389120"/>
            <a:ext cx="3544824" cy="1463040"/>
          </a:xfrm>
          <a:prstGeom prst="roundRect">
            <a:avLst>
              <a:gd name="adj" fmla="val 9375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23232" y="455371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23232" y="484632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운동을 많이 하는 것과 몸을 잘 관리하는 것은 어떻게 다른가?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095488" y="4389120"/>
            <a:ext cx="3544824" cy="1463040"/>
          </a:xfrm>
          <a:prstGeom prst="roundRect">
            <a:avLst>
              <a:gd name="adj" fmla="val 9375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55371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7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296656" y="484632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딱 세 가지만 기억한다면 무엇인가?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1 · 가설과 서증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쟁점 1 — 왜 오래 일하면 목과 허리가 아픈가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120640" cy="1554480"/>
          </a:xfrm>
          <a:prstGeom prst="roundRect">
            <a:avLst>
              <a:gd name="adj" fmla="val 8824"/>
            </a:avLst>
          </a:prstGeom>
          <a:solidFill>
            <a:srgbClr val="3A2A0F"/>
          </a:solidFill>
          <a:ln w="12700">
            <a:solidFill>
              <a:srgbClr val="3A2A0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057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주장 · 가설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317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범인은 '나쁜 자세'가 아니라 '한 자세'입니다. 오래 같은 자세로 있으면 목·허리를 받치는 근육이 쉬지 못하고 계속 일하는 정적 부하가 쌓입니다. 기록 검토·경청·집중은 이 정적 부하가 특히 긴 직무라는 가설입니다.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 가설: "오래 써서 닳은 것(퇴행) 아닌가?" — 영상 소견은 통증이 없는 사람에게도 흔하다는 것이 일반 원칙이고, 소견과 통증은 같은 말이 아닙니다(IASP 2020). 오늘은 소견을 바꾸는 게 아니라 '지금 불편감'이 달라지는지 봅니다. 개별 원인은 의료기관 판단입니다.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5120640" cy="1097280"/>
          </a:xfrm>
          <a:prstGeom prst="roundRect">
            <a:avLst>
              <a:gd name="adj" fmla="val 12500"/>
            </a:avLst>
          </a:prstGeom>
          <a:solidFill>
            <a:srgbClr val="0F2E3F"/>
          </a:solidFill>
          <a:ln w="12700">
            <a:solidFill>
              <a:srgbClr val="0F2E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7764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현장 확인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5079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 사건에서 확인: 목을 만지지 않고 등받이에 등 상부만 붙여 등을 세운 뒤 좌우 회전을 다시 합니다. 목을 건드리지 않았는데 회전 느낌이 달라지면, 적어도 '자세가 목 감각에 영향을 준다'는 것은 각자 확인한 셈입니다.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0" y="1920240"/>
            <a:ext cx="5696712" cy="713232"/>
          </a:xfrm>
          <a:prstGeom prst="roundRect">
            <a:avLst>
              <a:gd name="adj" fmla="val 12821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2029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FD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1993392"/>
            <a:ext cx="45994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4시간 이상 집중적 키보드·마우스 조작 작업을 근골격계부담작업으로 지정해 사업주 유해요인조사 의무 부과 — 장시간 고정 사무작업의 한 유형을 국가 기준이 부담작업으로 지정(기록 검토는 직접 대상 아님, 취지만 원용)  (고용노동부 「근골격계부담작업의 범위 및 유해요인조사 방법에 관한 고시」 · high)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0" y="2743200"/>
            <a:ext cx="5696712" cy="713232"/>
          </a:xfrm>
          <a:prstGeom prst="roundRect">
            <a:avLst>
              <a:gd name="adj" fmla="val 12821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80760" y="285292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FD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816352"/>
            <a:ext cx="45994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성인에게 좌식 시간을 줄이고 어떤 강도의 활동으로든 대체할 것을 권고  (WHO 신체활동 및 좌식행동 가이드라인 (2020) · high)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0" y="3566160"/>
            <a:ext cx="5696712" cy="713232"/>
          </a:xfrm>
          <a:prstGeom prst="roundRect">
            <a:avLst>
              <a:gd name="adj" fmla="val 12821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36758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FD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639312"/>
            <a:ext cx="45994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유지 근육이 낮은 강도로 장시간 수축하면 혈류가 줄고 피로·뻐근함이 누적된다 — 근생리학 일반 원칙, 구체 수치는 인용하지 않음  (일반 원칙(정적 부하) · medium)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0E3B2C"/>
          </a:solidFill>
          <a:ln w="12700">
            <a:solidFill>
              <a:srgbClr val="0E3B2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548640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D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 </a:t>
            </a:r>
            <a:pPr indent="0" marL="0">
              <a:buNone/>
            </a:pPr>
            <a:r>
              <a:rPr lang="en-US" sz="13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 일해서라기보다 오래 '같은 자세로' 일해서일 가능성이 큽니다 — 오늘 그 가설을 확인합니다. 해법은 쉬는 시간이 아니라 자세를 바꾸는 능력입니다.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2 · 가설과 60초 실험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쟁점 2 — 좋은 의자·바른 자세만으로 안 되는 이유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120640" cy="1554480"/>
          </a:xfrm>
          <a:prstGeom prst="roundRect">
            <a:avLst>
              <a:gd name="adj" fmla="val 8824"/>
            </a:avLst>
          </a:prstGeom>
          <a:solidFill>
            <a:srgbClr val="3A2A0F"/>
          </a:solidFill>
          <a:ln w="12700">
            <a:solidFill>
              <a:srgbClr val="3A2A0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057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주장 · 가설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317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좋은 의자는 좋은 변호사입니다 — 부담을 잘 나눠 주지만 대신 걸어 주지는 않습니다. 어떤 좋은 자세도 오래 고정되면 다시 정적 부하가 되고, 굳은 엉덩이·등으로는 바른 자세를 만들기 어렵다는 가설입니다. 가장 좋은 자세는 '다음 자세'입니다.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 가설: "비싼 의자를 사면 되지 않나?" — 의자는 도움이 됩니다. 다만 의자는 '하중 배분'을 바꾸고, 오늘 실험은 '근육 상태'를 바꿉니다. 같은 의자에서 느낌이 달라지면 의자가 결정 변수가 아니었다는 뜻입니다.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5120640" cy="1097280"/>
          </a:xfrm>
          <a:prstGeom prst="roundRect">
            <a:avLst>
              <a:gd name="adj" fmla="val 12500"/>
            </a:avLst>
          </a:prstGeom>
          <a:solidFill>
            <a:srgbClr val="0F2E3F"/>
          </a:solidFill>
          <a:ln w="12700">
            <a:solidFill>
              <a:srgbClr val="0F2E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7764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현장 확인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5079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60초 — 어디가 먼저 뻐근했습니까? 그것이 오늘 첫 진술입니다. 허리 사건에서 같은 의자에 앉은 채 한쪽 엉덩이만 풉니다. 의자는 그대로인데 다리 들기·3걸음이 좌우로 다르면 의자가 변수가 아니었다는 증거입니다.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0" y="1920240"/>
            <a:ext cx="5696712" cy="713232"/>
          </a:xfrm>
          <a:prstGeom prst="roundRect">
            <a:avLst>
              <a:gd name="adj" fmla="val 12821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2029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FD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1993392"/>
            <a:ext cx="45994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60초 — 가장 바르다고 생각하는 자세를 유지한 뒤 어디가 먼저 뻐근한지 기억. 같은 의자에서 실습 후 점수가 달라지면 의자가 아니라 근육이 변수  (현장 실험(자기 관찰) · medium)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0" y="2743200"/>
            <a:ext cx="5696712" cy="713232"/>
          </a:xfrm>
          <a:prstGeom prst="roundRect">
            <a:avLst>
              <a:gd name="adj" fmla="val 12821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80760" y="285292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FD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816352"/>
            <a:ext cx="45994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요통에 일상 활동 지속과 운동을 권고 — 고정이 아니라 움직임이 표준(요통 지침, 타 부위는 유추)  (NICE NG59 (2016) · high)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0" y="3566160"/>
            <a:ext cx="5696712" cy="713232"/>
          </a:xfrm>
          <a:prstGeom prst="roundRect">
            <a:avLst>
              <a:gd name="adj" fmla="val 12821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36758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FD3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639312"/>
            <a:ext cx="45994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사람에게 맞는 단일한 '이상적 자세'의 근거는 약하며 자세를 자주 바꾸는 것이 더 중요하다는 견해가 전문 문헌에서 제시됨  (일반 원칙(자세와 통증) · medium)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0E3B2C"/>
          </a:solidFill>
          <a:ln w="12700">
            <a:solidFill>
              <a:srgbClr val="0E3B2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548640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D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 </a:t>
            </a:r>
            <a:pPr indent="0" marL="0">
              <a:buNone/>
            </a:pPr>
            <a:r>
              <a:rPr lang="en-US" sz="13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의자와 자세는 필요조건이지 충분조건이 아니다. 바른 자세는 지키는 것이 아니라 바꾸는 것이다 — 가장 좋은 자세는 다음 자세.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심리 절차 · 부위마다 8분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심리 개시 — 다섯 사건, 같은 절차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1층(발)부터 올라갑니다. 진술(사전 QR 1.5분) → 확인·감정·대질(실습 5분) → 재진술(사후 QR 1.5분). 실험은 한쪽만 — 반대편이 대조군입니다.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3544824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81635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1 · 대조군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0896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풉니다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840480"/>
            <a:ext cx="31424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반대쪽은 사후 QR 입력 뒤 45초 속성. 기대는 남지만, 양쪽에 걸리는 요인은 뺍니다 — 증거 보전.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2064" y="2651760"/>
            <a:ext cx="3544824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3232" y="281635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2 · 호흡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3232" y="310896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누르고 5초, 소리 나게 내쉬기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3232" y="3840480"/>
            <a:ext cx="31424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굴리지 않습니다. 옆사람 귀에 들려야 유효. 안 들리면 옆자리 재판장이 벌금 1만 원(실제 징수 없음).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5488" y="2651760"/>
            <a:ext cx="3544824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6656" y="281635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3 · 아플 때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310896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내쉬고 → 미간 풀고 → 심봤다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96656" y="3840480"/>
            <a:ext cx="31424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'통증은 근육의 집 주소'는 비유입니다. 주소를 찾으면 '심봤다'. 세게가 아니라 숨이 쉬어지는 강도 — 숨!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진술 접수 · BEFORE · 발·발목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발·발목 — 지금 불편감은 몇 점입니까?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200400" cy="3200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486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https://drjinfit-ship-it.github.io/jinkim/web/?mode=join&amp;s=suwon-2&amp;p=foot&amp;t=pre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0" y="1828800"/>
            <a:ext cx="7068312" cy="1554480"/>
          </a:xfrm>
          <a:prstGeom prst="roundRect">
            <a:avLst>
              <a:gd name="adj" fmla="val 8824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196596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진술 접수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240280"/>
            <a:ext cx="6611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3017520"/>
            <a:ext cx="661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사건 1 접수 — 발·발목. 지금 이 순간, 방금 한 확인 동작(가볍게 뛰기 또는 3걸음)에서 느낀 불편감을 0~10으로 진술합니다. 0도 진술입니다. 최근 발목을 삐었거나 발이 붓고 뜨거우면 동작만 하셔도 됩니다.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657600"/>
            <a:ext cx="7068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이름·연락처·소속을 받지 않습니다. 이 휴대폰의 무작위 번호로만 강의 전·후를 짝지어 익명 집계합니다.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증거조사 ① · 발·발목 · 5분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발은 1층입니다. 1층이 흔들리면 위층이 영향을 받습니다.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주장  </a:t>
            </a:r>
            <a:pPr indent="0" marL="0">
              <a:buNone/>
            </a:pPr>
            <a:r>
              <a:rPr lang="en-US" sz="13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발은 1층입니다. 아치가 굳어 감각이 둔해지면 위층(무릎·허리)이 영향을 받는다는 가설입니다. 아치를 5초 압박하고 발가락을 교대로 움직인 뒤, 같은 발이 더 가볍고 탄력 있게 느껴지는지 확인합니다.</a:t>
            </a:r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반대 가설  </a:t>
            </a:r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"평발이라 어쩔 수 없다" — 발 모양(구조)은 오늘 못 바꿉니다. 오늘 바꾸는 것은 발의 감각과 근육 상태이고, 구조가 같아도 느낌이 달라지는지를 봅니다. '90%가 평발' 식 집단 호명은 하지 않고, 족저근막염이 낫는다고 말하지 않습니다.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검증 · 체크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확인 동작(10초): 제자리에서 가볍게 3번 뛰거나 3걸음. 뛰기가 부담되면(무릎 통증·임신·균형 불안·구두·미끄러운 바닥) 의자를 잡고 한 발씩 체중 옮기기 3회로 대체 — 비교의 효력은 같습니다. 발바닥 느낌과 어느 발이 둔한지 기억합니다.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2064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0F2E3F"/>
          </a:solidFill>
          <a:ln w="12700">
            <a:solidFill>
              <a:srgbClr val="0F2E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3232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개입 실험 · 10초 리셋 · 한쪽만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3232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3232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발만: 의자에 앉아 뒤꿈치는 바닥, 발 아치 중앙에 공. 굴리지 않고 누른 채 소리 나게 5초 내쉬기 ×5 (옆사람 귀에 들리게)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누른 채 엄지↑네 발가락↓ ↔ 엄지↓네 발가락↑ 교대 ×10 — 아프면 '심봤다', 숨은 계속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일어서서 뒤꿈치 바깥 → 앞꿈치 순서로 3걸음, 5%만 발바닥에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5488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3A2A0F"/>
          </a:solidFill>
          <a:ln w="12700">
            <a:solidFill>
              <a:srgbClr val="3A2A0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6656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대질 · 좌우 비교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96656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대질: 안 푼 발 vs 푼 발로 같은 동작(가볍게 뛰기, 또는 의자 잡고 한 발씩 체중 옮기기). 어느 발이 가볍고 탄력이 있습니까? 안 푼 발이 원래 내 발 — 반대편이 대조군입니다. 차이가 없으면 그것도 증언입니다. 사후 QR에는 누를 때 아픔이 아니라 지금 동작의 불편감을 적습니다.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집행(유지): 걸을 때 뒤꿈치 바깥 → 앞꿈치. 95%는 딴생각, 5%만 발바닥에. 엘리베이터·신호등에서 발가락 살짝 들어 아치 만들기. 1분 리셋의 첫 10초: 앉은 채 발 3점 + 발가락 교대.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206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문헌: 발바닥 감각 입력이 서기·걷기의 균형 조절에 기여한다는 운동학의 일반 원칙 — 구조(평발 여부)가 아니라 사용법을 다룬다 (일반 원칙(발바닥 감각과 자세 조절))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현장: 1회차(8/31) 현장에서 한쪽 발만 푼 뒤 같은 비교를 했을 때 '가벼워졌다' 반응 — 강사 관찰·자기보고, 기록 없음(참고). 1회차는 매트·누운 자세, 오늘은 의자 버전 — 조건이 다르므로 오늘이 의자 버전의 첫 기록 (1회차 강사 관찰)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실험: 오늘 안 푼 발 vs 푼 발 비교 + 사전/사후 QR (현장 자기 대조)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9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최근 발목을 삐었거나 발바닥이 붓고 뜨거우면 압박은 생략하고 걷기만 합니다. 발 감각이 둔하거나(당뇨 등) 발에 상처·궤양 이력이 있으면 공 압박은 생략하고 발가락 교대와 걷기만 — 발 관리는 담당 의료진 지시 우선. 발바닥에 진단받은 통증(족저근막염 등)이 있으면 뒤꿈치 쪽은 피하고 강도를 낮추거나 생략, 걷기와 발가락 교대만. 저림·찌릿함은 오늘 실습의 중단 신호입니다 — 이유는 판단하지 않습니다. 구두·힐·미끄러운 바닥·균형 불안이면 뛰지 않고 의자를 잡고 체중 옮기기 또는 뒤꿈치 들었다 내리기로 대체. 항응고제 복용·멍 잘 드는 분은 압박 생략, 동작만.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재검사 · AFTER · 발·발목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발·발목 — 재검사: 지금은 몇 점입니까?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200400" cy="3200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486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https://drjinfit-ship-it.github.io/jinkim/web/?mode=join&amp;s=suwon-2&amp;p=foot&amp;t=post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0" y="1828800"/>
            <a:ext cx="7068312" cy="1554480"/>
          </a:xfrm>
          <a:prstGeom prst="roundRect">
            <a:avLst>
              <a:gd name="adj" fmla="val 8824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196596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강의장 전체 · 불편감 감소 평균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240280"/>
            <a:ext cx="6611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D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점 감소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3017520"/>
            <a:ext cx="661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현장에서는 실시간 보드로 평균·개선율이 표시됩니다. 같은 부위, 같은 기준으로 다시 입력합니다.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657600"/>
            <a:ext cx="7068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소결(현장 수치로 채움): 사건 1 소결 — 발 불편감 평균 {drop}점, 사전 1 이상 응답 중 {pct}%가 1점 이상 내려감(자기보고, 2점 이상은 화면 별도). 각자 판결: 푼 발이 다른가, 같은가. 1분 리셋의 첫 10초는 발 3점 + 발가락 교대.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진술 접수 · BEFORE · 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 — 지금 불편감은 몇 점입니까?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200400" cy="3200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486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https://drjinfit-ship-it.github.io/jinkim/web/?mode=join&amp;s=suwon-2&amp;p=neck&amp;t=pre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0" y="1828800"/>
            <a:ext cx="7068312" cy="1554480"/>
          </a:xfrm>
          <a:prstGeom prst="roundRect">
            <a:avLst>
              <a:gd name="adj" fmla="val 8824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196596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진술 접수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240280"/>
            <a:ext cx="6611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3017520"/>
            <a:ext cx="661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사건 2 접수 — 목. 지금 이 순간, 방금 한 확인 동작(좌우 회전)에서 느낀 불편감을 0~10으로 진술합니다. 돌릴 때 걸리는 느낌도 점수에 넣습니다. 팔 저림·손 힘 빠짐이 있는 분은 압박은 생략하고 등 세우기만 하셔도 됩니다.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657600"/>
            <a:ext cx="7068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이름·연락처·소속을 받지 않습니다. 이 휴대폰의 무작위 번호로만 강의 전·후를 짝지어 익명 집계합니다.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증거조사 ② · 목 · 5분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목은 피해자, 용의자는 등입니다. 피해자만 주무르지 마세요.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주장  </a:t>
            </a:r>
            <a:pPr indent="0" marL="0">
              <a:buNone/>
            </a:pPr>
            <a:r>
              <a:rPr lang="en-US" sz="13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목은 피해자, 유력한 용의자는 등(상부 흉추)입니다. 등이 굽으면 머리 위치가 바뀌어 목 근육이 더 오래 일한다는 가설입니다. 오늘 목은 한 번도 만지지 않고 등만 세운 뒤 회전 느낌이 달라지는지 확인합니다 — 쟁점 1·4·5를 여기서 답합니다.</a:t>
            </a:r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반대 가설  </a:t>
            </a:r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"고개를 끄덕이면 디스크가 생기나?" — 그렇게 말하지 않습니다. 끄덕임이 해롭다는 근거는 없고, 끄덕임은 오히려 소진폭 움직임입니다. 오늘 묻는 것은 '방금 내 목이 무엇을 했는지 알았는가'뿐입니다. "머리가 앞으로 나가서 아프다"는 문헌에서 일관되지 않으므로 가설로만 둡니다.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검증 · 체크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5 자가 확인 동작(10초): 정면에서 좌우로 편안한 범위까지 같은 속도로 회전. 더 걸리는 쪽을 기억합니다. 오늘의 기준선일 뿐입니다.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2064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0F2E3F"/>
          </a:solidFill>
          <a:ln w="12700">
            <a:solidFill>
              <a:srgbClr val="0F2E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3232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개입 실험 · 10초 리셋 · 한쪽만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3232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3232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용의자 소환 — 의자 등받이에 등 위쪽을 붙이고 배를 살짝 조여 등 세우기, 소리 나게 5초 내쉬기 ×3. 목은 건드리지 않습니다. 이것이 1분 리셋의 핵심 30초입니다(쟁점 4)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공범 — 뒤통수 아래 움푹한 곳(양쪽)에 엄지, 아주 천천히 좌우 비교, 5초 내쉬기 ×3. 어지럼·시야 흐림·구역감이 오면 즉시 손 떼기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습관 인지 — 경청 중 내 목이 지금 무엇을 하는지 알아차리기. 끄덕임이 해롭다는 근거는 없습니다. 벌금은 '내 몸을 인지하는가'를 묻는 게임이지 끄덕이지 말라는 처방이 아닙니다. 70:30은 상대와 내 몸에 주의를 나누는 비율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5488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3A2A0F"/>
          </a:solidFill>
          <a:ln w="12700">
            <a:solidFill>
              <a:srgbClr val="3A2A0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6656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대질 · 좌우 비교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96656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대질: 같은 속도로 다시 회전. 각도보다 '덜 걸리는 느낌'을 확인합니다. 목을 건드리지 않았는데 회전 느낌이 달라졌다면, 적어도 '자세가 목 감각에 영향을 준다'는 것은 각자 확인한 셈입니다. 범인 확정은 아닙니다 — 가설 지지까지만. 이제 등을 범인이라 불러도 되겠습니까 — 판단은 재판장님이.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집행(유지): 화면 위쪽을 눈높이 근처로. 한 시간에 한 번 1분 리셋 — 그 핵심 30초가 등받이에 등 상부 붙이고 배 조여 내쉬기 ×3. 법대 위에서는 소리 없이, 티 나지 않게.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206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문헌: 장시간 고정 사무작업의 한 유형(하루 4시간 이상 집중적 키보드·마우스 조작)을 국가 기준이 부담작업으로 지정 — 기록 검토는 직접 대상 아님, 취지만 원용 (고용노동부 근골격계부담작업 고시)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현장: 1회차(8/31) 현장에서 경청 중 고개 끄덕임을 본인이 인지하지 못한 참가자 다수 — 강사 관찰, 기록 없음(참고). 1회차는 매트 버전, 오늘은 의자 버전 — 오늘이 의자 버전의 첫 기록 (1회차 강사 관찰)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실험: 오늘 목을 만지지 않고 등만 세운 뒤 회전 재확인 + 사전/사후 QR (현장 자기 대조)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9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팔 저림·손 힘 빠짐·어지럼이 있으면 압박은 생략하고 등 세우기만. 목을 뒤로 꺾지 않습니다. 뒤통수 아래는 천천히·가볍게, 빠르게 문지르지 않고, 어지럼·시야 흐림·구역감이 오면 즉시 중단합니다. 저림·찌릿함은 오늘 실습의 중단 신호입니다 — 이유는 판단하지 않습니다. 항응고제 복용·멍 잘 드는 분은 압박 생략, 동작만. 목 진료 중인 분은 담당 의료진 지시를 우선합니다.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재검사 · AFTER · 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 — 재검사: 지금은 몇 점입니까?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200400" cy="3200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486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https://drjinfit-ship-it.github.io/jinkim/web/?mode=join&amp;s=suwon-2&amp;p=neck&amp;t=post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0" y="1828800"/>
            <a:ext cx="7068312" cy="1554480"/>
          </a:xfrm>
          <a:prstGeom prst="roundRect">
            <a:avLst>
              <a:gd name="adj" fmla="val 8824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196596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강의장 전체 · 불편감 감소 평균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240280"/>
            <a:ext cx="6611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D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점 감소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3017520"/>
            <a:ext cx="661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현장에서는 실시간 보드로 평균·개선율이 표시됩니다. 같은 부위, 같은 기준으로 다시 입력합니다.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657600"/>
            <a:ext cx="7068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소결(현장 수치로 채움): 사건 2 소결 — 목 불편감 평균 {drop}점, 사전 1 이상 응답 중 {pct}%가 1점 이상 내려감(자기보고). 목을 만지지 않고 얻은 숫자입니다. 쟁점 1 답: 목을 만지지 않고 자세 유지 근육(등)만 바꿨는데 달라졌다 — 범인은 나쁜 자세가 아니라 한 자세, 근육이 교대 근무를 못 한 것. 쟁점 4 답: 1분 리셋의 핵심 30초 = 등받이에 등 상부 붙이고 배 조여 내쉬기 ×3.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진술 접수 · BEFORE · 어깨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어깨 — 지금 불편감은 몇 점입니까?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200400" cy="3200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486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https://drjinfit-ship-it.github.io/jinkim/web/?mode=join&amp;s=suwon-2&amp;p=shoulder&amp;t=pre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0" y="1828800"/>
            <a:ext cx="7068312" cy="1554480"/>
          </a:xfrm>
          <a:prstGeom prst="roundRect">
            <a:avLst>
              <a:gd name="adj" fmla="val 8824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196596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진술 접수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240280"/>
            <a:ext cx="6611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3017520"/>
            <a:ext cx="661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사건 3 접수 — 어깨. 지금 이 순간, 방금 한 확인 동작(양팔 만세)에서 느낀 불편감을 0~10으로 진술합니다. 뭉침·무거움·걸림 포함. 급성 통증·탈구 이력이 있는 분은 만세 대신 앞으로 들기까지만 합니다.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657600"/>
            <a:ext cx="7068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이름·연락처·소속을 받지 않습니다. 이 휴대폰의 무작위 번호로만 강의 전·후를 짝지어 익명 집계합니다.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증거조사 ③ · 어깨 · 5분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'통증은 근육의 집 주소' — 비유입니다. 주소를 찾으면 '심봤다'.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주장  </a:t>
            </a:r>
            <a:pPr indent="0" marL="0">
              <a:buNone/>
            </a:pPr>
            <a:r>
              <a:rPr lang="en-US" sz="13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'통증은 근육의 집 주소'는 비유입니다 — 아픈 자리가 항상 원인 자리는 아닙니다. 어깨 무거움의 용의자는 목-어깨 모서리(승모근 상부)와 겨드랑이 뒤쪽 근육 벽(광배근)이라는 가설을 확인합니다. 한쪽만 풀면 팔 무게가 좌우로 달라지는지 봅니다 — 쟁점 5의 어깨 자가 확인이 여기 있습니다.</a:t>
            </a:r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반대 가설  </a:t>
            </a:r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"오십견·손목터널이 이걸로 낫나?" — 낫는다고 말하지 않습니다. 그 진단명들은 의료기관의 영역입니다. 오늘은 그 위에 얹힌 굳은 근육을 풀면 '가벼워지는지'만 확인합니다. "세게 누를수록 잘 풀린다" — 더 세게가 더 낫다는 근거는 없고, 오늘 규칙은 숨이 쉬어지는 강도입니다.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검증 · 체크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5 자가 확인 동작(10초): 양팔 천천히 만세. 걸리는 높이와 어느 팔이 무거운지 기억합니다. 무거운 팔이 오늘의 사건입니다.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2064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0F2E3F"/>
          </a:solidFill>
          <a:ln w="12700">
            <a:solidFill>
              <a:srgbClr val="0F2E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3232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개입 실험 · 10초 리셋 · 한쪽만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3232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3232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한쪽만: 목과 어깨의 모서리(승모근 위, 살짝 뒤)를 등받이와 등 사이 공으로 받치고(골다공증 진단자는 손으로 가볍게), 내쉬며 팔 만세 ×3. 아픈 지점을 찾으면 '심봤다'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겨드랑이 정중앙은 누르지 않고 뒤쪽 근육 벽(정중앙에서 등 쪽으로 손가락 한 마디)에만 공을 손으로 대고 5초 내쉬기 ×3. 저림·찌릿함은 중단 신호 — 옮겨도 남으면 생략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미간의 힘 빼기 — 인상 쓰면 근육도 같이 조입니다. '지금 몇 % 뺐습니까? 80%? 5% 빼셨습니다.' 물 먹은 솜, 녹은 아이스크림까지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5488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3A2A0F"/>
          </a:solidFill>
          <a:ln w="12700">
            <a:solidFill>
              <a:srgbClr val="3A2A0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6656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대질 · 좌우 비교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96656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대질(클라이맥스): 안 푼 팔 만세 vs 푼 팔 만세. 팔 무게가 다릅니까? 한쪽만 풀어도 기대는 남습니다 — 어느 쪽을 풀었는지 본인이 아니까요. 다만 '전체가 좋아진 기분'과 '푼 쪽만 다른 감각'은 구분해 보실 수 있습니다. 사후 QR에는 누를 때 아픔이 아니라 만세할 때 불편감을 적습니다.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집행(유지): 팔이 가벼우면 스포츠카를 얻은 것 — 주차장에 두지 말고 쓰세요. 한 시간에 한 번 1분 리셋의 B(집무실) 버전: 모서리를 손으로 누른 채 만세 ×2 + 미간.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206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문헌: 통증은 조직 손상의 크기와 동일하지 않으며 생물·심리·사회 요인의 영향을 받는다 — 아픈 자리가 원인 자리와 다를 수 있다 (IASP 통증 정의 개정 (2020))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현장: 1회차(8/31) 현장에서 안 푼 팔 vs 푼 팔 만세 비교 시 좌우 차이 반응 — 강사 관찰·자기보고, 기록 없음(참고). 1회차는 매트·누운 자세, 오늘은 의자 버전 — 오늘이 의자 버전의 첫 기록 (1회차 강사 관찰)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실험: 오늘 안 푼 팔 vs 푼 팔 만세 + 사전/사후 QR (현장 자기 대조)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9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어깨 급성 통증·탈구 이력이 있으면 만세 대신 앞으로 들기까지만. 겨드랑이 정중앙은 누르지 않고 뒤쪽 근육 벽만. 저림·찌릿함·어지럼은 오늘 실습의 중단 신호입니다 — 이유는 판단하지 않습니다. 손가락 한 마디 옮겨도 남으면 그 부위는 생략. 골다공증 진단·스테로이드 장기 복용자는 등·갈비 쪽 압박을 손으로 가볍게, 체중을 싣지 않습니다. 항응고제 복용·멍 잘 드는 분은 압박 생략, 동작만. 강도는 '시원한 불편감', 숨이 쉬어지는 아픔까지 — 숨이 막히면 너무 센 것.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재검사 · AFTER · 어깨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어깨 — 재검사: 지금은 몇 점입니까?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200400" cy="3200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486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https://drjinfit-ship-it.github.io/jinkim/web/?mode=join&amp;s=suwon-2&amp;p=shoulder&amp;t=post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0" y="1828800"/>
            <a:ext cx="7068312" cy="1554480"/>
          </a:xfrm>
          <a:prstGeom prst="roundRect">
            <a:avLst>
              <a:gd name="adj" fmla="val 8824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196596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강의장 전체 · 불편감 감소 평균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240280"/>
            <a:ext cx="6611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D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점 감소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3017520"/>
            <a:ext cx="661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현장에서는 실시간 보드로 평균·개선율이 표시됩니다. 같은 부위, 같은 기준으로 다시 입력합니다.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657600"/>
            <a:ext cx="7068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소결(현장 수치로 채움): 사건 3 소결 — 어깨 불편감 평균 {drop}점, 사전 1 이상 응답 중 {pct}%가 1점 이상 내려감(자기보고). 쟁점 5 답: 만세 한 번이면 어느 팔이 무거운지 안다 — 오늘의 기준선 관찰이다. 집 주소를 찾은 분과 못 찾은 분, 둘 다 증거입니다.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진술 접수 · BEFORE · 허리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허리 — 지금 불편감은 몇 점입니까?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200400" cy="3200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486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https://drjinfit-ship-it.github.io/jinkim/web/?mode=join&amp;s=suwon-2&amp;p=back&amp;t=pre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0" y="1828800"/>
            <a:ext cx="7068312" cy="1554480"/>
          </a:xfrm>
          <a:prstGeom prst="roundRect">
            <a:avLst>
              <a:gd name="adj" fmla="val 8824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196596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진술 접수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240280"/>
            <a:ext cx="6611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3017520"/>
            <a:ext cx="661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사건 4 접수 — 허리. 지금 이 순간, 방금 한 확인 동작(앉아서 숙이기 또는 3걸음)에서 느낀 불편감을 0~10으로 진술합니다. 다리로 뻗치는 통증·저림이 있는 분은 공은 생략하고 골반 흔들기만 하셔도 됩니다.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657600"/>
            <a:ext cx="7068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이름·연락처·소속을 받지 않습니다. 이 휴대폰의 무작위 번호로만 강의 전·후를 짝지어 익명 집계합니다.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증거조사 ④ · 허리 · 5분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엉덩이는 방석이 아닙니다. 허리는 피해자, 용의자는 엉덩이.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주장  </a:t>
            </a:r>
            <a:pPr indent="0" marL="0">
              <a:buNone/>
            </a:pPr>
            <a:r>
              <a:rPr lang="en-US" sz="13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허리는 피해자, 유력한 용의자는 엉덩이입니다. 오래 앉으면 엉덩이가 방석 역할만 하며 굳고 허리가 대신 일한다는 가설입니다. 같은 의자에서 한쪽 엉덩이만 풀고 골반 중간점을 찾은 뒤 다리 들기와 3걸음이 달라지는지 확인합니다 — 쟁점 2·4·5를 여기서 답합니다.</a:t>
            </a:r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반대 가설  </a:t>
            </a:r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"디스크가 있으면 소용없지 않나?" — 영상 소견은 오늘 못 바꿉니다. 오늘 확인하는 것은 그 위에 얹힌 근육 상태입니다. "허리가 아프면 허리를 풀어야 한다" — 오늘은 허리를 만지지 않았습니다. 변화가 없는 분은 원인이 엉덩이가 아닌 경우이니 손 들어 주세요 — 그것이 더 중요한 정보입니다. 저림이 늘면 의료기관입니다.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검증 · 체크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5 자가 확인 동작(10초): 앉은 채 몸통을 조금 숙여 허리 느낌, 또는 일어나 3걸음. 뻣뻣함의 위치와 첫 걸음의 느낌을 기억합니다.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2064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0F2E3F"/>
          </a:solidFill>
          <a:ln w="12700">
            <a:solidFill>
              <a:srgbClr val="0F2E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3232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개입 실험 · 10초 리셋 · 한쪽만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3232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3232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한쪽만: 바퀴 의자는 벽·책상에 붙이고 양발을 바닥에 둔 채, 의자 위 청바지 뒷주머니 위치에 공, 그쪽 무릎을 바깥으로 벌리며 체중 싣기. '10초 불편할지, 오후 내내 불편할지' 선택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힘을 완전히 빼고 소리 나게 10초 내쉬기 ×2, 공을 바깥 위로 손가락 한 마디 옮겨 반복 — 더 아프면 '심봤다'. 저림·찌릿함은 중단 신호, 옮겨도 남으면 생략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골반을 앞뒤로 작게 5번 움직여 가장 편한 중간점에서 호흡 3회 — 이것이 좋은 의자가 못 해주는 일이고, 1분 리셋의 첫 10초(쟁점 4)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5488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3A2A0F"/>
          </a:solidFill>
          <a:ln w="12700">
            <a:solidFill>
              <a:srgbClr val="3A2A0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6656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대질 · 좌우 비교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96656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대질: 공 빼고 안 푼 다리 vs 푼 다리 들어 올리기. 일어나서 3걸음 — 첫 걸음이 다릅니까? 의자는 그대로였습니다(쟁점 2). 사후 QR에는 누를 때 아픔이 아니라 지금 동작의 불편감을 적습니다. 쟁점 5 답: 돌리고(목)·들고(어깨)·걷고(허리) — 10초씩, 0~10으로 적는다. 셋 중 가장 걸리는 동작이 오늘 내 사건.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집행(유지): 앉을 때 골반 중간점에서 배를 살짝 조여 등을 세웁니다. 한 시간에 한 번 1분 리셋 — 가장 좋은 자세는 다음 자세. 1분 리셋의 첫 10초: 뒷주머니 쪽으로 체중 옮기기 + 골반 중간점.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206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문헌: 비특이적 요통에 일상 활동 지속·자기관리·운동을 권고. 레드플래그 징후는 별도 평가 (NICE NG59 (2016))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현장: 1회차(8/31) 현장에서 한쪽 엉덩이만 푼 뒤 다리 들기·걷기 비교 시 차이 반응, 강사 스스로 '다시 돌아온다' 고지 — 강사 관찰, 기록 없음(참고). 1회차는 매트·누운 자세, 오늘은 의자 버전 — 오늘이 의자 버전의 첫 기록 (1회차 강사 관찰)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실험: 오늘 같은 의자에서 한쪽만 풀고 다리 들기·3걸음 비교 + 사전/사후 QR (현장 자기 대조)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9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바퀴 의자는 벽이나 책상에 붙이고, 양발을 바닥에 둔 채 체중을 옮깁니다. 의자가 밀리면 공을 뺍니다. 다리로 뻗치는 통증·저림이 있으면 공은 생략하고 골반 흔들기만 합니다. 저림·찌릿함은 오늘 실습의 중단 신호입니다 — 이유는 판단하지 않습니다. 손가락 한 마디 옮겨도 남으면 그 부위는 생략. 고관절·무릎 인공관절, 항응고제 복용·멍 잘 드는 분은 압박 생략, 동작만. 대소변 조절 이상·발열·야간통·최근 외상은 이 법정 관할 밖 — 의료기관 평가가 먼저입니다. 허리 진료 중인 분은 담당 의료진 지시 우선.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재검사 · AFTER · 허리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허리 — 재검사: 지금은 몇 점입니까?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200400" cy="3200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486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https://drjinfit-ship-it.github.io/jinkim/web/?mode=join&amp;s=suwon-2&amp;p=back&amp;t=post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0" y="1828800"/>
            <a:ext cx="7068312" cy="1554480"/>
          </a:xfrm>
          <a:prstGeom prst="roundRect">
            <a:avLst>
              <a:gd name="adj" fmla="val 8824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196596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강의장 전체 · 불편감 감소 평균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240280"/>
            <a:ext cx="6611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D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점 감소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3017520"/>
            <a:ext cx="661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현장에서는 실시간 보드로 평균·개선율이 표시됩니다. 같은 부위, 같은 기준으로 다시 입력합니다.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657600"/>
            <a:ext cx="7068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소결(현장 수치로 채움): 사건 4 소결 — 허리 불편감 평균 {drop}점, 사전 1 이상 응답 중 {pct}%가 1점 이상 내려감(자기보고). 쟁점 2 답: 의자는 같았고 엉덩이만 달랐다 — 좋은 의자는 좋은 변호사, 대신 걸어 주진 않는다. 쟁점 4 답: 1분 리셋의 첫 10초 = 뒷주머니 쪽 체중 옮기기 + 골반 중간점. 쟁점 5 답: 돌리고·들고·걷고 — 10초씩, 0~10으로 적는다. 가장 걸리는 동작이 오늘 내 사건.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진술 접수 · BEFORE · 무릎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무릎 — 지금 불편감은 몇 점입니까?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200400" cy="3200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486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https://drjinfit-ship-it.github.io/jinkim/web/?mode=join&amp;s=suwon-2&amp;p=knee&amp;t=pre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0" y="1828800"/>
            <a:ext cx="7068312" cy="1554480"/>
          </a:xfrm>
          <a:prstGeom prst="roundRect">
            <a:avLst>
              <a:gd name="adj" fmla="val 8824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196596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진술 접수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240280"/>
            <a:ext cx="6611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3017520"/>
            <a:ext cx="661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사건 5 접수 — 무릎. 지금 이 순간, 방금 한 확인 동작(천천히 일어나기)에서 느낀 불편감을 0~10으로 진술합니다. 수술 직후·부종·열감이 있는 분은 압박은 생략하고 일어나기만 하셔도 됩니다.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657600"/>
            <a:ext cx="7068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이름·연락처·소속을 받지 않습니다. 이 휴대폰의 무작위 번호로만 강의 전·후를 짝지어 익명 집계합니다.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증거조사 ⑤ · 무릎 · 5분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무릎은 2층입니다. 1층(발)과 3층(엉덩이)이 무릎에 영향을 줍니다.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주장  </a:t>
            </a:r>
            <a:pPr indent="0" marL="0">
              <a:buNone/>
            </a:pPr>
            <a:r>
              <a:rPr lang="en-US" sz="13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가설: 무릎은 2층입니다. 1층(발)과 3층(엉덩이·골반), 그리고 굳은 앞 허벅지가 무릎의 방향과 부담에 영향을 준다(개인차 큼)는 가설입니다. 앞 허벅지를 동적 이완하고 발 3점·무릎 방향을 맞춘 뒤 일어서기가 달라지는지 확인합니다 — 쟁점 6의 단서가 여기 있습니다.</a:t>
            </a:r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반대 가설  </a:t>
            </a:r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"허벅지 근육을 키우면 무릎이 보호되지 않나?" — 근력 강화는 무릎 재활의 표준이고 부정하지 않습니다. 감정인 의견은 '순서'입니다: 굳은 앞 허벅지를 먼저 풀고, 방향을 맞춘 뒤 강화. 수술·재활이 틀렸다는 뜻이 아니라 그 다음 단계 이야기이고, 표본 1명입니다. 그래서 오늘 여러분이 직접 잽니다.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검증 · 체크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확인 동작(10초): 의자에서 천천히 일어나기 1회. 무릎이 향하는 방향(둘째 발가락 쪽인지 안쪽인지)과 불편한 지점을 기억합니다.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2064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0F2E3F"/>
          </a:solidFill>
          <a:ln w="12700">
            <a:solidFill>
              <a:srgbClr val="0F2E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3232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개입 실험 · 10초 리셋 · 한쪽만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3232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3232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한쪽만: 앉아서 허벅지 앞 중앙을 공이나 손바닥으로 누른 채 무릎 구부렸다 폈다 ×10, 움직이며 내쉬기(동적 이완). 아프면 '심봤다', 숨은 계속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3점(뒤꿈치·엄지 아래·새끼 아래)을 바닥에, 무릎은 둘째 발가락 방향 — 1층을 먼저 세운다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무릎을 잠그지 말고 2%만 구부린 채 엉덩이를 접어 일어나기 ×3 — 5%도 아니고 2%. 3층(엉덩이)이 일하게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5488" y="2240280"/>
            <a:ext cx="3544824" cy="2788920"/>
          </a:xfrm>
          <a:prstGeom prst="roundRect">
            <a:avLst>
              <a:gd name="adj" fmla="val 4918"/>
            </a:avLst>
          </a:prstGeom>
          <a:solidFill>
            <a:srgbClr val="3A2A0F"/>
          </a:solidFill>
          <a:ln w="12700">
            <a:solidFill>
              <a:srgbClr val="3A2A0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6656" y="2404872"/>
            <a:ext cx="3142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대질 · 좌우 비교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697480"/>
            <a:ext cx="3142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96656" y="3429000"/>
            <a:ext cx="314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대질: 안 푼 다리 vs 푼 다리 들기. 같은 속도로 한 번 더 일어나 비교합니다. 무릎은 만지지 않고 발과 방향만 바꿨는데 다르다면, '무릎은 2층' 가설이 지지된 것입니다 — 확정은 아닙니다. 사후 QR에는 일어날 때 불편감을 적습니다.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집행(유지): 서 있을 때 무릎 2% 구부리기 — 엘리베이터와 신호등에서 연습. 계단은 발 3점을 딛고 무릎을 둘째 발가락 방향으로. 한 시간에 한 번 1분 리셋 첫 10초의 발 3점이 여기서 온다.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206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문헌: 성인에게 근력 강화 활동을 주 2일 이상 권고 — 강화는 필요하며, 오늘은 그 전 단계인 '풀기와 방향'을 다룬다 (WHO 신체활동 및 좌식행동 가이드라인 (2020))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현장: 감정인 본인 사례: 연골 이식 수술과 병원 재활을 마친 뒤에도 남아 있던 불편이, 이완을 먼저 하고 순서를 바꾼 뒤 달라져 42km 완주 — 표본 1명, 증거능력 낮음, 참고용 (강사 개인 경험)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실험: 오늘 안 푼 다리 vs 푼 다리 들기, 일어서기 비교 + 사전/사후 QR (현장 자기 대조)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9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수술 직후·부종·열감·최근 외상·고관절·무릎 인공관절·항응고제 복용·멍이 잘 드는 분은 압박은 생략하고 발 3점·2% 일어나기만 합니다. 슬개골(무릎뼈)은 누르지 않습니다. 저림·찌릿함은 오늘 실습의 중단 신호 — 이유는 판단하지 않습니다. 병원 재활 중이면 그 프로그램을 그대로 하고 이완만 추가합니다 — 재활 중단을 권하지 않습니다.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재검사 · AFTER · 무릎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무릎 — 재검사: 지금은 몇 점입니까?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200400" cy="3200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486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https://drjinfit-ship-it.github.io/jinkim/web/?mode=join&amp;s=suwon-2&amp;p=knee&amp;t=post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572000" y="1828800"/>
            <a:ext cx="7068312" cy="1554480"/>
          </a:xfrm>
          <a:prstGeom prst="roundRect">
            <a:avLst>
              <a:gd name="adj" fmla="val 8824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0600" y="1965960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강의장 전체 · 불편감 감소 평균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2240280"/>
            <a:ext cx="6611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D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점 감소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3017520"/>
            <a:ext cx="6611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현장에서는 실시간 보드로 평균·개선율이 표시됩니다. 같은 부위, 같은 기준으로 다시 입력합니다.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657600"/>
            <a:ext cx="7068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소결(현장 수치로 채움): 사건 5 소결 — 무릎 불편감 평균 {drop}점, 사전 1 이상 응답 중 {pct}%가 1점 이상 내려감(자기보고). 무릎 자체를 만지지 않고 1층·3층과 서는 방식만 바꿨습니다. 쟁점 6의 부속 단서: 근육을 '더 키우는 것'과 '풀고 제 방향으로 쓰는 것'은 다른 일이다 — 확정은 판결에서.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판결 · LIVE RESULT · 쟁점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판결 — 오늘 이 강의장은 얼마나 달라졌습니까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평균은 참고, 판결은 각자의 숫자로. 쟁점 6 — 오늘 체육관식 운동은 0분이었습니다. 운동은 체육관 1시간, 관리는 체육관 밖 23시간입니다.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601468" cy="1463040"/>
          </a:xfrm>
          <a:prstGeom prst="roundRect">
            <a:avLst>
              <a:gd name="adj" fmla="val 9375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81635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참여자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0896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명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840480"/>
            <a:ext cx="21991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익명 기기 기준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78708" y="2651760"/>
            <a:ext cx="2601468" cy="1463040"/>
          </a:xfrm>
          <a:prstGeom prst="roundRect">
            <a:avLst>
              <a:gd name="adj" fmla="val 9375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9876" y="281635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부위 이상 개선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579876" y="310896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%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3840480"/>
            <a:ext cx="21991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전후 짝 기준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08776" y="2651760"/>
            <a:ext cx="2601468" cy="1463040"/>
          </a:xfrm>
          <a:prstGeom prst="roundRect">
            <a:avLst>
              <a:gd name="adj" fmla="val 9375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9944" y="281635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불편감 감소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310896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점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9944" y="3840480"/>
            <a:ext cx="21991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전후 응답 쌍 기준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38844" y="2651760"/>
            <a:ext cx="2601468" cy="1463040"/>
          </a:xfrm>
          <a:prstGeom prst="roundRect">
            <a:avLst>
              <a:gd name="adj" fmla="val 9375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40012" y="281635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2점 이상 감소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240012" y="310896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%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0012" y="3840480"/>
            <a:ext cx="21991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임상적 의미 있는 변화 기준은 만성통증 연구 맥락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4340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 오늘의 개입 — 아픈 곳(피해자)이 아닌 굳은 곳(범인)을 풀고 등·골반·발을 세운 것 — 은 이 강의장의 불편감을 달라지게 했다고 볼 여지가 있다. 집행: 한 시간에 한 번 1분 리셋과 서기·걷기·앉기 5%. 재심: 재발 시 같은 동작·같은 0~10 기준으로 재측정한다. 쟁점 6 — 오늘 체육관식 운동 0분. 운동은 체육관 1시간, 관리는 체육관 밖 23시간이다.
</a:t>
            </a:r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  같은 사람·같은 부위·같은 동작 직후·같은 0~10 기준의 사전·사후 진술이 {pairs}건 있었고, 한쪽만 푼 대질에서 안 푼 쪽이 시간·피로·기분 요인의 자기 대조군 역할을 했다. 기대효과는 이 설계로 제거되지 않으므로 변화의 원인은 특정하지 않는다. 서증(IASP 2020, WHO 2020, NICE NG59 2016, 고용노동부 고시)은 '정적 부하·활동 유지·레드플래그 구분' 원칙을 뒷받침하고, 감정인의 개인 사례는 표본 1명으로 참고에 그친다.
</a:t>
            </a:r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 저림·힘 빠짐·대소변 조절 이상·발열·야간통·최근 외상·급성 심한 통증·수술 직후는 이 법정 관할 밖 — 의료기관 평가가 먼저다. 이 밖에 원인 모를 체중 감소·암 병력·스테로이드 장기 복용·2~4주 이상 지속·악화도 평가 대상이며 최종 판단은 의료인의 몫이다. 변화가 없었거나 더 불편해진 참가자는 원인이 오늘 다룬 근육이 아닐 수 있으므로 무리하지 않는다. 병원 재활·진료 중이면 그 지시를 우선하고 오늘 방법은 '추가'로만 쓴다.
</a:t>
            </a:r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 교육 직후의 익명 자기보고이며 대조군이 없다. 강사가 효과를 예고한 뒤의 측정으로 기대효과·평균으로의 회귀가 섞일 수 있고, 좌우 비교도 비맹검이다(어느 쪽을 풀었는지 본인이 안다). 사전 0점은 개선 판정에서 제외했고 1점 변화는 오차 범위일 수 있다. 1회차 현장 반응은 매트·누운 자세 버전이라 오늘 의자 버전의 근거가 아니며, 오늘이 의자 버전의 첫 기록이다. 약 40명·1회·직후 측정으로 지속 효과를 말하지 않는다. 의학적 진단이나 치료 효과를 의미하지 않는다. 감정인은 이 방법으로 일하는 이해관계인이다.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폐정 · 집행 · 재심 · 쟁점 4·7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폐정 — 집행과 재심: 오늘 가져갈 세 가지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7의 답입니다. 판결은 집행돼야 효력이 있고, 재발하면 재심입니다. 효과는 돌아옵니다 — 그래서 한 시간에 한 번 1분입니다.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81635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 · 범인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0896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아픈 곳 말고 굳은 곳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840480"/>
            <a:ext cx="21991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목→등, 허리→엉덩이, 어깨→승모근·겨드랑이, 무릎→발·앞허벅지. 피해자만 주무르면 돌아오기 쉽습니다.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78708" y="265176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9876" y="281635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· 내쉬기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579876" y="310896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아프면 참지 말고 5초 내쉰다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3840480"/>
            <a:ext cx="21991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내쉬고 → 미간 풀고 → 심봤다. 내쉬면서 힘을 빼는 것이 오늘의 연습입니다. 벌금 1만 원.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08776" y="265176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9944" y="281635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 · 1분 리셋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310896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시간에 한 번, 1분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9944" y="3840480"/>
            <a:ext cx="21991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법대: 발 3점·체중 옮기기 → 등 세우고 내쉬기 ×3 → 미간 → 회전 확인. B 집무실: A + 모서리 누르며 만세 ×2.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38844" y="265176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132446"/>
          </a:solidFill>
          <a:ln w="12700">
            <a:solidFill>
              <a:srgbClr val="1324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40012" y="2816352"/>
            <a:ext cx="21991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재심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240012" y="3108960"/>
            <a:ext cx="21991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돌아오면 다시 잰다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0012" y="3840480"/>
            <a:ext cx="21991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재발은 실패가 아니라 재심 사유. 아침·잠들기 전 0~10, 같은 동작. 저림·힘 빠짐이 늘면 의료기관.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1206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D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 이상은 말하지 않겠습니다. 판단은 재판장 여러분의 몫입니다. 이상으로 사건번호 2026-몸-2, 통증 사건 심리를 폐정합니다."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9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사진은 동의하신 분만, 종료 후 자율 — '안 푼 팔 내리고 푼 팔만 만세'. 대외 사용은 기관 서면 승인 후, 얼굴이 식별되는 사진은 본인 동의 없이 사용하지 않습니다. 복습 자료는 기관 공식 경로로 전원 동일 제공(상품·앱 가입·상담 유도·이름 수집 없음), 개인 연락처는 받지 않습니다.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판사의 질문 7개 · 최종 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질문에 대한 감정인의 답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206240"/>
                <a:gridCol w="3291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FA3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FA3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FA3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문장 결론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FA3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현장 확인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일을 오래 하면 목과 허리가 아픈가?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범인은 '나쁜 자세'가 아니라 '한 자세'라는 가설입니다 — 오래 같은 자세로 있으면 목·허리를 받치는 근육이 쉬지 못하고 계속 일하는 정적 부하가 쌓이며, 많은 경우 조직 손상보다 정적 부하로 설명됩니다(NICE NG59: 요통 대부분은 비특이적, 목은 유추). 개별 원인은 의료기관 판단입니다.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 사건에서 목을 만지지 않고 등받이에 등 상부만 붙여 등을 세운 뒤 좌우 회전을 다시 합니다. 목을 건드리지 않았는데 회전 느낌이 달라지면, 적어도 '자세가 목 감각에 영향을 준다'는 것은 각자 확인한 셈입니다(범인 확정 아님, 가설 지지까지). 사후 QR 소결에서 쟁점 1 번호를 붙여 회수합니다.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좋은 의자와 바른 자세만으로 해결되지 않는 이유는 무엇인가?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의자와 자세는 필요조건이지 충분조건이 아니다 — 가장 좋은 자세는 다음 자세다. (좋은 의자는 좋은 변호사: 부담을 나눠 주지만 대신 걸어 주진 않는다. 어떤 좋은 자세도 오래 고정되면 다시 정적 부하가 되고, 굳은 엉덩이·등으로는 바른 자세를 만들기 어렵다는 가설 — 답은 굳은 곳 풀기 + 자세 바꾸기.)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 2 슬라이드에서 60초 동안 '가장 바른 자세'를 유지하고 어디가 먼저 뻐근한지 기억합니다(아무렇지 않아도 정상 — 고시 기준은 4시간). 허리 사건에서 같은 의자에 앉은 채 한쪽 엉덩이만 풉니다 — 의자는 그대로인데 다리 들기·3걸음이 좌우로 다르면 의자가 변수가 아니었다는 증거입니다.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통증이 있을 때 움직여도 되는 것과 병원에 가야 하는 것을 어떻게 구분하는가?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관할 밖 대표 일곱 가지(저림·힘 빠짐·대소변 장애·발열·야간통·외상·급성 심한 통증)는 가이드라인 공통 기준으로 오늘 압박을 생략하고 의료기관 평가가 먼저이며, '자세를 바꾸면 덜해지고, 눌렀을 때 시원한 불편감이며, 숨 쉬면서 견딜 수 있는' 뻐근함은 오늘 실습 참가를 위한 감정인의 실무 기준입니다 — 이 목록은 배제 도구가 아니며 병원 갈지의 최종 판단은 의료인의 몫입니다.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증거능력 고지 슬라이드의 일곱 가지를 각 부위 사전 QR 전 10초 자가 확인합니다. 하나라도 해당되면 그 부위는 동작만 — 손 들 필요 없이 본인만 알면 됩니다. 실습 중 '숨이 막히는가, 찌릿한가, 어지러운가' 셋 중 하나라도 있으면 그 자리는 패스(이유는 판단하지 않음). 목·어깨 통증에 가슴 답답함·식은땀이 함께 오면 실습이 아니라 응급. 부위별 안전 문구가 같은 기준을 반복합니다.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재판이나 기록 검토 중 1분밖에 없다면 무엇을 해야 하는가?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법대 위 버전(손·공 없음, 티 안 나게): 발 3점·뒷주머니 쪽 체중 옮기기(0~10초) → 등받이에 등 상부 붙이고 배 조여 소리 안 나게 5초 내쉬기 ×3(10~40초) → 미간 힘 빼기(40~55초) → 고개 좌우 회전 확인(55~60초). B 집무실·기록 검토 버전: A + 모서리 누르며 만세 ×2(공 있으면 공). 목·허리를 만지지 말고 용의자만 건드립니다.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 사건의 첫 리셋(등 세우기 ×3)이 1분 버전의 핵심 30초, 허리 사건의 골반 중간점이 첫 10초입니다 — 각 소결에서 '쟁점 4' 번호를 붙여 부위별 항목이 종합 절차의 부품임을 밝힙니다. 폐정에서 전원이 강사 카운트로 A(법대) 버전 60초를 실연합니다.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어깨·목·허리 중 내 문제를 간단히 확인할 방법이 있는가?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돌리고(목)·들고(어깨)·걷고(허리) — 10초씩, 0~10으로 적는다. 셋 중 가장 걸리는 동작이 오늘 내 사건이고, 같은 동작에서 더 걸리거나 무거운 쪽이 먼저 풀 쪽입니다 — 오늘 쓴 자가 확인 동작 그대로이며, 진단이 아니라 오늘의 기준선 관찰입니다.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목·어깨·허리 사건의 '자가 확인 동작' 첫 10초가 그것이고, 허리 소결에서 세 단어 구호로 종합합니다. 아침·잠들기 전 같은 세 동작을 같은 속도로 하고 숫자만 적으면 집에서도 재현됩니다. 저림·힘 빠짐이 동반되면 관찰이 아니라 의료기관 평가입니다.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운동을 많이 하는 것과 몸을 잘 관리하는 것은 어떻게 다른가?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운동은 체육관 1시간의 '양', 관리는 체육관 밖 23시간의 '상태'이며 둘은 서로 대체되지 않습니다 — 관리 없는 운동은 주차장의 스포츠카입니다. (무릎 소결의 '풀기→방향→강화' 순서는 이 답의 부속 단서.)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판결 슬라이드의 결과 공개 — 오늘 체육관식 운동(근력·유산소)은 하지 않았는데 전후 응답이 달라졌는지 봅니다. 변화 없음·증가 비율을 먼저 읽습니다. 무릎 사건의 '풀고 → 발·엉덩이 세우고 → 일어나기' 순서가 단서, 확정은 판결에서.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딱 세 가지만 기억한다면 무엇인가?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범인 — 아픈 곳 말고 굳은 곳(목→등, 허리→엉덩이, 어깨→승모근·겨드랑이, 무릎→발·앞허벅지) ② 내쉬기 — 아프면 참지 말고 5초 소리 나게(내쉬고·미간 풀고·심봤다) ③ 1분 리셋 — 한 시간에 한 번 1분, 5%만. 세 단어: 범인 · 내쉬기 · 1분 리셋.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3F6F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폐정에서 전원 A(법대) 버전 1분 실연(집행의 첫 실행) 후 옆사람에게 한 문장: '내 범인은 ○○이고, 내일 1분 행동은 ○○이다.' 말한 것이 집행됩니다. 재발하면 같은 동작·같은 0~10으로 재측정(재심), 저림·힘 빠짐이 늘면 의료기관.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32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근거 · 감정인 제출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몸의 법정 — 다섯 부위 사건 심리 · suwon-2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591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315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3F6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강의가 기댄 근거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International Association for the Study of Pain (IASP). Revised definition of pain, 2020 (Raja SN et al., Pain 2020) — 개정·증거능력 고지·어깨 사건 — 통증은 실재하되 조직 손상의 크기와 같은 뜻이 아님. 주석 '통증과 통각은 다른 현상'까지만 인용, 관할 기준 도출은 감정인의 적용  [신뢰도 high]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 Health Organization. WHO guidelines on physical activity and sedentary behaviour, 2020 — 쟁점 1·2·4·6·7 — 좌식 시간을 줄이고 어떤 강도의 활동으로든 대체할 것을 권고, '어떤 활동이든 안 하는 것보다 낫다', 운동량과 좌식은 별개 항목, 근력 주 2회. '자주 끊기'는 별도 권고 항목이 아니므로 감정인의 번역으로 표기  [신뢰도 high]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NICE. Low back pain and sciatica in over 16s: assessment and management (NG59), 2016 (updated 2020) — 쟁점 2·3·7, 허리 사건 — 일상 활동 지속과 운동 권고, 레드플래그 시 별도 평가. 요통 지침이며 다른 부위는 같은 원칙을 유추 적용(medium)  [신뢰도 high]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고용노동부 고시 「근골격계부담작업의 범위 및 유해요인조사 방법에 관한 고시」 (산업안전보건법 근거) — 하루 4시간 이상 집중적 자료입력 등을 위한 키보드·마우스 조작 작업(제2호) 등을 부담작업으로 지정, 사업주에게 유해요인조사 의무 — 쟁점 1, 목 사건 — 장시간 고정 사무작업의 한 유형이 부담작업으로 지정됨. 기록 검토·재판 진행은 직접 대상이 아니므로 '취지'만 원용. 제4호(임의로 자세를 바꿀 수 없는 조건에서 2시간 이상 목·허리를 구부리거나 트는 작업)는 조건부 언급만, 판사 업무 해당 여부 단정 없음. '4시간' 외 세부 수치는 인용하지 않음  [신뢰도 high]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고용노동부 고시 「영상표시단말기(VDT) 취급근로자 작업관리지침」 — 쟁점 4 — 장시간 화면 작업 시 주기적 휴식·자세 변화 권고. 구체 시간 수치는 인용하지 않음  [신뢰도 medium]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자세와 통증의 관계에 관한 일반 원칙 — 단일 이상적 자세의 근거는 약하고 자세 변화·움직임이 더 중요 (예: Slater D et al., 'Sit Up Straight': Time to Re-evaluate, JOSPT 2019 논평). 전방 머리 자세와 목 통증의 연관은 문헌에서 일관되지 않음 — 쟁점 2, 목 사건 — '바른 자세는 지키는 것이 아니라 바꾸는 것', '가장 좋은 자세는 다음 자세'. 화면·발화에서는 저자명 없이 일반 원칙으로만, 목 가설은 '가설'로 표기  [신뢰도 medium]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근육 정적 부하(장시간 저강도 지속 수축 → 혈류 감소·피로 누적)에 관한 근생리학 일반 원칙 — 쟁점 1·4, 목 사건 — 구체 수치·특정 가설명 없이 '일반 원칙'으로만 사용  [신뢰도 medium]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근막 이완(공·폼롤러 압박)의 단기 관절가동범위 증가·주관적 이완 효과에 관한 일반 원칙 — 효과는 단기·개인차, 구조 변화 근거 아님. 더 센 압박이 더 낫다는 근거 없음 — 어깨 사건·판결·쟁점 6·7 — '가벼워지는지 확인', 매일 반복하는 관리의 근거, 강도 규칙은 '숨이 쉬어지는 강도'(감정인 현장 기준)  [신뢰도 medium]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발·무릎·고관절의 하지 운동 사슬과 발바닥 감각 입력에 관한 운동학 일반 원칙 — 특정 논문 수치 인용 없음 — 발·무릎 사건 — '1층·2층·3층' 가설. 인과의 크기는 개인차가 큼을 명시, '결정'이 아니라 '영향'  [신뢰도 medium]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임상 가이드라인 공통 레드플래그 일반 원칙 — 신경학적 결손(저림·힘 빠짐), 대소변 이상, 감염·종양 의심(발열·야간통), 외상, 급성 심한 통증, 원인 모를 체중 감소, 암 병력, 스테로이드 장기 복용, 지속·악화. 레드플래그는 선별 도구이지 배제 도구가 아님(개별 항목의 민감도·특이도는 낮음) — 쟁점 3, 증거능력 고지·부위별 안전 문구 — 관할(이송) 기준 '대표 일곱 가지' + 추가 항목. 목·어깨 통증 동반 가슴 답답함·식은땀은 응급  [신뢰도 high]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0~10 숫자 평가 척도(NRS)의 통증 자기보고 표준 사용 — 임상·연구 일반 원칙. 사전 0은 개선 판정에서 제외(바닥 효과), 1점 변화는 오차 범위일 수 있음 — 쟁점 5·7, 측정 엔진 — 같은 동작 직후·같은 기준 반복 측정. 개선율 분모는 '사전 1 이상 응답', '2점 이상 감소' 비율을 함께 표시하되 임상적 의미는 단정하지 않음  [신뢰도 high]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기대효과(플라시보)·평균으로의 회귀·자기보고 편향·비맹검 — 전후 비교 연구의 대표적 교란 요인에 관한 연구방법론 일반 원칙 — 증거능력 고지·판결 한계 — 강사가 먼저 인정하는 한계. '한쪽만 풀기'는 기대효과를 제거하지 못하며(비맹검), 양쪽에 동시에 걸리는 요인을 빼고 반대편을 원래 상태로 보존하는 설계  [신뢰도 high]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5D0E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수원가정법원 「전문 재판 역량 강화 교육」 제1회 강연(2026-08-31) 진행 기록 — 강사 관찰 메모(내부 참고용, 화면 인용 없음) — 현장 근거의 출처(발 뛰기 비교, 경청 중 끄덕임 인지, 팔 무게 비교, 엉덩이 비교·'다시 돌아온다', 2회차는 다른 참가자). 1회차는 매트·누운 자세 버전이라 의자 버전과 조건이 다름. 참가자 반응은 자기보고·미기록 다수이므로 medium. 개별 Q&amp;A 사례·참가자 발언 인용·타임스탬프·파일 경로는 화면 근거로 쓰지 않음(개인 특정·녹음 사실 노출 방지). 담당자에게 1회차 기록의 존재와 용도(강의 개선용 내부 참고)를 사전에 알리고 기관이 원하면 삭제  [신뢰도 medium]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몸의 법정 — 다섯 부위 사건 심리</dc:title>
  <dc:subject>PptxGenJS Presentation</dc:subject>
  <dc:creator>김진</dc:creator>
  <cp:lastModifiedBy>김진</cp:lastModifiedBy>
  <cp:revision>1</cp:revision>
  <dcterms:created xsi:type="dcterms:W3CDTF">2026-09-02T03:03:25Z</dcterms:created>
  <dcterms:modified xsi:type="dcterms:W3CDTF">2026-09-02T03:03:25Z</dcterms:modified>
</cp:coreProperties>
</file>