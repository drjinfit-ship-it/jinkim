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첫 문장 그대로, 낮고 천천히: "지금부터 사건번호 2026-몸-2, 통증 사건 심리를 개정합니다. 오늘 재판장은 여러분 각자, 저는 감정인입니다." 2초 침묵. [0:15–0:30] 감정인 소개 12초: 스포츠의학 박사, 운동·재활운동 지도 20년, 기업·공공기관 강의. "의료인이 아니며 진단·치료를 하지 않습니다." 무릎 연골 이식 수술 경험(무릎 사건에서 30초 재등장). [0:30–0:50] 카드 3장 훑기. "감정인은 이해관계가 있는 증인이라 여러분이 먼저 제 증거능력을 심사하셔야 합니다. 다음 장에서 제가 스스로 고지하겠습니다." [0:50–1:00] 손들기 후 바로 다음 장. 금지: '통증은 허상', '즉시 낫는다', '90%가 아프다'. 콜백 전제 주의: 2회차는 다른 참가자(1회차 녹취 11:02 '다른 분 동일하게'). '1회차 분들은 아시죠'류 발화 금지. 겹치는 분이 있어도 지목하지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카드는 읽지 않고 한 줄씩 가리키며: "자기보고, 대조군 없음, 기대효과(한쪽만 풀어도 남습니다), 그리고 제 이해관계. 법정에서 증거능력 없는 증거로 판결하지 않으시죠. 제가 먼저 고지합니다." [0:40–1:10] 쟁점 3 답을 한 문장으로: "움직여도 되는 것과 병원이 먼저인 것의 경계는 일곱 단어입니다 — 저림, 힘 빠짐, 대소변, 발열, 야간통, 외상, 급성." 해당자는 손 들지 않아도 됨. [1:10–1:30] 강도 상한 1회 선언: "숨이 쉬어지는 아픔이 정답. 숨 막히면 너무 센 것. 굳이 숫자로 하면 10점 중 7점 — 연구 근거가 아니라 제 현장 기준입니다." 이후 부위에서는 신호어 '숨!'만. '진단'이라는 단어는 쓰지 않는다. 1회차 Q&amp;A에 협착 진단자가 있었으나 개별 지목 금지, 전체 규칙으로만 처리. 마지막 문장: "그 이상은 말하지 않겠습니다."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읽지 말고 화면을 보게 한다. "판사님들이 사건 심리 전에 쟁점부터 정리하시듯, 오늘 답할 질문 7개입니다. 3번은 방금 답했습니다. 답을 못 하면 감정인 기피 사유입니다." 웃음 1회만. 바로 다음 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"판사님, 하루에 기록을 몇 시간 보십니까? 국가 고시는 키보드·마우스 4시간 같은 장시간 고정 사무작업을 부담작업으로 다룹니다. 판사님 업무가 그 조문에 그대로 해당한다는 뜻은 아니고, '오래 같은 자세'를 국가가 유해요인으로 본다는 예시입니다. 범인은 나쁜 자세가 아니라 한 자세입니다. 근육이 교대 근무를 못 한 겁니다." [0:25–0:45] 쟁점 2 실험 예고 후 즉시 시작: "지금부터 60초, 가장 바르다고 생각하는 자세로 앉아 계십시오. 제가 다음 장을 말하는 동안 유지합니다." 근거는 기관명+연도만, 수치는 고시 '4시간'만. 금지: '디스크가 생긴다' → '부담이 쌓입니다'.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60초 실험 진행 중 — 근거 두 개를 기관명+연도로만 읽는다. "좋은 의자는 좋은 변호사입니다. 부담을 나눠 주죠. 그런데 변호사가 대신 걸어 주진 않습니다." [0:30–0:45] "자, 어디가 먼저 뻐근합니까? 목? 어깨? 바른 자세로 60초 버틴 것도 정적 부하입니다. 가장 좋은 자세는 다음 자세입니다. 이 문장 하나 기억하십시오." 금지: '60초 이상 고정되면 ~된다'류 수치 단정 — '오래 고정되면'으로.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공을 책상에 한 번 톡(의사봉). "증거조사를 개시합니다." 이 리듬을 부위마다 반복. [0:10–0:25] 세 규칙을 콜앤리스폰스로 고정: "아플 때 어떻게 한다?" → "내쉬고, 미간 풀고, 심봤다." 오늘은 정답을 이 3단으로 고정한다. [0:25–0:30] 벌금 선포: "숨 참기 1만 원, 고개 끄덕임 1만 원, 발 아치 붕괴 1만 원. 법원이니 벌금은 익숙하시죠. 징수관은 옆자리 재판장님. 실제 징수는 없습니다." 무죄추정 유머 1회: "판결 전이니 아직은 용의자입니다. 대질 뒤에 범인이라 부를지는 재판장님이 정하십니다." 반대쪽 규칙을 반드시 말한다: "반대쪽은 재검사 숫자를 넣은 다음에 풉니다. 그 전에 풀면 대조군이 사라집니다."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휴대폰을 들고 찍고, 숫자 하나 누르고, 내려놓기. 응답 수가 올라가는 것을 보여주며 기다린다.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[5분] 0:00 공 톡. "증거조사 개시. 사건 1, 발. 주장: 발은 1층이다." 0:10 체크: 전원 기립, 3번 뛰기. "어느 발이 둔합니까? 그 발부터 풉니다." 0:40 리셋 1 — 호흡 규칙 통합 설명은 여기서 1회만: "공은 굴리는 게 아니라 누르는 겁니다. 누르는 것보다 중요한 게 5초 동안 내쉬는 것. 창문에 김 서리듯 소리 나게. 옆사람 귀에 안 들리면 벌금." 2:00 리셋 2 발가락 교대. "아프죠? 심봤다." 2:50 리셋 3 걷기 3걸음. 3:30 대질(클라이맥스): "공 빼고. 안 푼 발로 뛰기 — 이게 원래 내 발. 푼 발로 — 다릅니까?" 탄성이 나오면 멈추고 되묻기: "지금 뭐라고 하셨습니까? 증인 진술로 채택하겠습니다." 4:20 집행 한 문장 + 1분 버전 예고. 4:40 "재검사 들어갑니다. 같은 기준." [사후 QR 화면] 입력 20초 → 입력 끝난 분부터 반대쪽 45초 속성(공 아치 5초 ×3 + 발가락 교대 ×5) → 보드 읽고 ruling 문장 그대로, 좋든 나쁘든. 금지: '족저근막염이 바로 없어진다' → '몇 점 달라지는지 보겠습니다'.
[근거 메모] 1회차: 한쪽 발만 푼 뒤 뛰기 비교에서 '가벼워졌다' 반응 — 자기보고, 대조군 없음. 오늘은 QR 숫자로 기록 (1회차는 매트·누운 자세, 오늘은 의자 버전 — 조건이 다르므로 오늘이 의자 버전의 첫 기록) (2026-08-31 1회차 [40:15])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같은 기준으로 재검사. 평균 감소 폭과 개선율을 증거처럼 읽어 준다. 변화 없는 분도 데이터라고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휴대폰을 들고 찍고, 숫자 하나 누르고, 내려놓기. 응답 수가 올라가는 것을 보여주며 기다린다.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[5분] 0:00 공 톡. "사건 2, 목. 주장: 목은 피해자, 범인은 등." 0:10 체크(쟁점 5 답): "좌우 회전 10초. 걸리는 쪽 기억. 이게 목 자가 점검의 전부입니다." 0:30 리셋 1(쟁점 4 답, 명시적으로 번호 붙여): "쟁점 4 — 재판 중 1분밖에 없다면 이것입니다. 등받이에 등 위쪽, 배 조이고, 내쉬기 셋. 아무도 눈치 못 챕니다." 1:30 리셋 2 후두하 엄지, 좌우 비교. "아주 천천히. 빨리 움직이면 힘이 안 빠집니다." 어지럼 즉시 중단. 2:40 리셋 3 끄덕임 습관 — 법원 맞춤 최고 구간. "왜 끄덕이시냐면 저에게 집중하시니까요. 너무 모범생이시라서요. 경청하는 직업병입니다." 벌금 게임: "끄덕이면 1만 원 — 아, 또 끄덕이셨습니다, 2만 원." 웃음 뒤 반드시 착지: "끄덕임을 없애라는 게 아닙니다. 방금 내가 끄덕인 걸 몰랐다는 것 — 그 '모름'이 오늘의 발견입니다. 관계도 중요하니 70:30." 3:30 대질: "같은 속도로 회전. 목 한 번도 안 만졌습니다. 달라졌습니까?" 4:20 소결 예고 + 1분 버전. 4:40 재검사. [사후 QR 화면] 입력 → 반대쪽 후두하 30초 속성 → ruling 문장에 쟁점 1·4 번호 붙여 회수. 저림 호소자는 즉석 처치 금지 → "지속되면 의료기관 평가". 1회차 협착 진단 참가자가 다시 오더라도 개별 지목 금지.
[근거 메모] 1회차: 경청 중 무의식적 고개 끄덕임을 본인이 인지하지 못한 참가자 다수, '경청하는 직업병' 손들기 반응 (1회차는 매트·누운 자세, 오늘은 의자 버전 — 조건이 다르므로 오늘이 의자 버전의 첫 기록) (2026-08-31 1회차 [46:23][47:48])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같은 기준으로 재검사. 평균 감소 폭과 개선율을 증거처럼 읽어 준다. 변화 없는 분도 데이터라고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휴대폰을 들고 찍고, 숫자 하나 누르고, 내려놓기. 응답 수가 올라가는 것을 보여주며 기다린다.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[5분] 0:00 공 톡. "사건 3, 어깨. 주장: 통증은 근육의 집 주소다." 0:10 체크(쟁점 5): 양팔 만세, 무거운 팔 기억. 0:30 리셋 1 승모근 모서리, 한쪽만. "오른손잡이는 보통 오른쪽. 아프면?" → "심봤다." 1:40 리셋 2 겨드랑이 뒤 광배근 — 안전 문구 먼저: "정중앙 말고 뒤쪽 근육 벽. 저리면 옮기고, 남으면 생략." 2:40 리셋 3 메타인지 실험: "지금 힘 몇 % 뺐습니까? 80%? — 5% 빼셨습니다. 물 먹은 솜, 녹은 아이스크림." 3:20 대질(오늘 최고 클라이맥스): "공 빼고. 안 푼 팔 만세. 푼 팔 만세." 탄성이 나오면 멈추고 되묻기: "지금 뭐라고 하셨어요? 증인 진술로 채택하겠습니다." "아프면 유죄, 안 아프면 무죄가 아닙니다. 감각은 선악이 없어요." 4:20 집행: "스포츠카, 주차장에 두지 마십시오." + 1분 버전. 4:40 재검사. [사후 QR 화면] 입력 → 반대쪽 모서리 45초 속성 → ruling. 금지: '바로 낫게 해드린다' → '가벼워지는지 확인'.
[근거 메모] 1회차 본강의 중 유일한 참가자 탄성('어 시원하')이 이 부위에서 나옴. 안 푼 팔 vs 푼 팔 만세 비교에서 차이 응답 — 자기보고 (1회차는 매트·누운 자세, 오늘은 의자 버전 — 조건이 다르므로 오늘이 의자 버전의 첫 기록) (2026-08-31 1회차 [52:15][58:18])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같은 기준으로 재검사. 평균 감소 폭과 개선율을 증거처럼 읽어 준다. 변화 없는 분도 데이터라고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휴대폰을 들고 찍고, 숫자 하나 누르고, 내려놓기. 응답 수가 올라가는 것을 보여주며 기다린다.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[5분] 0:00 공 톡. "사건 4, 허리. 주장: 허리는 피해자, 범인은 엉덩이." 0:10 체크(쟁점 5): 앉아서 숙이기 또는 3걸음. 0:30 리셋 1 — 안전 문구 먼저: "저리거나 찌릿하면 옮기고, 남으면 중단. 바퀴 의자는 벽에 붙이고." "오늘 하루 종일 엉덩이가 방석이었습니다. 내 엉덩이가 외칩니다 — 전 방석이 아니에요. 몸에서 제일 중요한 근육이에요." 1:20 "10초 불편할지, 오후 내내 뻐근할지 선택하세요. 하나 둘 셋에 완전히 뺍니다." 손가락 한 마디 이동 후 반복. 2:40 리셋 3 골반 중간점(쟁점 2·4 답): "앞뒤로 작게 5번, 가장 편한 중간. 이게 좋은 의자가 못 해주는 일입니다. 1분밖에 없을 때 등 세우기와 이것." 3:20 대질: "공 빼고. 안 푼 다리 들기. 푼 다리. 일어나서 3걸음. 첫 걸음이 다릅니까?" 변화 없는 분 손들기 — 반드시 말한다: "원인이 엉덩이가 아닌 경우이니 더 중요한 정보입니다." 법원 청중은 예외를 인정하는 쪽을 신뢰. 4:20 집행 + 1분 버전. 4:40 재검사. [사후 QR 화면] 입력 → 반대쪽 뒷주머니 45초 속성 → ruling에 쟁점 2·4 번호 붙여 회수. 금지: '허리 한 방', '거의 마법', '즉시 없어진다' → '달라지는지 확인합니다'.
[근거 메모] 1회차: 한쪽 엉덩이만 푼 뒤 다리 들기·걷기 비교에서 차이 응답. 강사 스스로 '다시 돌아온다' 고지 — 그래서 집행 조건이 붙는다 (1회차는 매트·누운 자세, 오늘은 의자 버전 — 조건이 다르므로 오늘이 의자 버전의 첫 기록) (2026-08-31 1회차 [1:01:08][1:02:45][1:13:57])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같은 기준으로 재검사. 평균 감소 폭과 개선율을 증거처럼 읽어 준다. 변화 없는 분도 데이터라고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휴대폰을 들고 찍고, 숫자 하나 누르고, 내려놓기. 응답 수가 올라가는 것을 보여주며 기다린다.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[5분] 0:00 공 톡. "마지막 사건, 무릎. 주장: 무릎은 2층이다." 0:10 체크: 천천히 일어나기 1회, 무릎 방향 관찰. "안쪽으로 모입니까?" 0:30 리셋 1 허벅지 앞 압박 + 구부렸다 폈다 ×10. "움직이면서 내쉽니다. 옆사람 귀에 안 들리면 호흡 안 한 것." 1:30 감정인 서사 30초 — 반드시 붙일 문장: "제 경우엔 수술과 재활만으로 예전 무릎은 안 돌아왔고, 순서를 이완→뒤쪽 강화→앞쪽 강화로 바꾼 뒤 42km를 뜁니다. 저에게 통했다고 모두에게 같다고 말하지 않겠습니다. 표본 1명입니다. 병원 재활 중이면 그대로 하고 이완만 추가하십시오." 금지: '수술해도 안 낫는다', '슬개골이 더 당긴다'류 기전 단정. 2:20 리셋 2 발 3점·둘째 발가락 방향. 3:00 리셋 3 무릎 2% 일어나기 ×3(쟁점 6 단서): "5% 아니고 2%. 티 나지 않게." 3:40 대질: 좌우 다리 들기, 한 번 더 일어나기. 4:20 집행 + 1분 버전. 4:40 "마지막 재검사. 이제 판결로 갑니다." 벌금 결산 예고: "오늘 벌금 총액은 판결 뒤 발표합니다." [사후 QR 화면] 입력 → 반대쪽 허벅지 45초 속성 → ruling → 바로 판결 슬라이드.
[근거 메모] 감정인 본인 사례: 수술과 병원 재활을 마친 뒤에도 남아 있던 불편이, 이완을 먼저 하고 순서를 바꾼 뒤 달라져 42km를 달리는 컨디션으로 회복(완주 기록은 별도 확인) — 표본 1명, 증거능력 낮음, 참고용 (1회차는 매트·누운 자세, 오늘은 의자 버전 — 조건이 다르므로 오늘이 의자 버전의 첫 기록) (강사 개인 경험 (1회차 [19:27][1:02:45]))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같은 기준으로 재검사. 평균 감소 폭과 개선율을 증거처럼 읽어 준다. 변화 없는 분도 데이터라고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공개 전 고지: "판결 선고 전에 한 가지. 좋아진 분만 손 드는 자리가 아닙니다. 그대로인 분, 더 불편한 분도 오늘 증거의 일부입니다." 20초 침묵 후 '판결 선고' 버튼. [0:20–1:10] 보드 읽는 순서 고정: ① 참여자 수 "이 법정의 진술 건수" ② 변화 없음·증가 비율을 먼저 "이분들이 있어서 이 숫자가 믿을 만합니다. 전부 좋아졌다면 제가 먼저 의심합니다" ③ 1개 부위 이상 개선 비율 ④ 평균 감소 "5분 개입치고 크게 들리십니까, 작게 들리십니까 — 판단해 보실 만합니다" ⑤ 부위별 표에서 최대·최소 감소를 나란히 "범인 가설이 가장 잘 맞은 부위와 덜 맞은 부위". N&lt;5 부위는 '참고용'이라고 말한다. [1:10–1:40] 주문·이유·조건·한계 낭독. 한계는 반드시 소리 내어. [1:40–2:20] 쟁점 6 답: "헬스장 다니시는 분? 그런데도 목이 아프시죠. 운동은 더하기, 관리는 나누기입니다. 오늘 체육관식 운동 0분에 이 숫자입니다. 운동하지 말라는 뜻이 아닙니다 — 체육관 밖 23시간이 더 큰 운동이라는 뜻입니다." 1회차 문장 재활용: "풀어서 가벼워진 팔, 주차장에 두시면 다시 굳습니다." [2:20–2:30] "이 판결은 강의장 전체의 판결입니다. 여러분 각자의 판결문은 휴대폰에 있습니다." 강사 사례는 '표본 1명'이라고 스스로 말한다. '구조는 안 바뀌므로 변화분은 근육 몫'이라는 소거법은 쓰지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쟁점 7: 손가락 세 개 — "범인, 내쉬기, 다음 자세." 판사님들은 요약을 잘 하시니 세 단어면 됩니다. [0:20–1:20] 쟁점 4 답을 몸으로: 1분 절차 전원 실연, 강사가 초를 센다. "0~10초 발 3점, 뒷주머니 쪽으로 체중 한 번. 10~40초 등받이에 등 위쪽, 배 조이고, 소리 나게 내쉬기 셋. 40~55초 모서리 누르며 만세 둘, 미간. 55~60초 고개 좌우 — 달라졌습니까? 이게 재판 중 1분입니다. 아무도 눈치 못 챕니다." 이때 마지막 벌금 콜백: "고개 끄덕이신 분 1만 원." [1:20–1:50] 옆사람에게 한 문장 낭독(30초). "말한 것만 집행됩니다." [1:50–2:00] 폐정 선언 그대로 + 공 톡. 벌금 결산: "오늘 벌금 총액은 전액 공으로 대납 처리됐습니다. 싸게 먹혔죠." "오늘 답이 안 된 쟁점이 있으면 나가시면서 담당자께 말씀해 주십시오. 그것이 다음 회차의 첫 쟁점이 됩니다." 사진은 시간 외·동의자만. 앱·베타·특허 언급 금지(영업 인상). 반대쪽 숙제는 각 부위 사후 QR에서 이미 45초 처리했으므로 '오늘 밤 3분 더'로만. [종료 후 개별 질문 고정 대본] "오늘은 개별 처치를 하지 않습니다. 진단명이 있으시면 담당 의료진과 상의하시고, 오늘 방법은 '추가'로만. 저림·힘 빠짐이 있으면 오늘 압박은 하지 않는 것이 제 규칙입니다." 금지: 진단명·영상 소견 설명, 특정 부위에 손 대기, '없어진다·낫는다' 발언. 담당자에게도 사전 공유. 공은 '선물'이 아니라 '기관과 사전 협의된 실습 교구'로만 호칭. 앱·베타·상담 언급 금지.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몸의 법정 · 사건번호 2026-몸-2 · 개정</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1</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개정 — 오늘 재판장은 여러분 각자입니다</a:t>
            </a:r>
            <a:endParaRPr lang="en-US" sz="3000" dirty="0"/>
          </a:p>
        </p:txBody>
      </p:sp>
      <p:sp>
        <p:nvSpPr>
          <p:cNvPr id="6" name="Text 4"/>
          <p:cNvSpPr txBox="1"/>
          <p:nvPr/>
        </p:nvSpPr>
        <p:spPr>
          <a:xfrm>
            <a:off x="548640" y="1783080"/>
            <a:ext cx="11091672" cy="731520"/>
          </a:xfrm>
          <a:prstGeom prst="rect">
            <a:avLst/>
          </a:prstGeom>
          <a:noFill/>
          <a:ln/>
        </p:spPr>
        <p:txBody>
          <a:bodyPr wrap="square" lIns="0" tIns="0" rIns="0" bIns="0" rtlCol="0" anchor="t"/>
          <a:lstStyle/>
          <a:p>
            <a:pPr indent="0" marL="0">
              <a:buNone/>
            </a:pPr>
            <a:r>
              <a:rPr lang="en-US" sz="1500" dirty="0">
                <a:solidFill>
                  <a:srgbClr val="C5D0E2"/>
                </a:solidFill>
                <a:latin typeface="Malgun Gothic" pitchFamily="34" charset="0"/>
                <a:ea typeface="Malgun Gothic" pitchFamily="34" charset="-122"/>
                <a:cs typeface="Malgun Gothic" pitchFamily="34" charset="-120"/>
              </a:rPr>
              <a:t>다섯 건을 심리합니다 — 발·목·어깨·허리·무릎. 저는 판결하지 않습니다. 감정인으로서 가설과 증거만 제출하고, 판단은 각자 자기 몸에서 하십니다.</a:t>
            </a:r>
            <a:endParaRPr lang="en-US" sz="1500" dirty="0"/>
          </a:p>
        </p:txBody>
      </p:sp>
      <p:sp>
        <p:nvSpPr>
          <p:cNvPr id="7" name="Shape 5"/>
          <p:cNvSpPr/>
          <p:nvPr/>
        </p:nvSpPr>
        <p:spPr>
          <a:xfrm>
            <a:off x="548640" y="2651760"/>
            <a:ext cx="3544824" cy="2377440"/>
          </a:xfrm>
          <a:prstGeom prst="roundRect">
            <a:avLst>
              <a:gd name="adj" fmla="val 5769"/>
            </a:avLst>
          </a:prstGeom>
          <a:solidFill>
            <a:srgbClr val="132446"/>
          </a:solidFill>
          <a:ln w="12700">
            <a:solidFill>
              <a:srgbClr val="132446"/>
            </a:solidFill>
            <a:prstDash val="solid"/>
          </a:ln>
        </p:spPr>
      </p:sp>
      <p:sp>
        <p:nvSpPr>
          <p:cNvPr id="8" name="Text 6"/>
          <p:cNvSpPr txBox="1"/>
          <p:nvPr/>
        </p:nvSpPr>
        <p:spPr>
          <a:xfrm>
            <a:off x="749808" y="281635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진술</a:t>
            </a:r>
            <a:endParaRPr lang="en-US" sz="1000" dirty="0"/>
          </a:p>
        </p:txBody>
      </p:sp>
      <p:sp>
        <p:nvSpPr>
          <p:cNvPr id="9" name="Text 7"/>
          <p:cNvSpPr txBox="1"/>
          <p:nvPr/>
        </p:nvSpPr>
        <p:spPr>
          <a:xfrm>
            <a:off x="749808" y="3108960"/>
            <a:ext cx="314248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사전 QR · 0~10</a:t>
            </a:r>
            <a:endParaRPr lang="en-US" sz="1500" dirty="0"/>
          </a:p>
        </p:txBody>
      </p:sp>
      <p:sp>
        <p:nvSpPr>
          <p:cNvPr id="10" name="Text 8"/>
          <p:cNvSpPr txBox="1"/>
          <p:nvPr/>
        </p:nvSpPr>
        <p:spPr>
          <a:xfrm>
            <a:off x="749808" y="3840480"/>
            <a:ext cx="3142488"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휴대폰으로 숫자 하나. 이름·소속·연락처는 받지 않고, 기기별 무작위 번호로만 전후를 짝지어 익명 저장합니다. 집계만 공개·기관 공유하며 개인 결과는 전달되지 않습니다. 0도 진술입니다.</a:t>
            </a:r>
            <a:endParaRPr lang="en-US" sz="1150" dirty="0"/>
          </a:p>
        </p:txBody>
      </p:sp>
      <p:sp>
        <p:nvSpPr>
          <p:cNvPr id="11" name="Shape 9"/>
          <p:cNvSpPr/>
          <p:nvPr/>
        </p:nvSpPr>
        <p:spPr>
          <a:xfrm>
            <a:off x="4322064" y="2651760"/>
            <a:ext cx="3544824" cy="2377440"/>
          </a:xfrm>
          <a:prstGeom prst="roundRect">
            <a:avLst>
              <a:gd name="adj" fmla="val 5769"/>
            </a:avLst>
          </a:prstGeom>
          <a:solidFill>
            <a:srgbClr val="132446"/>
          </a:solidFill>
          <a:ln w="12700">
            <a:solidFill>
              <a:srgbClr val="132446"/>
            </a:solidFill>
            <a:prstDash val="solid"/>
          </a:ln>
        </p:spPr>
      </p:sp>
      <p:sp>
        <p:nvSpPr>
          <p:cNvPr id="12" name="Text 10"/>
          <p:cNvSpPr txBox="1"/>
          <p:nvPr/>
        </p:nvSpPr>
        <p:spPr>
          <a:xfrm>
            <a:off x="4523232" y="281635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증거조사</a:t>
            </a:r>
            <a:endParaRPr lang="en-US" sz="1000" dirty="0"/>
          </a:p>
        </p:txBody>
      </p:sp>
      <p:sp>
        <p:nvSpPr>
          <p:cNvPr id="13" name="Text 11"/>
          <p:cNvSpPr txBox="1"/>
          <p:nvPr/>
        </p:nvSpPr>
        <p:spPr>
          <a:xfrm>
            <a:off x="4523232" y="3108960"/>
            <a:ext cx="314248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문헌 + 검증 + 실험</a:t>
            </a:r>
            <a:endParaRPr lang="en-US" sz="1500" dirty="0"/>
          </a:p>
        </p:txBody>
      </p:sp>
      <p:sp>
        <p:nvSpPr>
          <p:cNvPr id="14" name="Text 12"/>
          <p:cNvSpPr txBox="1"/>
          <p:nvPr/>
        </p:nvSpPr>
        <p:spPr>
          <a:xfrm>
            <a:off x="4523232" y="3840480"/>
            <a:ext cx="3142488"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한쪽만 풀고 안 푼 쪽과 대질합니다. 반대편이 대조군입니다.</a:t>
            </a:r>
            <a:endParaRPr lang="en-US" sz="1150" dirty="0"/>
          </a:p>
        </p:txBody>
      </p:sp>
      <p:sp>
        <p:nvSpPr>
          <p:cNvPr id="15" name="Shape 13"/>
          <p:cNvSpPr/>
          <p:nvPr/>
        </p:nvSpPr>
        <p:spPr>
          <a:xfrm>
            <a:off x="8095488" y="2651760"/>
            <a:ext cx="3544824" cy="2377440"/>
          </a:xfrm>
          <a:prstGeom prst="roundRect">
            <a:avLst>
              <a:gd name="adj" fmla="val 5769"/>
            </a:avLst>
          </a:prstGeom>
          <a:solidFill>
            <a:srgbClr val="132446"/>
          </a:solidFill>
          <a:ln w="12700">
            <a:solidFill>
              <a:srgbClr val="132446"/>
            </a:solidFill>
            <a:prstDash val="solid"/>
          </a:ln>
        </p:spPr>
      </p:sp>
      <p:sp>
        <p:nvSpPr>
          <p:cNvPr id="16" name="Text 14"/>
          <p:cNvSpPr txBox="1"/>
          <p:nvPr/>
        </p:nvSpPr>
        <p:spPr>
          <a:xfrm>
            <a:off x="8296656" y="281635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재검사·판결</a:t>
            </a:r>
            <a:endParaRPr lang="en-US" sz="1000" dirty="0"/>
          </a:p>
        </p:txBody>
      </p:sp>
      <p:sp>
        <p:nvSpPr>
          <p:cNvPr id="17" name="Text 15"/>
          <p:cNvSpPr txBox="1"/>
          <p:nvPr/>
        </p:nvSpPr>
        <p:spPr>
          <a:xfrm>
            <a:off x="8296656" y="3108960"/>
            <a:ext cx="314248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사후 QR → 각자 판결</a:t>
            </a:r>
            <a:endParaRPr lang="en-US" sz="1500" dirty="0"/>
          </a:p>
        </p:txBody>
      </p:sp>
      <p:sp>
        <p:nvSpPr>
          <p:cNvPr id="18" name="Text 16"/>
          <p:cNvSpPr txBox="1"/>
          <p:nvPr/>
        </p:nvSpPr>
        <p:spPr>
          <a:xfrm>
            <a:off x="8296656" y="3840480"/>
            <a:ext cx="3142488"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달라졌는지, 같은지, 더 불편한지 — 숫자로 판단합니다.</a:t>
            </a:r>
            <a:endParaRPr lang="en-US" sz="1150" dirty="0"/>
          </a:p>
        </p:txBody>
      </p:sp>
      <p:sp>
        <p:nvSpPr>
          <p:cNvPr id="19" name="Text 17"/>
          <p:cNvSpPr txBox="1"/>
          <p:nvPr/>
        </p:nvSpPr>
        <p:spPr>
          <a:xfrm>
            <a:off x="548640" y="5120640"/>
            <a:ext cx="11091672" cy="640080"/>
          </a:xfrm>
          <a:prstGeom prst="rect">
            <a:avLst/>
          </a:prstGeom>
          <a:noFill/>
          <a:ln/>
        </p:spPr>
        <p:txBody>
          <a:bodyPr wrap="square" lIns="0" tIns="0" rIns="0" bIns="0" rtlCol="0" anchor="ctr"/>
          <a:lstStyle/>
          <a:p>
            <a:pPr indent="0" marL="0">
              <a:buNone/>
            </a:pPr>
            <a:r>
              <a:rPr lang="en-US" sz="1600" b="1" i="1" dirty="0">
                <a:solidFill>
                  <a:srgbClr val="FFD27A"/>
                </a:solidFill>
                <a:latin typeface="Malgun Gothic" pitchFamily="34" charset="0"/>
                <a:ea typeface="Malgun Gothic" pitchFamily="34" charset="-122"/>
                <a:cs typeface="Malgun Gothic" pitchFamily="34" charset="-120"/>
              </a:rPr>
              <a:t>"통증은 실제 또는 잠재적 조직 손상과 관련되거나 그와 유사한, 불쾌한 감각적·정서적 경험이다." — IASP 통증 정의 개정(2020). 통증은 실재합니다. 다만 손상의 크기와 같은 뜻은 아닙니다.</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증거능력 심사 · 감정인 자기 고지 · 쟁점 3</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2</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증거능력 고지 — 반박부터 인정하겠습니다</a:t>
            </a:r>
            <a:endParaRPr lang="en-US" sz="3000" dirty="0"/>
          </a:p>
        </p:txBody>
      </p:sp>
      <p:sp>
        <p:nvSpPr>
          <p:cNvPr id="6" name="Text 4"/>
          <p:cNvSpPr txBox="1"/>
          <p:nvPr/>
        </p:nvSpPr>
        <p:spPr>
          <a:xfrm>
            <a:off x="548640" y="1783080"/>
            <a:ext cx="11091672" cy="731520"/>
          </a:xfrm>
          <a:prstGeom prst="rect">
            <a:avLst/>
          </a:prstGeom>
          <a:noFill/>
          <a:ln/>
        </p:spPr>
        <p:txBody>
          <a:bodyPr wrap="square" lIns="0" tIns="0" rIns="0" bIns="0" rtlCol="0" anchor="t"/>
          <a:lstStyle/>
          <a:p>
            <a:pPr indent="0" marL="0">
              <a:buNone/>
            </a:pPr>
            <a:r>
              <a:rPr lang="en-US" sz="1500" dirty="0">
                <a:solidFill>
                  <a:srgbClr val="C5D0E2"/>
                </a:solidFill>
                <a:latin typeface="Malgun Gothic" pitchFamily="34" charset="0"/>
                <a:ea typeface="Malgun Gothic" pitchFamily="34" charset="-122"/>
                <a:cs typeface="Malgun Gothic" pitchFamily="34" charset="-120"/>
              </a:rPr>
              <a:t>판사님들이 속으로 던지실 반박을 제가 먼저 인정합니다. 그래서 오늘의 기준은 '즉시 낫는다'가 아니라 '달라지는지 확인한다'입니다.</a:t>
            </a:r>
            <a:endParaRPr lang="en-US" sz="1500" dirty="0"/>
          </a:p>
        </p:txBody>
      </p:sp>
      <p:sp>
        <p:nvSpPr>
          <p:cNvPr id="7" name="Shape 5"/>
          <p:cNvSpPr/>
          <p:nvPr/>
        </p:nvSpPr>
        <p:spPr>
          <a:xfrm>
            <a:off x="548640" y="2651760"/>
            <a:ext cx="2601468" cy="2377440"/>
          </a:xfrm>
          <a:prstGeom prst="roundRect">
            <a:avLst>
              <a:gd name="adj" fmla="val 5769"/>
            </a:avLst>
          </a:prstGeom>
          <a:solidFill>
            <a:srgbClr val="132446"/>
          </a:solidFill>
          <a:ln w="12700">
            <a:solidFill>
              <a:srgbClr val="132446"/>
            </a:solidFill>
            <a:prstDash val="solid"/>
          </a:ln>
        </p:spPr>
      </p:sp>
      <p:sp>
        <p:nvSpPr>
          <p:cNvPr id="8" name="Text 6"/>
          <p:cNvSpPr txBox="1"/>
          <p:nvPr/>
        </p:nvSpPr>
        <p:spPr>
          <a:xfrm>
            <a:off x="749808" y="281635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한계 1</a:t>
            </a:r>
            <a:endParaRPr lang="en-US" sz="1000" dirty="0"/>
          </a:p>
        </p:txBody>
      </p:sp>
      <p:sp>
        <p:nvSpPr>
          <p:cNvPr id="9" name="Text 7"/>
          <p:cNvSpPr txBox="1"/>
          <p:nvPr/>
        </p:nvSpPr>
        <p:spPr>
          <a:xfrm>
            <a:off x="749808" y="310896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자기보고 · 직후 · 1회</a:t>
            </a:r>
            <a:endParaRPr lang="en-US" sz="1500" dirty="0"/>
          </a:p>
        </p:txBody>
      </p:sp>
      <p:sp>
        <p:nvSpPr>
          <p:cNvPr id="10" name="Text 8"/>
          <p:cNvSpPr txBox="1"/>
          <p:nvPr/>
        </p:nvSpPr>
        <p:spPr>
          <a:xfrm>
            <a:off x="749808" y="3840480"/>
            <a:ext cx="2199132"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0~10은 본인 진술입니다. 기분·기억이 섞이고, 내일까지 가는지는 별개 쟁점입니다.</a:t>
            </a:r>
            <a:endParaRPr lang="en-US" sz="1150" dirty="0"/>
          </a:p>
        </p:txBody>
      </p:sp>
      <p:sp>
        <p:nvSpPr>
          <p:cNvPr id="11" name="Shape 9"/>
          <p:cNvSpPr/>
          <p:nvPr/>
        </p:nvSpPr>
        <p:spPr>
          <a:xfrm>
            <a:off x="3378708" y="2651760"/>
            <a:ext cx="2601468" cy="2377440"/>
          </a:xfrm>
          <a:prstGeom prst="roundRect">
            <a:avLst>
              <a:gd name="adj" fmla="val 5769"/>
            </a:avLst>
          </a:prstGeom>
          <a:solidFill>
            <a:srgbClr val="132446"/>
          </a:solidFill>
          <a:ln w="12700">
            <a:solidFill>
              <a:srgbClr val="132446"/>
            </a:solidFill>
            <a:prstDash val="solid"/>
          </a:ln>
        </p:spPr>
      </p:sp>
      <p:sp>
        <p:nvSpPr>
          <p:cNvPr id="12" name="Text 10"/>
          <p:cNvSpPr txBox="1"/>
          <p:nvPr/>
        </p:nvSpPr>
        <p:spPr>
          <a:xfrm>
            <a:off x="3579876" y="281635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한계 2</a:t>
            </a:r>
            <a:endParaRPr lang="en-US" sz="1000" dirty="0"/>
          </a:p>
        </p:txBody>
      </p:sp>
      <p:sp>
        <p:nvSpPr>
          <p:cNvPr id="13" name="Text 11"/>
          <p:cNvSpPr txBox="1"/>
          <p:nvPr/>
        </p:nvSpPr>
        <p:spPr>
          <a:xfrm>
            <a:off x="3579876" y="310896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대조군 없음 → 한쪽만</a:t>
            </a:r>
            <a:endParaRPr lang="en-US" sz="1500" dirty="0"/>
          </a:p>
        </p:txBody>
      </p:sp>
      <p:sp>
        <p:nvSpPr>
          <p:cNvPr id="14" name="Text 12"/>
          <p:cNvSpPr txBox="1"/>
          <p:nvPr/>
        </p:nvSpPr>
        <p:spPr>
          <a:xfrm>
            <a:off x="3579876" y="3840480"/>
            <a:ext cx="2199132"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기관 차원 대조군은 없습니다. 대신 한쪽만 풀어 반대편을 자기 대조군으로 씁니다.</a:t>
            </a:r>
            <a:endParaRPr lang="en-US" sz="1150" dirty="0"/>
          </a:p>
        </p:txBody>
      </p:sp>
      <p:sp>
        <p:nvSpPr>
          <p:cNvPr id="15" name="Shape 13"/>
          <p:cNvSpPr/>
          <p:nvPr/>
        </p:nvSpPr>
        <p:spPr>
          <a:xfrm>
            <a:off x="6208776" y="2651760"/>
            <a:ext cx="2601468" cy="2377440"/>
          </a:xfrm>
          <a:prstGeom prst="roundRect">
            <a:avLst>
              <a:gd name="adj" fmla="val 5769"/>
            </a:avLst>
          </a:prstGeom>
          <a:solidFill>
            <a:srgbClr val="132446"/>
          </a:solidFill>
          <a:ln w="12700">
            <a:solidFill>
              <a:srgbClr val="132446"/>
            </a:solidFill>
            <a:prstDash val="solid"/>
          </a:ln>
        </p:spPr>
      </p:sp>
      <p:sp>
        <p:nvSpPr>
          <p:cNvPr id="16" name="Text 14"/>
          <p:cNvSpPr txBox="1"/>
          <p:nvPr/>
        </p:nvSpPr>
        <p:spPr>
          <a:xfrm>
            <a:off x="6409944" y="281635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한계 3</a:t>
            </a:r>
            <a:endParaRPr lang="en-US" sz="1000" dirty="0"/>
          </a:p>
        </p:txBody>
      </p:sp>
      <p:sp>
        <p:nvSpPr>
          <p:cNvPr id="17" name="Text 15"/>
          <p:cNvSpPr txBox="1"/>
          <p:nvPr/>
        </p:nvSpPr>
        <p:spPr>
          <a:xfrm>
            <a:off x="6409944" y="310896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기대효과</a:t>
            </a:r>
            <a:endParaRPr lang="en-US" sz="1500" dirty="0"/>
          </a:p>
        </p:txBody>
      </p:sp>
      <p:sp>
        <p:nvSpPr>
          <p:cNvPr id="18" name="Text 16"/>
          <p:cNvSpPr txBox="1"/>
          <p:nvPr/>
        </p:nvSpPr>
        <p:spPr>
          <a:xfrm>
            <a:off x="6409944" y="3840480"/>
            <a:ext cx="2199132"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제가 '좋아질 것'이라 말한 뒤의 측정입니다. 한쪽만 풀어도 어느 쪽을 풀었는지 본인이 알기 때문에 기대는 남습니다. 그래서 주문은 '달라졌다고 볼 여지가 있다'까지입니다.</a:t>
            </a:r>
            <a:endParaRPr lang="en-US" sz="1150" dirty="0"/>
          </a:p>
        </p:txBody>
      </p:sp>
      <p:sp>
        <p:nvSpPr>
          <p:cNvPr id="19" name="Shape 17"/>
          <p:cNvSpPr/>
          <p:nvPr/>
        </p:nvSpPr>
        <p:spPr>
          <a:xfrm>
            <a:off x="9038844" y="2651760"/>
            <a:ext cx="2601468" cy="2377440"/>
          </a:xfrm>
          <a:prstGeom prst="roundRect">
            <a:avLst>
              <a:gd name="adj" fmla="val 5769"/>
            </a:avLst>
          </a:prstGeom>
          <a:solidFill>
            <a:srgbClr val="132446"/>
          </a:solidFill>
          <a:ln w="12700">
            <a:solidFill>
              <a:srgbClr val="132446"/>
            </a:solidFill>
            <a:prstDash val="solid"/>
          </a:ln>
        </p:spPr>
      </p:sp>
      <p:sp>
        <p:nvSpPr>
          <p:cNvPr id="20" name="Text 18"/>
          <p:cNvSpPr txBox="1"/>
          <p:nvPr/>
        </p:nvSpPr>
        <p:spPr>
          <a:xfrm>
            <a:off x="9240012" y="281635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한계 4</a:t>
            </a:r>
            <a:endParaRPr lang="en-US" sz="1000" dirty="0"/>
          </a:p>
        </p:txBody>
      </p:sp>
      <p:sp>
        <p:nvSpPr>
          <p:cNvPr id="21" name="Text 19"/>
          <p:cNvSpPr txBox="1"/>
          <p:nvPr/>
        </p:nvSpPr>
        <p:spPr>
          <a:xfrm>
            <a:off x="9240012" y="310896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감정인의 이해관계</a:t>
            </a:r>
            <a:endParaRPr lang="en-US" sz="1500" dirty="0"/>
          </a:p>
        </p:txBody>
      </p:sp>
      <p:sp>
        <p:nvSpPr>
          <p:cNvPr id="22" name="Text 20"/>
          <p:cNvSpPr txBox="1"/>
          <p:nvPr/>
        </p:nvSpPr>
        <p:spPr>
          <a:xfrm>
            <a:off x="9240012" y="3840480"/>
            <a:ext cx="2199132"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저는 이 방법으로 일하는 사람입니다. 그래서 효과를 선언하지 않고 여러분이 측정합니다. 연락처는 받지 않습니다.</a:t>
            </a:r>
            <a:endParaRPr lang="en-US" sz="1150" dirty="0"/>
          </a:p>
        </p:txBody>
      </p:sp>
      <p:sp>
        <p:nvSpPr>
          <p:cNvPr id="23" name="Text 21"/>
          <p:cNvSpPr txBox="1"/>
          <p:nvPr/>
        </p:nvSpPr>
        <p:spPr>
          <a:xfrm>
            <a:off x="548640" y="5715000"/>
            <a:ext cx="11091672" cy="457200"/>
          </a:xfrm>
          <a:prstGeom prst="rect">
            <a:avLst/>
          </a:prstGeom>
          <a:noFill/>
          <a:ln/>
        </p:spPr>
        <p:txBody>
          <a:bodyPr wrap="square" lIns="0" tIns="0" rIns="0" bIns="0" rtlCol="0" anchor="ctr"/>
          <a:lstStyle/>
          <a:p>
            <a:pPr indent="0" marL="0">
              <a:buNone/>
            </a:pPr>
            <a:r>
              <a:rPr lang="en-US" sz="1100" dirty="0">
                <a:solidFill>
                  <a:srgbClr val="FFC9C9"/>
                </a:solidFill>
                <a:latin typeface="Malgun Gothic" pitchFamily="34" charset="0"/>
                <a:ea typeface="Malgun Gothic" pitchFamily="34" charset="-122"/>
                <a:cs typeface="Malgun Gothic" pitchFamily="34" charset="-120"/>
              </a:rPr>
              <a:t>! 쟁점 3의 답 — 관할 밖(이송)으로 오늘 기억할 대표적 일곱 가지: 저림 · 힘 빠짐 · 대소변 장애 · 발열 · 야간통 · 외상 · 급성 심한 통증. 하나라도 있으면 오늘 압박은 생략하고 의료기관 평가가 먼저입니다. 일곱 가지가 없어도 2~4주 이상 지속·악화되거나 암 병력·원인 모를 체중 감소가 있으면 평가 대상이고, 목·어깨 통증에 가슴 답답함·식은땀이 함께 오면 실습이 아니라 응급입니다. 각하(보기만): 수술 직후 · 부종·열감 · 임신 중 · 항응고제 복용 · 발 감각 저하 · 골다공증 진단·스테로이드 장기 복용. 관할 안(오늘 움직여도 되는 것): 자세를 바꾸면 덜해지고, 눌렀을 때 '시원한 불편감'이며, 숨을 쉬면서 견딜 수 있는 정도. 숨이 막히면 너무 센 것입니다. 이 목록은 오늘 실습 참가 여부용이며 병원에 갈지의 최종 판단은 의료인의 몫입니다.</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쟁점 정리 · 어디서 답하는가</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3</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쟁점 정리 — 오늘 답할 판사의 질문 7개</a:t>
            </a:r>
            <a:endParaRPr lang="en-US" sz="3000" dirty="0"/>
          </a:p>
        </p:txBody>
      </p:sp>
      <p:sp>
        <p:nvSpPr>
          <p:cNvPr id="6" name="Text 4"/>
          <p:cNvSpPr txBox="1"/>
          <p:nvPr/>
        </p:nvSpPr>
        <p:spPr>
          <a:xfrm>
            <a:off x="548640" y="1783080"/>
            <a:ext cx="11091672" cy="731520"/>
          </a:xfrm>
          <a:prstGeom prst="rect">
            <a:avLst/>
          </a:prstGeom>
          <a:noFill/>
          <a:ln/>
        </p:spPr>
        <p:txBody>
          <a:bodyPr wrap="square" lIns="0" tIns="0" rIns="0" bIns="0" rtlCol="0" anchor="t"/>
          <a:lstStyle/>
          <a:p>
            <a:pPr indent="0" marL="0">
              <a:buNone/>
            </a:pPr>
            <a:r>
              <a:rPr lang="en-US" sz="1500" dirty="0">
                <a:solidFill>
                  <a:srgbClr val="C5D0E2"/>
                </a:solidFill>
                <a:latin typeface="Malgun Gothic" pitchFamily="34" charset="0"/>
                <a:ea typeface="Malgun Gothic" pitchFamily="34" charset="-122"/>
                <a:cs typeface="Malgun Gothic" pitchFamily="34" charset="-120"/>
              </a:rPr>
              <a:t>질문을 먼저 공개합니다. 쟁점 3은 방금 답했습니다. 나머지는 별도 시간 없이 해당 부위 심리 안에서 답합니다.</a:t>
            </a:r>
            <a:endParaRPr lang="en-US" sz="1500" dirty="0"/>
          </a:p>
        </p:txBody>
      </p:sp>
      <p:sp>
        <p:nvSpPr>
          <p:cNvPr id="7" name="Shape 5"/>
          <p:cNvSpPr/>
          <p:nvPr/>
        </p:nvSpPr>
        <p:spPr>
          <a:xfrm>
            <a:off x="548640" y="2560320"/>
            <a:ext cx="2601468" cy="1645920"/>
          </a:xfrm>
          <a:prstGeom prst="roundRect">
            <a:avLst>
              <a:gd name="adj" fmla="val 8333"/>
            </a:avLst>
          </a:prstGeom>
          <a:solidFill>
            <a:srgbClr val="132446"/>
          </a:solidFill>
          <a:ln w="12700">
            <a:solidFill>
              <a:srgbClr val="132446"/>
            </a:solidFill>
            <a:prstDash val="solid"/>
          </a:ln>
        </p:spPr>
      </p:sp>
      <p:sp>
        <p:nvSpPr>
          <p:cNvPr id="8" name="Text 6"/>
          <p:cNvSpPr txBox="1"/>
          <p:nvPr/>
        </p:nvSpPr>
        <p:spPr>
          <a:xfrm>
            <a:off x="749808" y="272491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쟁점 1</a:t>
            </a:r>
            <a:endParaRPr lang="en-US" sz="1000" dirty="0"/>
          </a:p>
        </p:txBody>
      </p:sp>
      <p:sp>
        <p:nvSpPr>
          <p:cNvPr id="9" name="Text 7"/>
          <p:cNvSpPr txBox="1"/>
          <p:nvPr/>
        </p:nvSpPr>
        <p:spPr>
          <a:xfrm>
            <a:off x="749808" y="301752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왜 일을 오래 하면 목과 허리가 아픈가?</a:t>
            </a:r>
            <a:endParaRPr lang="en-US" sz="1500" dirty="0"/>
          </a:p>
        </p:txBody>
      </p:sp>
      <p:sp>
        <p:nvSpPr>
          <p:cNvPr id="10" name="Shape 8"/>
          <p:cNvSpPr/>
          <p:nvPr/>
        </p:nvSpPr>
        <p:spPr>
          <a:xfrm>
            <a:off x="3378708" y="2560320"/>
            <a:ext cx="2601468" cy="1645920"/>
          </a:xfrm>
          <a:prstGeom prst="roundRect">
            <a:avLst>
              <a:gd name="adj" fmla="val 8333"/>
            </a:avLst>
          </a:prstGeom>
          <a:solidFill>
            <a:srgbClr val="132446"/>
          </a:solidFill>
          <a:ln w="12700">
            <a:solidFill>
              <a:srgbClr val="132446"/>
            </a:solidFill>
            <a:prstDash val="solid"/>
          </a:ln>
        </p:spPr>
      </p:sp>
      <p:sp>
        <p:nvSpPr>
          <p:cNvPr id="11" name="Text 9"/>
          <p:cNvSpPr txBox="1"/>
          <p:nvPr/>
        </p:nvSpPr>
        <p:spPr>
          <a:xfrm>
            <a:off x="3579876" y="272491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쟁점 2</a:t>
            </a:r>
            <a:endParaRPr lang="en-US" sz="1000" dirty="0"/>
          </a:p>
        </p:txBody>
      </p:sp>
      <p:sp>
        <p:nvSpPr>
          <p:cNvPr id="12" name="Text 10"/>
          <p:cNvSpPr txBox="1"/>
          <p:nvPr/>
        </p:nvSpPr>
        <p:spPr>
          <a:xfrm>
            <a:off x="3579876" y="301752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좋은 의자와 바른 자세만으로 해결되지 않는 이유는 무엇인가?</a:t>
            </a:r>
            <a:endParaRPr lang="en-US" sz="1500" dirty="0"/>
          </a:p>
        </p:txBody>
      </p:sp>
      <p:sp>
        <p:nvSpPr>
          <p:cNvPr id="13" name="Shape 11"/>
          <p:cNvSpPr/>
          <p:nvPr/>
        </p:nvSpPr>
        <p:spPr>
          <a:xfrm>
            <a:off x="6208776" y="2560320"/>
            <a:ext cx="2601468" cy="1645920"/>
          </a:xfrm>
          <a:prstGeom prst="roundRect">
            <a:avLst>
              <a:gd name="adj" fmla="val 8333"/>
            </a:avLst>
          </a:prstGeom>
          <a:solidFill>
            <a:srgbClr val="132446"/>
          </a:solidFill>
          <a:ln w="12700">
            <a:solidFill>
              <a:srgbClr val="132446"/>
            </a:solidFill>
            <a:prstDash val="solid"/>
          </a:ln>
        </p:spPr>
      </p:sp>
      <p:sp>
        <p:nvSpPr>
          <p:cNvPr id="14" name="Text 12"/>
          <p:cNvSpPr txBox="1"/>
          <p:nvPr/>
        </p:nvSpPr>
        <p:spPr>
          <a:xfrm>
            <a:off x="6409944" y="272491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쟁점 3</a:t>
            </a:r>
            <a:endParaRPr lang="en-US" sz="1000" dirty="0"/>
          </a:p>
        </p:txBody>
      </p:sp>
      <p:sp>
        <p:nvSpPr>
          <p:cNvPr id="15" name="Text 13"/>
          <p:cNvSpPr txBox="1"/>
          <p:nvPr/>
        </p:nvSpPr>
        <p:spPr>
          <a:xfrm>
            <a:off x="6409944" y="301752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통증이 있을 때 움직여도 되는 것과 병원에 가야 하는 것을 어떻게 구분하는가?</a:t>
            </a:r>
            <a:endParaRPr lang="en-US" sz="1500" dirty="0"/>
          </a:p>
        </p:txBody>
      </p:sp>
      <p:sp>
        <p:nvSpPr>
          <p:cNvPr id="16" name="Shape 14"/>
          <p:cNvSpPr/>
          <p:nvPr/>
        </p:nvSpPr>
        <p:spPr>
          <a:xfrm>
            <a:off x="9038844" y="2560320"/>
            <a:ext cx="2601468" cy="1645920"/>
          </a:xfrm>
          <a:prstGeom prst="roundRect">
            <a:avLst>
              <a:gd name="adj" fmla="val 8333"/>
            </a:avLst>
          </a:prstGeom>
          <a:solidFill>
            <a:srgbClr val="132446"/>
          </a:solidFill>
          <a:ln w="12700">
            <a:solidFill>
              <a:srgbClr val="132446"/>
            </a:solidFill>
            <a:prstDash val="solid"/>
          </a:ln>
        </p:spPr>
      </p:sp>
      <p:sp>
        <p:nvSpPr>
          <p:cNvPr id="17" name="Text 15"/>
          <p:cNvSpPr txBox="1"/>
          <p:nvPr/>
        </p:nvSpPr>
        <p:spPr>
          <a:xfrm>
            <a:off x="9240012" y="272491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쟁점 4</a:t>
            </a:r>
            <a:endParaRPr lang="en-US" sz="1000" dirty="0"/>
          </a:p>
        </p:txBody>
      </p:sp>
      <p:sp>
        <p:nvSpPr>
          <p:cNvPr id="18" name="Text 16"/>
          <p:cNvSpPr txBox="1"/>
          <p:nvPr/>
        </p:nvSpPr>
        <p:spPr>
          <a:xfrm>
            <a:off x="9240012" y="301752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재판이나 기록 검토 중 1분밖에 없다면 무엇을 해야 하는가?</a:t>
            </a:r>
            <a:endParaRPr lang="en-US" sz="1500" dirty="0"/>
          </a:p>
        </p:txBody>
      </p:sp>
      <p:sp>
        <p:nvSpPr>
          <p:cNvPr id="19" name="Shape 17"/>
          <p:cNvSpPr/>
          <p:nvPr/>
        </p:nvSpPr>
        <p:spPr>
          <a:xfrm>
            <a:off x="548640" y="4389120"/>
            <a:ext cx="3544824" cy="1463040"/>
          </a:xfrm>
          <a:prstGeom prst="roundRect">
            <a:avLst>
              <a:gd name="adj" fmla="val 9375"/>
            </a:avLst>
          </a:prstGeom>
          <a:solidFill>
            <a:srgbClr val="132446"/>
          </a:solidFill>
          <a:ln w="12700">
            <a:solidFill>
              <a:srgbClr val="132446"/>
            </a:solidFill>
            <a:prstDash val="solid"/>
          </a:ln>
        </p:spPr>
      </p:sp>
      <p:sp>
        <p:nvSpPr>
          <p:cNvPr id="20" name="Text 18"/>
          <p:cNvSpPr txBox="1"/>
          <p:nvPr/>
        </p:nvSpPr>
        <p:spPr>
          <a:xfrm>
            <a:off x="749808" y="455371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쟁점 5</a:t>
            </a:r>
            <a:endParaRPr lang="en-US" sz="1000" dirty="0"/>
          </a:p>
        </p:txBody>
      </p:sp>
      <p:sp>
        <p:nvSpPr>
          <p:cNvPr id="21" name="Text 19"/>
          <p:cNvSpPr txBox="1"/>
          <p:nvPr/>
        </p:nvSpPr>
        <p:spPr>
          <a:xfrm>
            <a:off x="749808" y="4846320"/>
            <a:ext cx="314248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어깨·목·허리 중 내 문제를 간단히 확인할 방법이 있는가?</a:t>
            </a:r>
            <a:endParaRPr lang="en-US" sz="1500" dirty="0"/>
          </a:p>
        </p:txBody>
      </p:sp>
      <p:sp>
        <p:nvSpPr>
          <p:cNvPr id="22" name="Shape 20"/>
          <p:cNvSpPr/>
          <p:nvPr/>
        </p:nvSpPr>
        <p:spPr>
          <a:xfrm>
            <a:off x="4322064" y="4389120"/>
            <a:ext cx="3544824" cy="1463040"/>
          </a:xfrm>
          <a:prstGeom prst="roundRect">
            <a:avLst>
              <a:gd name="adj" fmla="val 9375"/>
            </a:avLst>
          </a:prstGeom>
          <a:solidFill>
            <a:srgbClr val="132446"/>
          </a:solidFill>
          <a:ln w="12700">
            <a:solidFill>
              <a:srgbClr val="132446"/>
            </a:solidFill>
            <a:prstDash val="solid"/>
          </a:ln>
        </p:spPr>
      </p:sp>
      <p:sp>
        <p:nvSpPr>
          <p:cNvPr id="23" name="Text 21"/>
          <p:cNvSpPr txBox="1"/>
          <p:nvPr/>
        </p:nvSpPr>
        <p:spPr>
          <a:xfrm>
            <a:off x="4523232" y="455371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쟁점 6</a:t>
            </a:r>
            <a:endParaRPr lang="en-US" sz="1000" dirty="0"/>
          </a:p>
        </p:txBody>
      </p:sp>
      <p:sp>
        <p:nvSpPr>
          <p:cNvPr id="24" name="Text 22"/>
          <p:cNvSpPr txBox="1"/>
          <p:nvPr/>
        </p:nvSpPr>
        <p:spPr>
          <a:xfrm>
            <a:off x="4523232" y="4846320"/>
            <a:ext cx="314248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운동을 많이 하는 것과 몸을 잘 관리하는 것은 어떻게 다른가?</a:t>
            </a:r>
            <a:endParaRPr lang="en-US" sz="1500" dirty="0"/>
          </a:p>
        </p:txBody>
      </p:sp>
      <p:sp>
        <p:nvSpPr>
          <p:cNvPr id="25" name="Shape 23"/>
          <p:cNvSpPr/>
          <p:nvPr/>
        </p:nvSpPr>
        <p:spPr>
          <a:xfrm>
            <a:off x="8095488" y="4389120"/>
            <a:ext cx="3544824" cy="1463040"/>
          </a:xfrm>
          <a:prstGeom prst="roundRect">
            <a:avLst>
              <a:gd name="adj" fmla="val 9375"/>
            </a:avLst>
          </a:prstGeom>
          <a:solidFill>
            <a:srgbClr val="132446"/>
          </a:solidFill>
          <a:ln w="12700">
            <a:solidFill>
              <a:srgbClr val="132446"/>
            </a:solidFill>
            <a:prstDash val="solid"/>
          </a:ln>
        </p:spPr>
      </p:sp>
      <p:sp>
        <p:nvSpPr>
          <p:cNvPr id="26" name="Text 24"/>
          <p:cNvSpPr txBox="1"/>
          <p:nvPr/>
        </p:nvSpPr>
        <p:spPr>
          <a:xfrm>
            <a:off x="8296656" y="455371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쟁점 7</a:t>
            </a:r>
            <a:endParaRPr lang="en-US" sz="1000" dirty="0"/>
          </a:p>
        </p:txBody>
      </p:sp>
      <p:sp>
        <p:nvSpPr>
          <p:cNvPr id="27" name="Text 25"/>
          <p:cNvSpPr txBox="1"/>
          <p:nvPr/>
        </p:nvSpPr>
        <p:spPr>
          <a:xfrm>
            <a:off x="8296656" y="4846320"/>
            <a:ext cx="314248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오늘 딱 세 가지만 기억한다면 무엇인가?</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쟁점 1 · 가설과 서증</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4</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2600" b="1" dirty="0">
                <a:solidFill>
                  <a:srgbClr val="F3F6FB"/>
                </a:solidFill>
                <a:latin typeface="Malgun Gothic" pitchFamily="34" charset="0"/>
                <a:ea typeface="Malgun Gothic" pitchFamily="34" charset="-122"/>
                <a:cs typeface="Malgun Gothic" pitchFamily="34" charset="-120"/>
              </a:rPr>
              <a:t>1. 쟁점 1 — 왜 오래 일하면 목과 허리가 아픈가</a:t>
            </a:r>
            <a:endParaRPr lang="en-US" sz="2600" dirty="0"/>
          </a:p>
        </p:txBody>
      </p:sp>
      <p:sp>
        <p:nvSpPr>
          <p:cNvPr id="6" name="Shape 4"/>
          <p:cNvSpPr/>
          <p:nvPr/>
        </p:nvSpPr>
        <p:spPr>
          <a:xfrm>
            <a:off x="548640" y="1920240"/>
            <a:ext cx="5120640" cy="1554480"/>
          </a:xfrm>
          <a:prstGeom prst="roundRect">
            <a:avLst>
              <a:gd name="adj" fmla="val 8824"/>
            </a:avLst>
          </a:prstGeom>
          <a:solidFill>
            <a:srgbClr val="3A2A0F"/>
          </a:solidFill>
          <a:ln w="12700">
            <a:solidFill>
              <a:srgbClr val="3A2A0F"/>
            </a:solidFill>
            <a:prstDash val="solid"/>
          </a:ln>
        </p:spPr>
      </p:sp>
      <p:sp>
        <p:nvSpPr>
          <p:cNvPr id="7" name="Text 5"/>
          <p:cNvSpPr txBox="1"/>
          <p:nvPr/>
        </p:nvSpPr>
        <p:spPr>
          <a:xfrm>
            <a:off x="731520" y="2057400"/>
            <a:ext cx="4754880" cy="274320"/>
          </a:xfrm>
          <a:prstGeom prst="rect">
            <a:avLst/>
          </a:prstGeom>
          <a:noFill/>
          <a:ln/>
        </p:spPr>
        <p:txBody>
          <a:bodyPr wrap="square" lIns="0" tIns="0" rIns="0" bIns="0" rtlCol="0" anchor="ctr"/>
          <a:lstStyle/>
          <a:p>
            <a:pPr indent="0" marL="0">
              <a:buNone/>
            </a:pPr>
            <a:r>
              <a:rPr lang="en-US" sz="1000" b="1" dirty="0">
                <a:solidFill>
                  <a:srgbClr val="FFD27A"/>
                </a:solidFill>
                <a:latin typeface="Malgun Gothic" pitchFamily="34" charset="0"/>
                <a:ea typeface="Malgun Gothic" pitchFamily="34" charset="-122"/>
                <a:cs typeface="Malgun Gothic" pitchFamily="34" charset="-120"/>
              </a:rPr>
              <a:t>주장 · 가설</a:t>
            </a:r>
            <a:endParaRPr lang="en-US" sz="1000" dirty="0"/>
          </a:p>
        </p:txBody>
      </p:sp>
      <p:sp>
        <p:nvSpPr>
          <p:cNvPr id="8" name="Text 6"/>
          <p:cNvSpPr txBox="1"/>
          <p:nvPr/>
        </p:nvSpPr>
        <p:spPr>
          <a:xfrm>
            <a:off x="731520" y="2331720"/>
            <a:ext cx="4754880" cy="640080"/>
          </a:xfrm>
          <a:prstGeom prst="rect">
            <a:avLst/>
          </a:prstGeom>
          <a:noFill/>
          <a:ln/>
        </p:spPr>
        <p:txBody>
          <a:bodyPr wrap="square" lIns="0" tIns="0" rIns="0" bIns="0" rtlCol="0" anchor="t"/>
          <a:lstStyle/>
          <a:p>
            <a:pPr indent="0" marL="0">
              <a:buNone/>
            </a:pPr>
            <a:r>
              <a:rPr lang="en-US" sz="1400" b="1" dirty="0">
                <a:solidFill>
                  <a:srgbClr val="F3F6FB"/>
                </a:solidFill>
                <a:latin typeface="Malgun Gothic" pitchFamily="34" charset="0"/>
                <a:ea typeface="Malgun Gothic" pitchFamily="34" charset="-122"/>
                <a:cs typeface="Malgun Gothic" pitchFamily="34" charset="-120"/>
              </a:rPr>
              <a:t>범인은 '나쁜 자세'가 아니라 '한 자세'입니다. 오래 같은 자세로 있으면 목·허리를 받치는 근육이 쉬지 못하고 계속 일하는 정적 부하가 쌓입니다. 기록 검토·경청·집중은 이 정적 부하가 특히 긴 직무입니다.</a:t>
            </a:r>
            <a:endParaRPr lang="en-US" sz="1400" dirty="0"/>
          </a:p>
        </p:txBody>
      </p:sp>
      <p:sp>
        <p:nvSpPr>
          <p:cNvPr id="9" name="Text 7"/>
          <p:cNvSpPr txBox="1"/>
          <p:nvPr/>
        </p:nvSpPr>
        <p:spPr>
          <a:xfrm>
            <a:off x="731520" y="2971800"/>
            <a:ext cx="4754880" cy="457200"/>
          </a:xfrm>
          <a:prstGeom prst="rect">
            <a:avLst/>
          </a:prstGeom>
          <a:noFill/>
          <a:ln/>
        </p:spPr>
        <p:txBody>
          <a:bodyPr wrap="square" lIns="0" tIns="0" rIns="0" bIns="0" rtlCol="0" anchor="t"/>
          <a:lstStyle/>
          <a:p>
            <a:pPr indent="0" marL="0">
              <a:buNone/>
            </a:pPr>
            <a:r>
              <a:rPr lang="en-US" sz="1050" dirty="0">
                <a:solidFill>
                  <a:srgbClr val="C5D0E2"/>
                </a:solidFill>
                <a:latin typeface="Malgun Gothic" pitchFamily="34" charset="0"/>
                <a:ea typeface="Malgun Gothic" pitchFamily="34" charset="-122"/>
                <a:cs typeface="Malgun Gothic" pitchFamily="34" charset="-120"/>
              </a:rPr>
              <a:t>반대 가설: "오래 써서 닳은 것(퇴행) 아닌가?" — 영상 소견은 통증이 없는 사람에게도 흔하다는 것이 일반 원칙이고, 소견과 통증은 같은 말이 아닙니다(IASP 2020). 오늘은 소견을 바꾸는 게 아니라 '지금 불편감'이 달라지는지 봅니다.</a:t>
            </a:r>
            <a:endParaRPr lang="en-US" sz="1050" dirty="0"/>
          </a:p>
        </p:txBody>
      </p:sp>
      <p:sp>
        <p:nvSpPr>
          <p:cNvPr id="10" name="Shape 8"/>
          <p:cNvSpPr/>
          <p:nvPr/>
        </p:nvSpPr>
        <p:spPr>
          <a:xfrm>
            <a:off x="548640" y="3657600"/>
            <a:ext cx="5120640" cy="1097280"/>
          </a:xfrm>
          <a:prstGeom prst="roundRect">
            <a:avLst>
              <a:gd name="adj" fmla="val 12500"/>
            </a:avLst>
          </a:prstGeom>
          <a:solidFill>
            <a:srgbClr val="0F2E3F"/>
          </a:solidFill>
          <a:ln w="12700">
            <a:solidFill>
              <a:srgbClr val="0F2E3F"/>
            </a:solidFill>
            <a:prstDash val="solid"/>
          </a:ln>
        </p:spPr>
      </p:sp>
      <p:sp>
        <p:nvSpPr>
          <p:cNvPr id="11" name="Text 9"/>
          <p:cNvSpPr txBox="1"/>
          <p:nvPr/>
        </p:nvSpPr>
        <p:spPr>
          <a:xfrm>
            <a:off x="731520" y="3776472"/>
            <a:ext cx="4754880" cy="274320"/>
          </a:xfrm>
          <a:prstGeom prst="rect">
            <a:avLst/>
          </a:prstGeom>
          <a:noFill/>
          <a:ln/>
        </p:spPr>
        <p:txBody>
          <a:bodyPr wrap="square" lIns="0" tIns="0" rIns="0" bIns="0" rtlCol="0" anchor="ctr"/>
          <a:lstStyle/>
          <a:p>
            <a:pPr indent="0" marL="0">
              <a:buNone/>
            </a:pPr>
            <a:r>
              <a:rPr lang="en-US" sz="1000" b="1" dirty="0">
                <a:solidFill>
                  <a:srgbClr val="5FD3C8"/>
                </a:solidFill>
                <a:latin typeface="Malgun Gothic" pitchFamily="34" charset="0"/>
                <a:ea typeface="Malgun Gothic" pitchFamily="34" charset="-122"/>
                <a:cs typeface="Malgun Gothic" pitchFamily="34" charset="-120"/>
              </a:rPr>
              <a:t>오늘 현장 확인</a:t>
            </a:r>
            <a:endParaRPr lang="en-US" sz="1000" dirty="0"/>
          </a:p>
        </p:txBody>
      </p:sp>
      <p:sp>
        <p:nvSpPr>
          <p:cNvPr id="12" name="Text 10"/>
          <p:cNvSpPr txBox="1"/>
          <p:nvPr/>
        </p:nvSpPr>
        <p:spPr>
          <a:xfrm>
            <a:off x="731520" y="4050792"/>
            <a:ext cx="4754880" cy="658368"/>
          </a:xfrm>
          <a:prstGeom prst="rect">
            <a:avLst/>
          </a:prstGeom>
          <a:noFill/>
          <a:ln/>
        </p:spPr>
        <p:txBody>
          <a:bodyPr wrap="square" lIns="0" tIns="0" rIns="0" bIns="0" rtlCol="0" anchor="t"/>
          <a:lstStyle/>
          <a:p>
            <a:pPr indent="0" marL="0">
              <a:buNone/>
            </a:pPr>
            <a:r>
              <a:rPr lang="en-US" sz="1150" dirty="0">
                <a:solidFill>
                  <a:srgbClr val="F3F6FB"/>
                </a:solidFill>
                <a:latin typeface="Malgun Gothic" pitchFamily="34" charset="0"/>
                <a:ea typeface="Malgun Gothic" pitchFamily="34" charset="-122"/>
                <a:cs typeface="Malgun Gothic" pitchFamily="34" charset="-120"/>
              </a:rPr>
              <a:t>목 사건에서 확인: 목을 만지지 않고 등받이에 등 상부만 붙여 등을 세운 뒤 좌우 회전을 다시 합니다. 목을 건드리지 않았는데 회전 느낌이 달라지면, 적어도 '자세가 목 감각에 영향을 준다'는 것은 각자 확인한 셈입니다 — 범인 확정은 아니고 가설 지지까지입니다.</a:t>
            </a:r>
            <a:endParaRPr lang="en-US" sz="1150" dirty="0"/>
          </a:p>
        </p:txBody>
      </p:sp>
      <p:sp>
        <p:nvSpPr>
          <p:cNvPr id="13" name="Shape 11"/>
          <p:cNvSpPr/>
          <p:nvPr/>
        </p:nvSpPr>
        <p:spPr>
          <a:xfrm>
            <a:off x="5943600" y="1920240"/>
            <a:ext cx="5696712" cy="713232"/>
          </a:xfrm>
          <a:prstGeom prst="roundRect">
            <a:avLst>
              <a:gd name="adj" fmla="val 12821"/>
            </a:avLst>
          </a:prstGeom>
          <a:solidFill>
            <a:srgbClr val="132446"/>
          </a:solidFill>
          <a:ln w="12700">
            <a:solidFill>
              <a:srgbClr val="132446"/>
            </a:solidFill>
            <a:prstDash val="solid"/>
          </a:ln>
        </p:spPr>
      </p:sp>
      <p:sp>
        <p:nvSpPr>
          <p:cNvPr id="14" name="Text 12"/>
          <p:cNvSpPr txBox="1"/>
          <p:nvPr/>
        </p:nvSpPr>
        <p:spPr>
          <a:xfrm>
            <a:off x="6080760" y="2029968"/>
            <a:ext cx="822960" cy="256032"/>
          </a:xfrm>
          <a:prstGeom prst="rect">
            <a:avLst/>
          </a:prstGeom>
          <a:noFill/>
          <a:ln/>
        </p:spPr>
        <p:txBody>
          <a:bodyPr wrap="square" lIns="0" tIns="0" rIns="0" bIns="0" rtlCol="0" anchor="ctr"/>
          <a:lstStyle/>
          <a:p>
            <a:pPr indent="0" marL="0">
              <a:buNone/>
            </a:pPr>
            <a:r>
              <a:rPr lang="en-US" sz="900" b="1" dirty="0">
                <a:solidFill>
                  <a:srgbClr val="5FD3C8"/>
                </a:solidFill>
                <a:latin typeface="Malgun Gothic" pitchFamily="34" charset="0"/>
                <a:ea typeface="Malgun Gothic" pitchFamily="34" charset="-122"/>
                <a:cs typeface="Malgun Gothic" pitchFamily="34" charset="-120"/>
              </a:rPr>
              <a:t>문헌</a:t>
            </a:r>
            <a:endParaRPr lang="en-US" sz="900" dirty="0"/>
          </a:p>
        </p:txBody>
      </p:sp>
      <p:sp>
        <p:nvSpPr>
          <p:cNvPr id="15" name="Text 13"/>
          <p:cNvSpPr txBox="1"/>
          <p:nvPr/>
        </p:nvSpPr>
        <p:spPr>
          <a:xfrm>
            <a:off x="6903720" y="1993392"/>
            <a:ext cx="4599432" cy="585216"/>
          </a:xfrm>
          <a:prstGeom prst="rect">
            <a:avLst/>
          </a:prstGeom>
          <a:noFill/>
          <a:ln/>
        </p:spPr>
        <p:txBody>
          <a:bodyPr wrap="square" lIns="0" tIns="0" rIns="0" bIns="0" rtlCol="0" anchor="t"/>
          <a:lstStyle/>
          <a:p>
            <a:pPr indent="0" marL="0">
              <a:buNone/>
            </a:pPr>
            <a:r>
              <a:rPr lang="en-US" sz="1050" dirty="0">
                <a:solidFill>
                  <a:srgbClr val="F3F6FB"/>
                </a:solidFill>
                <a:latin typeface="Malgun Gothic" pitchFamily="34" charset="0"/>
                <a:ea typeface="Malgun Gothic" pitchFamily="34" charset="-122"/>
                <a:cs typeface="Malgun Gothic" pitchFamily="34" charset="-120"/>
              </a:rPr>
              <a:t>하루 4시간 이상 집중적으로 키보드·마우스를 조작하는 작업을 근골격계부담작업으로 지정(사업주 유해요인조사 의무) — 기록 검토가 직접 대상은 아니며, 장시간 고정 사무작업을 부담 요인으로 보는 취지의 예시  (고용노동부 「근골격계부담작업의 범위 및 유해요인조사 방법에 관한 고시」 · high)</a:t>
            </a:r>
            <a:endParaRPr lang="en-US" sz="1050" dirty="0"/>
          </a:p>
        </p:txBody>
      </p:sp>
      <p:sp>
        <p:nvSpPr>
          <p:cNvPr id="16" name="Shape 14"/>
          <p:cNvSpPr/>
          <p:nvPr/>
        </p:nvSpPr>
        <p:spPr>
          <a:xfrm>
            <a:off x="5943600" y="2743200"/>
            <a:ext cx="5696712" cy="713232"/>
          </a:xfrm>
          <a:prstGeom prst="roundRect">
            <a:avLst>
              <a:gd name="adj" fmla="val 12821"/>
            </a:avLst>
          </a:prstGeom>
          <a:solidFill>
            <a:srgbClr val="132446"/>
          </a:solidFill>
          <a:ln w="12700">
            <a:solidFill>
              <a:srgbClr val="132446"/>
            </a:solidFill>
            <a:prstDash val="solid"/>
          </a:ln>
        </p:spPr>
      </p:sp>
      <p:sp>
        <p:nvSpPr>
          <p:cNvPr id="17" name="Text 15"/>
          <p:cNvSpPr txBox="1"/>
          <p:nvPr/>
        </p:nvSpPr>
        <p:spPr>
          <a:xfrm>
            <a:off x="6080760" y="2852928"/>
            <a:ext cx="822960" cy="256032"/>
          </a:xfrm>
          <a:prstGeom prst="rect">
            <a:avLst/>
          </a:prstGeom>
          <a:noFill/>
          <a:ln/>
        </p:spPr>
        <p:txBody>
          <a:bodyPr wrap="square" lIns="0" tIns="0" rIns="0" bIns="0" rtlCol="0" anchor="ctr"/>
          <a:lstStyle/>
          <a:p>
            <a:pPr indent="0" marL="0">
              <a:buNone/>
            </a:pPr>
            <a:r>
              <a:rPr lang="en-US" sz="900" b="1" dirty="0">
                <a:solidFill>
                  <a:srgbClr val="5FD3C8"/>
                </a:solidFill>
                <a:latin typeface="Malgun Gothic" pitchFamily="34" charset="0"/>
                <a:ea typeface="Malgun Gothic" pitchFamily="34" charset="-122"/>
                <a:cs typeface="Malgun Gothic" pitchFamily="34" charset="-120"/>
              </a:rPr>
              <a:t>문헌</a:t>
            </a:r>
            <a:endParaRPr lang="en-US" sz="900" dirty="0"/>
          </a:p>
        </p:txBody>
      </p:sp>
      <p:sp>
        <p:nvSpPr>
          <p:cNvPr id="18" name="Text 16"/>
          <p:cNvSpPr txBox="1"/>
          <p:nvPr/>
        </p:nvSpPr>
        <p:spPr>
          <a:xfrm>
            <a:off x="6903720" y="2816352"/>
            <a:ext cx="4599432" cy="585216"/>
          </a:xfrm>
          <a:prstGeom prst="rect">
            <a:avLst/>
          </a:prstGeom>
          <a:noFill/>
          <a:ln/>
        </p:spPr>
        <p:txBody>
          <a:bodyPr wrap="square" lIns="0" tIns="0" rIns="0" bIns="0" rtlCol="0" anchor="t"/>
          <a:lstStyle/>
          <a:p>
            <a:pPr indent="0" marL="0">
              <a:buNone/>
            </a:pPr>
            <a:r>
              <a:rPr lang="en-US" sz="1050" dirty="0">
                <a:solidFill>
                  <a:srgbClr val="F3F6FB"/>
                </a:solidFill>
                <a:latin typeface="Malgun Gothic" pitchFamily="34" charset="0"/>
                <a:ea typeface="Malgun Gothic" pitchFamily="34" charset="-122"/>
                <a:cs typeface="Malgun Gothic" pitchFamily="34" charset="-120"/>
              </a:rPr>
              <a:t>성인에게 좌식 시간을 줄이고 어떤 강도의 활동으로든 대체할 것을 권고  (WHO 신체활동 및 좌식행동 가이드라인 (2020) · high)</a:t>
            </a:r>
            <a:endParaRPr lang="en-US" sz="1050" dirty="0"/>
          </a:p>
        </p:txBody>
      </p:sp>
      <p:sp>
        <p:nvSpPr>
          <p:cNvPr id="19" name="Shape 17"/>
          <p:cNvSpPr/>
          <p:nvPr/>
        </p:nvSpPr>
        <p:spPr>
          <a:xfrm>
            <a:off x="5943600" y="3566160"/>
            <a:ext cx="5696712" cy="713232"/>
          </a:xfrm>
          <a:prstGeom prst="roundRect">
            <a:avLst>
              <a:gd name="adj" fmla="val 12821"/>
            </a:avLst>
          </a:prstGeom>
          <a:solidFill>
            <a:srgbClr val="132446"/>
          </a:solidFill>
          <a:ln w="12700">
            <a:solidFill>
              <a:srgbClr val="132446"/>
            </a:solidFill>
            <a:prstDash val="solid"/>
          </a:ln>
        </p:spPr>
      </p:sp>
      <p:sp>
        <p:nvSpPr>
          <p:cNvPr id="20" name="Text 18"/>
          <p:cNvSpPr txBox="1"/>
          <p:nvPr/>
        </p:nvSpPr>
        <p:spPr>
          <a:xfrm>
            <a:off x="6080760" y="3675888"/>
            <a:ext cx="822960" cy="256032"/>
          </a:xfrm>
          <a:prstGeom prst="rect">
            <a:avLst/>
          </a:prstGeom>
          <a:noFill/>
          <a:ln/>
        </p:spPr>
        <p:txBody>
          <a:bodyPr wrap="square" lIns="0" tIns="0" rIns="0" bIns="0" rtlCol="0" anchor="ctr"/>
          <a:lstStyle/>
          <a:p>
            <a:pPr indent="0" marL="0">
              <a:buNone/>
            </a:pPr>
            <a:r>
              <a:rPr lang="en-US" sz="900" b="1" dirty="0">
                <a:solidFill>
                  <a:srgbClr val="5FD3C8"/>
                </a:solidFill>
                <a:latin typeface="Malgun Gothic" pitchFamily="34" charset="0"/>
                <a:ea typeface="Malgun Gothic" pitchFamily="34" charset="-122"/>
                <a:cs typeface="Malgun Gothic" pitchFamily="34" charset="-120"/>
              </a:rPr>
              <a:t>문헌</a:t>
            </a:r>
            <a:endParaRPr lang="en-US" sz="900" dirty="0"/>
          </a:p>
        </p:txBody>
      </p:sp>
      <p:sp>
        <p:nvSpPr>
          <p:cNvPr id="21" name="Text 19"/>
          <p:cNvSpPr txBox="1"/>
          <p:nvPr/>
        </p:nvSpPr>
        <p:spPr>
          <a:xfrm>
            <a:off x="6903720" y="3639312"/>
            <a:ext cx="4599432" cy="585216"/>
          </a:xfrm>
          <a:prstGeom prst="rect">
            <a:avLst/>
          </a:prstGeom>
          <a:noFill/>
          <a:ln/>
        </p:spPr>
        <p:txBody>
          <a:bodyPr wrap="square" lIns="0" tIns="0" rIns="0" bIns="0" rtlCol="0" anchor="t"/>
          <a:lstStyle/>
          <a:p>
            <a:pPr indent="0" marL="0">
              <a:buNone/>
            </a:pPr>
            <a:r>
              <a:rPr lang="en-US" sz="1050" dirty="0">
                <a:solidFill>
                  <a:srgbClr val="F3F6FB"/>
                </a:solidFill>
                <a:latin typeface="Malgun Gothic" pitchFamily="34" charset="0"/>
                <a:ea typeface="Malgun Gothic" pitchFamily="34" charset="-122"/>
                <a:cs typeface="Malgun Gothic" pitchFamily="34" charset="-120"/>
              </a:rPr>
              <a:t>자세 유지 근육이 낮은 강도로 장시간 수축하면 혈류가 줄고 피로·뻐근함이 누적된다 — 근생리학 일반 원칙, 구체 수치는 인용하지 않음  (일반 원칙(정적 부하) · medium)</a:t>
            </a:r>
            <a:endParaRPr lang="en-US" sz="1050" dirty="0"/>
          </a:p>
        </p:txBody>
      </p:sp>
      <p:sp>
        <p:nvSpPr>
          <p:cNvPr id="22" name="Shape 20"/>
          <p:cNvSpPr/>
          <p:nvPr/>
        </p:nvSpPr>
        <p:spPr>
          <a:xfrm>
            <a:off x="548640" y="5440680"/>
            <a:ext cx="11091672" cy="685800"/>
          </a:xfrm>
          <a:prstGeom prst="roundRect">
            <a:avLst>
              <a:gd name="adj" fmla="val 16000"/>
            </a:avLst>
          </a:prstGeom>
          <a:solidFill>
            <a:srgbClr val="0E3B2C"/>
          </a:solidFill>
          <a:ln w="12700">
            <a:solidFill>
              <a:srgbClr val="0E3B2C"/>
            </a:solidFill>
            <a:prstDash val="solid"/>
          </a:ln>
        </p:spPr>
      </p:sp>
      <p:sp>
        <p:nvSpPr>
          <p:cNvPr id="23" name="Text 21"/>
          <p:cNvSpPr txBox="1"/>
          <p:nvPr/>
        </p:nvSpPr>
        <p:spPr>
          <a:xfrm>
            <a:off x="731520" y="5486400"/>
            <a:ext cx="10725912" cy="594360"/>
          </a:xfrm>
          <a:prstGeom prst="rect">
            <a:avLst/>
          </a:prstGeom>
          <a:noFill/>
          <a:ln/>
        </p:spPr>
        <p:txBody>
          <a:bodyPr wrap="square" lIns="0" tIns="0" rIns="0" bIns="0" rtlCol="0" anchor="ctr"/>
          <a:lstStyle/>
          <a:p>
            <a:pPr indent="0" marL="0">
              <a:buNone/>
            </a:pPr>
            <a:r>
              <a:rPr lang="en-US" sz="1000" b="1" dirty="0">
                <a:solidFill>
                  <a:srgbClr val="3DD68C"/>
                </a:solidFill>
                <a:latin typeface="Malgun Gothic" pitchFamily="34" charset="0"/>
                <a:ea typeface="Malgun Gothic" pitchFamily="34" charset="-122"/>
                <a:cs typeface="Malgun Gothic" pitchFamily="34" charset="-120"/>
              </a:rPr>
              <a:t>판단  </a:t>
            </a:r>
            <a:pPr indent="0" marL="0">
              <a:buNone/>
            </a:pPr>
            <a:r>
              <a:rPr lang="en-US" sz="1300" b="1" dirty="0">
                <a:solidFill>
                  <a:srgbClr val="F3F6FB"/>
                </a:solidFill>
                <a:latin typeface="Malgun Gothic" pitchFamily="34" charset="0"/>
                <a:ea typeface="Malgun Gothic" pitchFamily="34" charset="-122"/>
                <a:cs typeface="Malgun Gothic" pitchFamily="34" charset="-120"/>
              </a:rPr>
              <a:t>오래 일해서라기보다 오래 '같은 자세로' 일해서일 가능성이 큽니다 — 오늘 그 가설을 확인합니다. 해법은 쉬는 시간이 아니라 자세를 바꾸는 능력입니다.</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쟁점 2 · 가설과 60초 실험</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5</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2600" b="1" dirty="0">
                <a:solidFill>
                  <a:srgbClr val="F3F6FB"/>
                </a:solidFill>
                <a:latin typeface="Malgun Gothic" pitchFamily="34" charset="0"/>
                <a:ea typeface="Malgun Gothic" pitchFamily="34" charset="-122"/>
                <a:cs typeface="Malgun Gothic" pitchFamily="34" charset="-120"/>
              </a:rPr>
              <a:t>2. 쟁점 2 — 좋은 의자와 바른 자세만으로 해결되지 않는 이유</a:t>
            </a:r>
            <a:endParaRPr lang="en-US" sz="2600" dirty="0"/>
          </a:p>
        </p:txBody>
      </p:sp>
      <p:sp>
        <p:nvSpPr>
          <p:cNvPr id="6" name="Shape 4"/>
          <p:cNvSpPr/>
          <p:nvPr/>
        </p:nvSpPr>
        <p:spPr>
          <a:xfrm>
            <a:off x="548640" y="1920240"/>
            <a:ext cx="5120640" cy="1554480"/>
          </a:xfrm>
          <a:prstGeom prst="roundRect">
            <a:avLst>
              <a:gd name="adj" fmla="val 8824"/>
            </a:avLst>
          </a:prstGeom>
          <a:solidFill>
            <a:srgbClr val="3A2A0F"/>
          </a:solidFill>
          <a:ln w="12700">
            <a:solidFill>
              <a:srgbClr val="3A2A0F"/>
            </a:solidFill>
            <a:prstDash val="solid"/>
          </a:ln>
        </p:spPr>
      </p:sp>
      <p:sp>
        <p:nvSpPr>
          <p:cNvPr id="7" name="Text 5"/>
          <p:cNvSpPr txBox="1"/>
          <p:nvPr/>
        </p:nvSpPr>
        <p:spPr>
          <a:xfrm>
            <a:off x="731520" y="2057400"/>
            <a:ext cx="4754880" cy="274320"/>
          </a:xfrm>
          <a:prstGeom prst="rect">
            <a:avLst/>
          </a:prstGeom>
          <a:noFill/>
          <a:ln/>
        </p:spPr>
        <p:txBody>
          <a:bodyPr wrap="square" lIns="0" tIns="0" rIns="0" bIns="0" rtlCol="0" anchor="ctr"/>
          <a:lstStyle/>
          <a:p>
            <a:pPr indent="0" marL="0">
              <a:buNone/>
            </a:pPr>
            <a:r>
              <a:rPr lang="en-US" sz="1000" b="1" dirty="0">
                <a:solidFill>
                  <a:srgbClr val="FFD27A"/>
                </a:solidFill>
                <a:latin typeface="Malgun Gothic" pitchFamily="34" charset="0"/>
                <a:ea typeface="Malgun Gothic" pitchFamily="34" charset="-122"/>
                <a:cs typeface="Malgun Gothic" pitchFamily="34" charset="-120"/>
              </a:rPr>
              <a:t>주장 · 가설</a:t>
            </a:r>
            <a:endParaRPr lang="en-US" sz="1000" dirty="0"/>
          </a:p>
        </p:txBody>
      </p:sp>
      <p:sp>
        <p:nvSpPr>
          <p:cNvPr id="8" name="Text 6"/>
          <p:cNvSpPr txBox="1"/>
          <p:nvPr/>
        </p:nvSpPr>
        <p:spPr>
          <a:xfrm>
            <a:off x="731520" y="2331720"/>
            <a:ext cx="4754880" cy="640080"/>
          </a:xfrm>
          <a:prstGeom prst="rect">
            <a:avLst/>
          </a:prstGeom>
          <a:noFill/>
          <a:ln/>
        </p:spPr>
        <p:txBody>
          <a:bodyPr wrap="square" lIns="0" tIns="0" rIns="0" bIns="0" rtlCol="0" anchor="t"/>
          <a:lstStyle/>
          <a:p>
            <a:pPr indent="0" marL="0">
              <a:buNone/>
            </a:pPr>
            <a:r>
              <a:rPr lang="en-US" sz="1400" b="1" dirty="0">
                <a:solidFill>
                  <a:srgbClr val="F3F6FB"/>
                </a:solidFill>
                <a:latin typeface="Malgun Gothic" pitchFamily="34" charset="0"/>
                <a:ea typeface="Malgun Gothic" pitchFamily="34" charset="-122"/>
                <a:cs typeface="Malgun Gothic" pitchFamily="34" charset="-120"/>
              </a:rPr>
              <a:t>좋은 의자는 좋은 변호사입니다 — 부담을 잘 나눠 주지만 대신 걸어 주지는 않습니다. 어떤 좋은 자세도 오래 고정되면 다시 정적 부하가 되고, 굳은 엉덩이·등으로는 바른 자세를 만들기 어렵다는 것이 오늘의 가설입니다. 가장 좋은 자세는 '다음 자세'입니다.</a:t>
            </a:r>
            <a:endParaRPr lang="en-US" sz="1400" dirty="0"/>
          </a:p>
        </p:txBody>
      </p:sp>
      <p:sp>
        <p:nvSpPr>
          <p:cNvPr id="9" name="Text 7"/>
          <p:cNvSpPr txBox="1"/>
          <p:nvPr/>
        </p:nvSpPr>
        <p:spPr>
          <a:xfrm>
            <a:off x="731520" y="2971800"/>
            <a:ext cx="4754880" cy="457200"/>
          </a:xfrm>
          <a:prstGeom prst="rect">
            <a:avLst/>
          </a:prstGeom>
          <a:noFill/>
          <a:ln/>
        </p:spPr>
        <p:txBody>
          <a:bodyPr wrap="square" lIns="0" tIns="0" rIns="0" bIns="0" rtlCol="0" anchor="t"/>
          <a:lstStyle/>
          <a:p>
            <a:pPr indent="0" marL="0">
              <a:buNone/>
            </a:pPr>
            <a:r>
              <a:rPr lang="en-US" sz="1050" dirty="0">
                <a:solidFill>
                  <a:srgbClr val="C5D0E2"/>
                </a:solidFill>
                <a:latin typeface="Malgun Gothic" pitchFamily="34" charset="0"/>
                <a:ea typeface="Malgun Gothic" pitchFamily="34" charset="-122"/>
                <a:cs typeface="Malgun Gothic" pitchFamily="34" charset="-120"/>
              </a:rPr>
              <a:t>반대 가설: "비싼 의자를 사면 되지 않나?" — 의자는 도움이 됩니다. 다만 의자는 '하중 배분'을 바꾸고, 오늘 실험은 '근육 상태'를 바꿉니다. 같은 의자에서 느낌이 달라지면 의자가 결정 변수가 아니었다는 뜻입니다.</a:t>
            </a:r>
            <a:endParaRPr lang="en-US" sz="1050" dirty="0"/>
          </a:p>
        </p:txBody>
      </p:sp>
      <p:sp>
        <p:nvSpPr>
          <p:cNvPr id="10" name="Shape 8"/>
          <p:cNvSpPr/>
          <p:nvPr/>
        </p:nvSpPr>
        <p:spPr>
          <a:xfrm>
            <a:off x="548640" y="3657600"/>
            <a:ext cx="5120640" cy="1097280"/>
          </a:xfrm>
          <a:prstGeom prst="roundRect">
            <a:avLst>
              <a:gd name="adj" fmla="val 12500"/>
            </a:avLst>
          </a:prstGeom>
          <a:solidFill>
            <a:srgbClr val="0F2E3F"/>
          </a:solidFill>
          <a:ln w="12700">
            <a:solidFill>
              <a:srgbClr val="0F2E3F"/>
            </a:solidFill>
            <a:prstDash val="solid"/>
          </a:ln>
        </p:spPr>
      </p:sp>
      <p:sp>
        <p:nvSpPr>
          <p:cNvPr id="11" name="Text 9"/>
          <p:cNvSpPr txBox="1"/>
          <p:nvPr/>
        </p:nvSpPr>
        <p:spPr>
          <a:xfrm>
            <a:off x="731520" y="3776472"/>
            <a:ext cx="4754880" cy="274320"/>
          </a:xfrm>
          <a:prstGeom prst="rect">
            <a:avLst/>
          </a:prstGeom>
          <a:noFill/>
          <a:ln/>
        </p:spPr>
        <p:txBody>
          <a:bodyPr wrap="square" lIns="0" tIns="0" rIns="0" bIns="0" rtlCol="0" anchor="ctr"/>
          <a:lstStyle/>
          <a:p>
            <a:pPr indent="0" marL="0">
              <a:buNone/>
            </a:pPr>
            <a:r>
              <a:rPr lang="en-US" sz="1000" b="1" dirty="0">
                <a:solidFill>
                  <a:srgbClr val="5FD3C8"/>
                </a:solidFill>
                <a:latin typeface="Malgun Gothic" pitchFamily="34" charset="0"/>
                <a:ea typeface="Malgun Gothic" pitchFamily="34" charset="-122"/>
                <a:cs typeface="Malgun Gothic" pitchFamily="34" charset="-120"/>
              </a:rPr>
              <a:t>오늘 현장 확인</a:t>
            </a:r>
            <a:endParaRPr lang="en-US" sz="1000" dirty="0"/>
          </a:p>
        </p:txBody>
      </p:sp>
      <p:sp>
        <p:nvSpPr>
          <p:cNvPr id="12" name="Text 10"/>
          <p:cNvSpPr txBox="1"/>
          <p:nvPr/>
        </p:nvSpPr>
        <p:spPr>
          <a:xfrm>
            <a:off x="731520" y="4050792"/>
            <a:ext cx="4754880" cy="658368"/>
          </a:xfrm>
          <a:prstGeom prst="rect">
            <a:avLst/>
          </a:prstGeom>
          <a:noFill/>
          <a:ln/>
        </p:spPr>
        <p:txBody>
          <a:bodyPr wrap="square" lIns="0" tIns="0" rIns="0" bIns="0" rtlCol="0" anchor="t"/>
          <a:lstStyle/>
          <a:p>
            <a:pPr indent="0" marL="0">
              <a:buNone/>
            </a:pPr>
            <a:r>
              <a:rPr lang="en-US" sz="1150" dirty="0">
                <a:solidFill>
                  <a:srgbClr val="F3F6FB"/>
                </a:solidFill>
                <a:latin typeface="Malgun Gothic" pitchFamily="34" charset="0"/>
                <a:ea typeface="Malgun Gothic" pitchFamily="34" charset="-122"/>
                <a:cs typeface="Malgun Gothic" pitchFamily="34" charset="-120"/>
              </a:rPr>
              <a:t>방금 60초 — 어디가 먼저 뻐근했습니까? 그것이 오늘 첫 진술입니다. 허리 사건에서 같은 의자에 앉은 채 한쪽 엉덩이만 풉니다. 의자는 그대로인데 다리 들기·3걸음이 좌우로 다르면 의자가 변수가 아니었다는 증거입니다.</a:t>
            </a:r>
            <a:endParaRPr lang="en-US" sz="1150" dirty="0"/>
          </a:p>
        </p:txBody>
      </p:sp>
      <p:sp>
        <p:nvSpPr>
          <p:cNvPr id="13" name="Shape 11"/>
          <p:cNvSpPr/>
          <p:nvPr/>
        </p:nvSpPr>
        <p:spPr>
          <a:xfrm>
            <a:off x="5943600" y="1920240"/>
            <a:ext cx="5696712" cy="713232"/>
          </a:xfrm>
          <a:prstGeom prst="roundRect">
            <a:avLst>
              <a:gd name="adj" fmla="val 12821"/>
            </a:avLst>
          </a:prstGeom>
          <a:solidFill>
            <a:srgbClr val="132446"/>
          </a:solidFill>
          <a:ln w="12700">
            <a:solidFill>
              <a:srgbClr val="132446"/>
            </a:solidFill>
            <a:prstDash val="solid"/>
          </a:ln>
        </p:spPr>
      </p:sp>
      <p:sp>
        <p:nvSpPr>
          <p:cNvPr id="14" name="Text 12"/>
          <p:cNvSpPr txBox="1"/>
          <p:nvPr/>
        </p:nvSpPr>
        <p:spPr>
          <a:xfrm>
            <a:off x="6080760" y="2029968"/>
            <a:ext cx="822960" cy="256032"/>
          </a:xfrm>
          <a:prstGeom prst="rect">
            <a:avLst/>
          </a:prstGeom>
          <a:noFill/>
          <a:ln/>
        </p:spPr>
        <p:txBody>
          <a:bodyPr wrap="square" lIns="0" tIns="0" rIns="0" bIns="0" rtlCol="0" anchor="ctr"/>
          <a:lstStyle/>
          <a:p>
            <a:pPr indent="0" marL="0">
              <a:buNone/>
            </a:pPr>
            <a:r>
              <a:rPr lang="en-US" sz="900" b="1" dirty="0">
                <a:solidFill>
                  <a:srgbClr val="5FD3C8"/>
                </a:solidFill>
                <a:latin typeface="Malgun Gothic" pitchFamily="34" charset="0"/>
                <a:ea typeface="Malgun Gothic" pitchFamily="34" charset="-122"/>
                <a:cs typeface="Malgun Gothic" pitchFamily="34" charset="-120"/>
              </a:rPr>
              <a:t>실험</a:t>
            </a:r>
            <a:endParaRPr lang="en-US" sz="900" dirty="0"/>
          </a:p>
        </p:txBody>
      </p:sp>
      <p:sp>
        <p:nvSpPr>
          <p:cNvPr id="15" name="Text 13"/>
          <p:cNvSpPr txBox="1"/>
          <p:nvPr/>
        </p:nvSpPr>
        <p:spPr>
          <a:xfrm>
            <a:off x="6903720" y="1993392"/>
            <a:ext cx="4599432" cy="585216"/>
          </a:xfrm>
          <a:prstGeom prst="rect">
            <a:avLst/>
          </a:prstGeom>
          <a:noFill/>
          <a:ln/>
        </p:spPr>
        <p:txBody>
          <a:bodyPr wrap="square" lIns="0" tIns="0" rIns="0" bIns="0" rtlCol="0" anchor="t"/>
          <a:lstStyle/>
          <a:p>
            <a:pPr indent="0" marL="0">
              <a:buNone/>
            </a:pPr>
            <a:r>
              <a:rPr lang="en-US" sz="1050" dirty="0">
                <a:solidFill>
                  <a:srgbClr val="F3F6FB"/>
                </a:solidFill>
                <a:latin typeface="Malgun Gothic" pitchFamily="34" charset="0"/>
                <a:ea typeface="Malgun Gothic" pitchFamily="34" charset="-122"/>
                <a:cs typeface="Malgun Gothic" pitchFamily="34" charset="-120"/>
              </a:rPr>
              <a:t>지금 60초 — 가장 바르다고 생각하는 자세를 유지한 뒤 어디가 먼저 뻐근한지 기억. 같은 의자에서 실습 후 점수가 달라지면 의자가 아니라 근육이 변수  (현장 실험(자기 관찰) · medium)</a:t>
            </a:r>
            <a:endParaRPr lang="en-US" sz="1050" dirty="0"/>
          </a:p>
        </p:txBody>
      </p:sp>
      <p:sp>
        <p:nvSpPr>
          <p:cNvPr id="16" name="Shape 14"/>
          <p:cNvSpPr/>
          <p:nvPr/>
        </p:nvSpPr>
        <p:spPr>
          <a:xfrm>
            <a:off x="5943600" y="2743200"/>
            <a:ext cx="5696712" cy="713232"/>
          </a:xfrm>
          <a:prstGeom prst="roundRect">
            <a:avLst>
              <a:gd name="adj" fmla="val 12821"/>
            </a:avLst>
          </a:prstGeom>
          <a:solidFill>
            <a:srgbClr val="132446"/>
          </a:solidFill>
          <a:ln w="12700">
            <a:solidFill>
              <a:srgbClr val="132446"/>
            </a:solidFill>
            <a:prstDash val="solid"/>
          </a:ln>
        </p:spPr>
      </p:sp>
      <p:sp>
        <p:nvSpPr>
          <p:cNvPr id="17" name="Text 15"/>
          <p:cNvSpPr txBox="1"/>
          <p:nvPr/>
        </p:nvSpPr>
        <p:spPr>
          <a:xfrm>
            <a:off x="6080760" y="2852928"/>
            <a:ext cx="822960" cy="256032"/>
          </a:xfrm>
          <a:prstGeom prst="rect">
            <a:avLst/>
          </a:prstGeom>
          <a:noFill/>
          <a:ln/>
        </p:spPr>
        <p:txBody>
          <a:bodyPr wrap="square" lIns="0" tIns="0" rIns="0" bIns="0" rtlCol="0" anchor="ctr"/>
          <a:lstStyle/>
          <a:p>
            <a:pPr indent="0" marL="0">
              <a:buNone/>
            </a:pPr>
            <a:r>
              <a:rPr lang="en-US" sz="900" b="1" dirty="0">
                <a:solidFill>
                  <a:srgbClr val="5FD3C8"/>
                </a:solidFill>
                <a:latin typeface="Malgun Gothic" pitchFamily="34" charset="0"/>
                <a:ea typeface="Malgun Gothic" pitchFamily="34" charset="-122"/>
                <a:cs typeface="Malgun Gothic" pitchFamily="34" charset="-120"/>
              </a:rPr>
              <a:t>문헌</a:t>
            </a:r>
            <a:endParaRPr lang="en-US" sz="900" dirty="0"/>
          </a:p>
        </p:txBody>
      </p:sp>
      <p:sp>
        <p:nvSpPr>
          <p:cNvPr id="18" name="Text 16"/>
          <p:cNvSpPr txBox="1"/>
          <p:nvPr/>
        </p:nvSpPr>
        <p:spPr>
          <a:xfrm>
            <a:off x="6903720" y="2816352"/>
            <a:ext cx="4599432" cy="585216"/>
          </a:xfrm>
          <a:prstGeom prst="rect">
            <a:avLst/>
          </a:prstGeom>
          <a:noFill/>
          <a:ln/>
        </p:spPr>
        <p:txBody>
          <a:bodyPr wrap="square" lIns="0" tIns="0" rIns="0" bIns="0" rtlCol="0" anchor="t"/>
          <a:lstStyle/>
          <a:p>
            <a:pPr indent="0" marL="0">
              <a:buNone/>
            </a:pPr>
            <a:r>
              <a:rPr lang="en-US" sz="1050" dirty="0">
                <a:solidFill>
                  <a:srgbClr val="F3F6FB"/>
                </a:solidFill>
                <a:latin typeface="Malgun Gothic" pitchFamily="34" charset="0"/>
                <a:ea typeface="Malgun Gothic" pitchFamily="34" charset="-122"/>
                <a:cs typeface="Malgun Gothic" pitchFamily="34" charset="-120"/>
              </a:rPr>
              <a:t>요통에 일상 활동 지속과 운동을 권고 — 고정이 아니라 움직임이 표준(요통 지침, 다른 부위는 유추)  (NICE NG59 (2016) · high)</a:t>
            </a:r>
            <a:endParaRPr lang="en-US" sz="1050" dirty="0"/>
          </a:p>
        </p:txBody>
      </p:sp>
      <p:sp>
        <p:nvSpPr>
          <p:cNvPr id="19" name="Shape 17"/>
          <p:cNvSpPr/>
          <p:nvPr/>
        </p:nvSpPr>
        <p:spPr>
          <a:xfrm>
            <a:off x="5943600" y="3566160"/>
            <a:ext cx="5696712" cy="713232"/>
          </a:xfrm>
          <a:prstGeom prst="roundRect">
            <a:avLst>
              <a:gd name="adj" fmla="val 12821"/>
            </a:avLst>
          </a:prstGeom>
          <a:solidFill>
            <a:srgbClr val="132446"/>
          </a:solidFill>
          <a:ln w="12700">
            <a:solidFill>
              <a:srgbClr val="132446"/>
            </a:solidFill>
            <a:prstDash val="solid"/>
          </a:ln>
        </p:spPr>
      </p:sp>
      <p:sp>
        <p:nvSpPr>
          <p:cNvPr id="20" name="Text 18"/>
          <p:cNvSpPr txBox="1"/>
          <p:nvPr/>
        </p:nvSpPr>
        <p:spPr>
          <a:xfrm>
            <a:off x="6080760" y="3675888"/>
            <a:ext cx="822960" cy="256032"/>
          </a:xfrm>
          <a:prstGeom prst="rect">
            <a:avLst/>
          </a:prstGeom>
          <a:noFill/>
          <a:ln/>
        </p:spPr>
        <p:txBody>
          <a:bodyPr wrap="square" lIns="0" tIns="0" rIns="0" bIns="0" rtlCol="0" anchor="ctr"/>
          <a:lstStyle/>
          <a:p>
            <a:pPr indent="0" marL="0">
              <a:buNone/>
            </a:pPr>
            <a:r>
              <a:rPr lang="en-US" sz="900" b="1" dirty="0">
                <a:solidFill>
                  <a:srgbClr val="5FD3C8"/>
                </a:solidFill>
                <a:latin typeface="Malgun Gothic" pitchFamily="34" charset="0"/>
                <a:ea typeface="Malgun Gothic" pitchFamily="34" charset="-122"/>
                <a:cs typeface="Malgun Gothic" pitchFamily="34" charset="-120"/>
              </a:rPr>
              <a:t>문헌</a:t>
            </a:r>
            <a:endParaRPr lang="en-US" sz="900" dirty="0"/>
          </a:p>
        </p:txBody>
      </p:sp>
      <p:sp>
        <p:nvSpPr>
          <p:cNvPr id="21" name="Text 19"/>
          <p:cNvSpPr txBox="1"/>
          <p:nvPr/>
        </p:nvSpPr>
        <p:spPr>
          <a:xfrm>
            <a:off x="6903720" y="3639312"/>
            <a:ext cx="4599432" cy="585216"/>
          </a:xfrm>
          <a:prstGeom prst="rect">
            <a:avLst/>
          </a:prstGeom>
          <a:noFill/>
          <a:ln/>
        </p:spPr>
        <p:txBody>
          <a:bodyPr wrap="square" lIns="0" tIns="0" rIns="0" bIns="0" rtlCol="0" anchor="t"/>
          <a:lstStyle/>
          <a:p>
            <a:pPr indent="0" marL="0">
              <a:buNone/>
            </a:pPr>
            <a:r>
              <a:rPr lang="en-US" sz="1050" dirty="0">
                <a:solidFill>
                  <a:srgbClr val="F3F6FB"/>
                </a:solidFill>
                <a:latin typeface="Malgun Gothic" pitchFamily="34" charset="0"/>
                <a:ea typeface="Malgun Gothic" pitchFamily="34" charset="-122"/>
                <a:cs typeface="Malgun Gothic" pitchFamily="34" charset="-120"/>
              </a:rPr>
              <a:t>모든 사람에게 맞는 단일한 '이상적 자세'의 근거는 약하며 자세를 자주 바꾸는 것이 더 중요하다는 견해가 전문 문헌에서 제시됨  (일반 원칙(자세와 통증, 예: Slater 외 JOSPT 2019 논평) · medium)</a:t>
            </a:r>
            <a:endParaRPr lang="en-US" sz="1050" dirty="0"/>
          </a:p>
        </p:txBody>
      </p:sp>
      <p:sp>
        <p:nvSpPr>
          <p:cNvPr id="22" name="Shape 20"/>
          <p:cNvSpPr/>
          <p:nvPr/>
        </p:nvSpPr>
        <p:spPr>
          <a:xfrm>
            <a:off x="548640" y="5440680"/>
            <a:ext cx="11091672" cy="685800"/>
          </a:xfrm>
          <a:prstGeom prst="roundRect">
            <a:avLst>
              <a:gd name="adj" fmla="val 16000"/>
            </a:avLst>
          </a:prstGeom>
          <a:solidFill>
            <a:srgbClr val="0E3B2C"/>
          </a:solidFill>
          <a:ln w="12700">
            <a:solidFill>
              <a:srgbClr val="0E3B2C"/>
            </a:solidFill>
            <a:prstDash val="solid"/>
          </a:ln>
        </p:spPr>
      </p:sp>
      <p:sp>
        <p:nvSpPr>
          <p:cNvPr id="23" name="Text 21"/>
          <p:cNvSpPr txBox="1"/>
          <p:nvPr/>
        </p:nvSpPr>
        <p:spPr>
          <a:xfrm>
            <a:off x="731520" y="5486400"/>
            <a:ext cx="10725912" cy="594360"/>
          </a:xfrm>
          <a:prstGeom prst="rect">
            <a:avLst/>
          </a:prstGeom>
          <a:noFill/>
          <a:ln/>
        </p:spPr>
        <p:txBody>
          <a:bodyPr wrap="square" lIns="0" tIns="0" rIns="0" bIns="0" rtlCol="0" anchor="ctr"/>
          <a:lstStyle/>
          <a:p>
            <a:pPr indent="0" marL="0">
              <a:buNone/>
            </a:pPr>
            <a:r>
              <a:rPr lang="en-US" sz="1000" b="1" dirty="0">
                <a:solidFill>
                  <a:srgbClr val="3DD68C"/>
                </a:solidFill>
                <a:latin typeface="Malgun Gothic" pitchFamily="34" charset="0"/>
                <a:ea typeface="Malgun Gothic" pitchFamily="34" charset="-122"/>
                <a:cs typeface="Malgun Gothic" pitchFamily="34" charset="-120"/>
              </a:rPr>
              <a:t>판단  </a:t>
            </a:r>
            <a:pPr indent="0" marL="0">
              <a:buNone/>
            </a:pPr>
            <a:r>
              <a:rPr lang="en-US" sz="1300" b="1" dirty="0">
                <a:solidFill>
                  <a:srgbClr val="F3F6FB"/>
                </a:solidFill>
                <a:latin typeface="Malgun Gothic" pitchFamily="34" charset="0"/>
                <a:ea typeface="Malgun Gothic" pitchFamily="34" charset="-122"/>
                <a:cs typeface="Malgun Gothic" pitchFamily="34" charset="-120"/>
              </a:rPr>
              <a:t>의자와 자세는 필요조건이지 충분조건이 아니다. 바른 자세는 지키는 것이 아니라 바꾸는 것이다.</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심리 절차 · 부위마다 8분</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6</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심리 개시 — 다섯 사건, 같은 절차</a:t>
            </a:r>
            <a:endParaRPr lang="en-US" sz="3000" dirty="0"/>
          </a:p>
        </p:txBody>
      </p:sp>
      <p:sp>
        <p:nvSpPr>
          <p:cNvPr id="6" name="Text 4"/>
          <p:cNvSpPr txBox="1"/>
          <p:nvPr/>
        </p:nvSpPr>
        <p:spPr>
          <a:xfrm>
            <a:off x="548640" y="1783080"/>
            <a:ext cx="11091672" cy="731520"/>
          </a:xfrm>
          <a:prstGeom prst="rect">
            <a:avLst/>
          </a:prstGeom>
          <a:noFill/>
          <a:ln/>
        </p:spPr>
        <p:txBody>
          <a:bodyPr wrap="square" lIns="0" tIns="0" rIns="0" bIns="0" rtlCol="0" anchor="t"/>
          <a:lstStyle/>
          <a:p>
            <a:pPr indent="0" marL="0">
              <a:buNone/>
            </a:pPr>
            <a:r>
              <a:rPr lang="en-US" sz="1500" dirty="0">
                <a:solidFill>
                  <a:srgbClr val="C5D0E2"/>
                </a:solidFill>
                <a:latin typeface="Malgun Gothic" pitchFamily="34" charset="0"/>
                <a:ea typeface="Malgun Gothic" pitchFamily="34" charset="-122"/>
                <a:cs typeface="Malgun Gothic" pitchFamily="34" charset="-120"/>
              </a:rPr>
              <a:t>1층(발)부터 올라갑니다. 진술(사전 QR 1.5분) → 검증·감정·대질(실습 5분) → 재진술(사후 QR 1.5분). 실험은 한쪽만 — 반대편이 비교 기준입니다(기대효과는 남습니다).</a:t>
            </a:r>
            <a:endParaRPr lang="en-US" sz="1500" dirty="0"/>
          </a:p>
        </p:txBody>
      </p:sp>
      <p:sp>
        <p:nvSpPr>
          <p:cNvPr id="7" name="Shape 5"/>
          <p:cNvSpPr/>
          <p:nvPr/>
        </p:nvSpPr>
        <p:spPr>
          <a:xfrm>
            <a:off x="548640" y="2651760"/>
            <a:ext cx="3544824" cy="2377440"/>
          </a:xfrm>
          <a:prstGeom prst="roundRect">
            <a:avLst>
              <a:gd name="adj" fmla="val 5769"/>
            </a:avLst>
          </a:prstGeom>
          <a:solidFill>
            <a:srgbClr val="132446"/>
          </a:solidFill>
          <a:ln w="12700">
            <a:solidFill>
              <a:srgbClr val="132446"/>
            </a:solidFill>
            <a:prstDash val="solid"/>
          </a:ln>
        </p:spPr>
      </p:sp>
      <p:sp>
        <p:nvSpPr>
          <p:cNvPr id="8" name="Text 6"/>
          <p:cNvSpPr txBox="1"/>
          <p:nvPr/>
        </p:nvSpPr>
        <p:spPr>
          <a:xfrm>
            <a:off x="749808" y="281635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규칙 1 · 한쪽만</a:t>
            </a:r>
            <a:endParaRPr lang="en-US" sz="1000" dirty="0"/>
          </a:p>
        </p:txBody>
      </p:sp>
      <p:sp>
        <p:nvSpPr>
          <p:cNvPr id="9" name="Text 7"/>
          <p:cNvSpPr txBox="1"/>
          <p:nvPr/>
        </p:nvSpPr>
        <p:spPr>
          <a:xfrm>
            <a:off x="749808" y="3108960"/>
            <a:ext cx="314248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한쪽만 풉니다</a:t>
            </a:r>
            <a:endParaRPr lang="en-US" sz="1500" dirty="0"/>
          </a:p>
        </p:txBody>
      </p:sp>
      <p:sp>
        <p:nvSpPr>
          <p:cNvPr id="10" name="Text 8"/>
          <p:cNvSpPr txBox="1"/>
          <p:nvPr/>
        </p:nvSpPr>
        <p:spPr>
          <a:xfrm>
            <a:off x="749808" y="3840480"/>
            <a:ext cx="3142488"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시간·피로·기분처럼 양쪽에 걸리는 요인을 빼고 반대편을 보존하기 위해. 반대쪽은 사후 QR 입력 뒤 45초 속성 — 입력 전에는 풀지 않습니다(증거 보전).</a:t>
            </a:r>
            <a:endParaRPr lang="en-US" sz="1150" dirty="0"/>
          </a:p>
        </p:txBody>
      </p:sp>
      <p:sp>
        <p:nvSpPr>
          <p:cNvPr id="11" name="Shape 9"/>
          <p:cNvSpPr/>
          <p:nvPr/>
        </p:nvSpPr>
        <p:spPr>
          <a:xfrm>
            <a:off x="4322064" y="2651760"/>
            <a:ext cx="3544824" cy="2377440"/>
          </a:xfrm>
          <a:prstGeom prst="roundRect">
            <a:avLst>
              <a:gd name="adj" fmla="val 5769"/>
            </a:avLst>
          </a:prstGeom>
          <a:solidFill>
            <a:srgbClr val="132446"/>
          </a:solidFill>
          <a:ln w="12700">
            <a:solidFill>
              <a:srgbClr val="132446"/>
            </a:solidFill>
            <a:prstDash val="solid"/>
          </a:ln>
        </p:spPr>
      </p:sp>
      <p:sp>
        <p:nvSpPr>
          <p:cNvPr id="12" name="Text 10"/>
          <p:cNvSpPr txBox="1"/>
          <p:nvPr/>
        </p:nvSpPr>
        <p:spPr>
          <a:xfrm>
            <a:off x="4523232" y="281635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규칙 2 · 호흡</a:t>
            </a:r>
            <a:endParaRPr lang="en-US" sz="1000" dirty="0"/>
          </a:p>
        </p:txBody>
      </p:sp>
      <p:sp>
        <p:nvSpPr>
          <p:cNvPr id="13" name="Text 11"/>
          <p:cNvSpPr txBox="1"/>
          <p:nvPr/>
        </p:nvSpPr>
        <p:spPr>
          <a:xfrm>
            <a:off x="4523232" y="3108960"/>
            <a:ext cx="314248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누르고 5초, 소리 나게 내쉬기</a:t>
            </a:r>
            <a:endParaRPr lang="en-US" sz="1500" dirty="0"/>
          </a:p>
        </p:txBody>
      </p:sp>
      <p:sp>
        <p:nvSpPr>
          <p:cNvPr id="14" name="Text 12"/>
          <p:cNvSpPr txBox="1"/>
          <p:nvPr/>
        </p:nvSpPr>
        <p:spPr>
          <a:xfrm>
            <a:off x="4523232" y="3840480"/>
            <a:ext cx="3142488"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굴리지 않습니다. 옆사람 귀에 들려야 유효. 안 들리면 옆자리 재판장이 벌금 1만 원(실제 징수 없음).</a:t>
            </a:r>
            <a:endParaRPr lang="en-US" sz="1150" dirty="0"/>
          </a:p>
        </p:txBody>
      </p:sp>
      <p:sp>
        <p:nvSpPr>
          <p:cNvPr id="15" name="Shape 13"/>
          <p:cNvSpPr/>
          <p:nvPr/>
        </p:nvSpPr>
        <p:spPr>
          <a:xfrm>
            <a:off x="8095488" y="2651760"/>
            <a:ext cx="3544824" cy="2377440"/>
          </a:xfrm>
          <a:prstGeom prst="roundRect">
            <a:avLst>
              <a:gd name="adj" fmla="val 5769"/>
            </a:avLst>
          </a:prstGeom>
          <a:solidFill>
            <a:srgbClr val="132446"/>
          </a:solidFill>
          <a:ln w="12700">
            <a:solidFill>
              <a:srgbClr val="132446"/>
            </a:solidFill>
            <a:prstDash val="solid"/>
          </a:ln>
        </p:spPr>
      </p:sp>
      <p:sp>
        <p:nvSpPr>
          <p:cNvPr id="16" name="Text 14"/>
          <p:cNvSpPr txBox="1"/>
          <p:nvPr/>
        </p:nvSpPr>
        <p:spPr>
          <a:xfrm>
            <a:off x="8296656" y="281635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규칙 3 · 아플 때</a:t>
            </a:r>
            <a:endParaRPr lang="en-US" sz="1000" dirty="0"/>
          </a:p>
        </p:txBody>
      </p:sp>
      <p:sp>
        <p:nvSpPr>
          <p:cNvPr id="17" name="Text 15"/>
          <p:cNvSpPr txBox="1"/>
          <p:nvPr/>
        </p:nvSpPr>
        <p:spPr>
          <a:xfrm>
            <a:off x="8296656" y="3108960"/>
            <a:ext cx="314248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내쉬고 → 미간 풀고 → 심봤다</a:t>
            </a:r>
            <a:endParaRPr lang="en-US" sz="1500" dirty="0"/>
          </a:p>
        </p:txBody>
      </p:sp>
      <p:sp>
        <p:nvSpPr>
          <p:cNvPr id="18" name="Text 16"/>
          <p:cNvSpPr txBox="1"/>
          <p:nvPr/>
        </p:nvSpPr>
        <p:spPr>
          <a:xfrm>
            <a:off x="8296656" y="3840480"/>
            <a:ext cx="3142488"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통증은 근육의 집 주소입니다. 주소를 찾으면 '심봤다'. 세게 누르라는 뜻이 아닙니다 — 상한 7점, 숨!</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진술 접수 · BEFORE · 발·발목</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7</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발·발목 — 지금 불편감은 몇 점입니까?</a:t>
            </a:r>
            <a:endParaRPr lang="en-US" sz="3000" dirty="0"/>
          </a:p>
        </p:txBody>
      </p:sp>
      <p:sp>
        <p:nvSpPr>
          <p:cNvPr id="6" name="Shape 4"/>
          <p:cNvSpPr/>
          <p:nvPr/>
        </p:nvSpPr>
        <p:spPr>
          <a:xfrm>
            <a:off x="548640" y="1828800"/>
            <a:ext cx="3566160" cy="3566160"/>
          </a:xfrm>
          <a:prstGeom prst="roundRect">
            <a:avLst>
              <a:gd name="adj" fmla="val 5128"/>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31520" y="2011680"/>
            <a:ext cx="3200400" cy="3200400"/>
          </a:xfrm>
          <a:prstGeom prst="rect">
            <a:avLst/>
          </a:prstGeom>
        </p:spPr>
      </p:pic>
      <p:sp>
        <p:nvSpPr>
          <p:cNvPr id="8" name="Text 5"/>
          <p:cNvSpPr txBox="1"/>
          <p:nvPr/>
        </p:nvSpPr>
        <p:spPr>
          <a:xfrm>
            <a:off x="548640" y="5486400"/>
            <a:ext cx="3840480" cy="457200"/>
          </a:xfrm>
          <a:prstGeom prst="rect">
            <a:avLst/>
          </a:prstGeom>
          <a:noFill/>
          <a:ln/>
        </p:spPr>
        <p:txBody>
          <a:bodyPr wrap="square" lIns="0" tIns="0" rIns="0" bIns="0" rtlCol="0" anchor="ctr"/>
          <a:lstStyle/>
          <a:p>
            <a:pPr indent="0" marL="0">
              <a:buNone/>
            </a:pPr>
            <a:r>
              <a:rPr lang="en-US" sz="800" dirty="0">
                <a:solidFill>
                  <a:srgbClr val="8FA3BF"/>
                </a:solidFill>
                <a:latin typeface="Malgun Gothic" pitchFamily="34" charset="0"/>
                <a:ea typeface="Malgun Gothic" pitchFamily="34" charset="-122"/>
                <a:cs typeface="Malgun Gothic" pitchFamily="34" charset="-120"/>
              </a:rPr>
              <a:t>https://drjinfit-ship-it.github.io/jinkim/web/?mode=join&amp;s=suwon-2&amp;p=foot&amp;t=pre</a:t>
            </a:r>
            <a:endParaRPr lang="en-US" sz="800" dirty="0"/>
          </a:p>
        </p:txBody>
      </p:sp>
      <p:sp>
        <p:nvSpPr>
          <p:cNvPr id="9" name="Shape 6"/>
          <p:cNvSpPr/>
          <p:nvPr/>
        </p:nvSpPr>
        <p:spPr>
          <a:xfrm>
            <a:off x="4572000" y="1828800"/>
            <a:ext cx="7068312" cy="1554480"/>
          </a:xfrm>
          <a:prstGeom prst="roundRect">
            <a:avLst>
              <a:gd name="adj" fmla="val 8824"/>
            </a:avLst>
          </a:prstGeom>
          <a:solidFill>
            <a:srgbClr val="132446"/>
          </a:solidFill>
          <a:ln w="12700">
            <a:solidFill>
              <a:srgbClr val="132446"/>
            </a:solidFill>
            <a:prstDash val="solid"/>
          </a:ln>
        </p:spPr>
      </p:sp>
      <p:sp>
        <p:nvSpPr>
          <p:cNvPr id="10" name="Text 7"/>
          <p:cNvSpPr txBox="1"/>
          <p:nvPr/>
        </p:nvSpPr>
        <p:spPr>
          <a:xfrm>
            <a:off x="4800600" y="1965960"/>
            <a:ext cx="6611112" cy="274320"/>
          </a:xfrm>
          <a:prstGeom prst="rect">
            <a:avLst/>
          </a:prstGeom>
          <a:noFill/>
          <a:ln/>
        </p:spPr>
        <p:txBody>
          <a:bodyPr wrap="square" lIns="0" tIns="0" rIns="0" bIns="0" rtlCol="0" anchor="ct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진술 접수</a:t>
            </a:r>
            <a:endParaRPr lang="en-US" sz="1000" dirty="0"/>
          </a:p>
        </p:txBody>
      </p:sp>
      <p:sp>
        <p:nvSpPr>
          <p:cNvPr id="11" name="Text 8"/>
          <p:cNvSpPr txBox="1"/>
          <p:nvPr/>
        </p:nvSpPr>
        <p:spPr>
          <a:xfrm>
            <a:off x="4800600" y="2240280"/>
            <a:ext cx="6611112" cy="822960"/>
          </a:xfrm>
          <a:prstGeom prst="rect">
            <a:avLst/>
          </a:prstGeom>
          <a:noFill/>
          <a:ln/>
        </p:spPr>
        <p:txBody>
          <a:bodyPr wrap="square" lIns="0" tIns="0" rIns="0" bIns="0" rtlCol="0" anchor="ctr"/>
          <a:lstStyle/>
          <a:p>
            <a:pPr indent="0" marL="0">
              <a:buNone/>
            </a:pPr>
            <a:r>
              <a:rPr lang="en-US" sz="4000" b="1" dirty="0">
                <a:solidFill>
                  <a:srgbClr val="F5B13D"/>
                </a:solidFill>
                <a:latin typeface="Malgun Gothic" pitchFamily="34" charset="0"/>
                <a:ea typeface="Malgun Gothic" pitchFamily="34" charset="-122"/>
                <a:cs typeface="Malgun Gothic" pitchFamily="34" charset="-120"/>
              </a:rPr>
              <a:t>0 ~ 10</a:t>
            </a:r>
            <a:endParaRPr lang="en-US" sz="4000" dirty="0"/>
          </a:p>
        </p:txBody>
      </p:sp>
      <p:sp>
        <p:nvSpPr>
          <p:cNvPr id="12" name="Text 9"/>
          <p:cNvSpPr txBox="1"/>
          <p:nvPr/>
        </p:nvSpPr>
        <p:spPr>
          <a:xfrm>
            <a:off x="4800600" y="3017520"/>
            <a:ext cx="6611112" cy="365760"/>
          </a:xfrm>
          <a:prstGeom prst="rect">
            <a:avLst/>
          </a:prstGeom>
          <a:noFill/>
          <a:ln/>
        </p:spPr>
        <p:txBody>
          <a:bodyPr wrap="square" lIns="0" tIns="0" rIns="0" bIns="0" rtlCol="0" anchor="ctr"/>
          <a:lstStyle/>
          <a:p>
            <a:pPr indent="0" marL="0">
              <a:buNone/>
            </a:pPr>
            <a:r>
              <a:rPr lang="en-US" sz="1050" dirty="0">
                <a:solidFill>
                  <a:srgbClr val="C5D0E2"/>
                </a:solidFill>
                <a:latin typeface="Malgun Gothic" pitchFamily="34" charset="0"/>
                <a:ea typeface="Malgun Gothic" pitchFamily="34" charset="-122"/>
                <a:cs typeface="Malgun Gothic" pitchFamily="34" charset="-120"/>
              </a:rPr>
              <a:t>사건 1 접수 — 발·발목. 먼저 확인 동작 10초: 가볍게 3번 뛰기 또는 의자 잡고 한 발씩 체중 옮기기. 그 직후 지금 이 순간의 불편감을 0~10으로 진술합니다. 0도 진술입니다. 최근 발목을 삐었거나 발이 붓고 뜨거우면 이 사건은 관찰만 하셔도 됩니다.</a:t>
            </a:r>
            <a:endParaRPr lang="en-US" sz="1050" dirty="0"/>
          </a:p>
        </p:txBody>
      </p:sp>
      <p:sp>
        <p:nvSpPr>
          <p:cNvPr id="13" name="Text 10"/>
          <p:cNvSpPr txBox="1"/>
          <p:nvPr/>
        </p:nvSpPr>
        <p:spPr>
          <a:xfrm>
            <a:off x="4572000" y="3657600"/>
            <a:ext cx="7068312" cy="1097280"/>
          </a:xfrm>
          <a:prstGeom prst="rect">
            <a:avLst/>
          </a:prstGeom>
          <a:noFill/>
          <a:ln/>
        </p:spPr>
        <p:txBody>
          <a:bodyPr wrap="square" lIns="0" tIns="0" rIns="0" bIns="0" rtlCol="0" anchor="t"/>
          <a:lstStyle/>
          <a:p>
            <a:pPr indent="0" marL="0">
              <a:buNone/>
            </a:pPr>
            <a:r>
              <a:rPr lang="en-US" sz="1200" dirty="0">
                <a:solidFill>
                  <a:srgbClr val="C5D0E2"/>
                </a:solidFill>
                <a:latin typeface="Malgun Gothic" pitchFamily="34" charset="0"/>
                <a:ea typeface="Malgun Gothic" pitchFamily="34" charset="-122"/>
                <a:cs typeface="Malgun Gothic" pitchFamily="34" charset="-120"/>
              </a:rPr>
              <a:t>이름·연락처·소속을 받지 않습니다. 이 휴대폰의 무작위 번호로만 강의 전·후를 짝지어 익명 집계합니다.</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증거조사 ① · 발·발목 · 5분</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8</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2600" b="1" dirty="0">
                <a:solidFill>
                  <a:srgbClr val="F3F6FB"/>
                </a:solidFill>
                <a:latin typeface="Malgun Gothic" pitchFamily="34" charset="0"/>
                <a:ea typeface="Malgun Gothic" pitchFamily="34" charset="-122"/>
                <a:cs typeface="Malgun Gothic" pitchFamily="34" charset="-120"/>
              </a:rPr>
              <a:t>발은 1층입니다. 1층이 무너지면 위층이 다 무너집니다.</a:t>
            </a:r>
            <a:endParaRPr lang="en-US" sz="2600" dirty="0"/>
          </a:p>
        </p:txBody>
      </p:sp>
      <p:sp>
        <p:nvSpPr>
          <p:cNvPr id="6" name="Text 4"/>
          <p:cNvSpPr txBox="1"/>
          <p:nvPr/>
        </p:nvSpPr>
        <p:spPr>
          <a:xfrm>
            <a:off x="548640" y="1600200"/>
            <a:ext cx="11091672" cy="548640"/>
          </a:xfrm>
          <a:prstGeom prst="rect">
            <a:avLst/>
          </a:prstGeom>
          <a:noFill/>
          <a:ln/>
        </p:spPr>
        <p:txBody>
          <a:bodyPr wrap="square" lIns="0" tIns="0" rIns="0" bIns="0" rtlCol="0" anchor="t"/>
          <a:lstStyle/>
          <a:p>
            <a:pPr indent="0" marL="0">
              <a:buNone/>
            </a:pPr>
            <a:r>
              <a:rPr lang="en-US" sz="1000" b="1" dirty="0">
                <a:solidFill>
                  <a:srgbClr val="F5B13D"/>
                </a:solidFill>
                <a:latin typeface="Malgun Gothic" pitchFamily="34" charset="0"/>
                <a:ea typeface="Malgun Gothic" pitchFamily="34" charset="-122"/>
                <a:cs typeface="Malgun Gothic" pitchFamily="34" charset="-120"/>
              </a:rPr>
              <a:t>주장  </a:t>
            </a:r>
            <a:pPr indent="0" marL="0">
              <a:buNone/>
            </a:pPr>
            <a:r>
              <a:rPr lang="en-US" sz="1300" dirty="0">
                <a:solidFill>
                  <a:srgbClr val="C5D0E2"/>
                </a:solidFill>
                <a:latin typeface="Malgun Gothic" pitchFamily="34" charset="0"/>
                <a:ea typeface="Malgun Gothic" pitchFamily="34" charset="-122"/>
                <a:cs typeface="Malgun Gothic" pitchFamily="34" charset="-120"/>
              </a:rPr>
              <a:t>발은 1층입니다. 아치가 굳어 감각이 둔해지면 위층(무릎·허리)이 대신 일합니다. 아치를 5초 압박하고 발가락을 교대로 움직인 뒤, 같은 발이 더 가볍고 탄력 있게 느껴지는지 확인합니다.</a:t>
            </a:r>
            <a:pPr indent="0" marL="0">
              <a:buNone/>
            </a:pPr>
            <a:r>
              <a:rPr lang="en-US" sz="1000" b="1" dirty="0">
                <a:solidFill>
                  <a:srgbClr val="8FA3BF"/>
                </a:solidFill>
                <a:latin typeface="Malgun Gothic" pitchFamily="34" charset="0"/>
                <a:ea typeface="Malgun Gothic" pitchFamily="34" charset="-122"/>
                <a:cs typeface="Malgun Gothic" pitchFamily="34" charset="-120"/>
              </a:rPr>
              <a:t>    반대 가설  </a:t>
            </a:r>
            <a:pPr indent="0" marL="0">
              <a:buNone/>
            </a:pPr>
            <a:r>
              <a:rPr lang="en-US" sz="1200" dirty="0">
                <a:solidFill>
                  <a:srgbClr val="8FA3BF"/>
                </a:solidFill>
                <a:latin typeface="Malgun Gothic" pitchFamily="34" charset="0"/>
                <a:ea typeface="Malgun Gothic" pitchFamily="34" charset="-122"/>
                <a:cs typeface="Malgun Gothic" pitchFamily="34" charset="-120"/>
              </a:rPr>
              <a:t>"평발이라 어쩔 수 없다" — 발 모양(구조)은 오늘 못 바꿉니다. 오늘 바꾸는 것은 발의 감각과 근육 상태이고, 구조가 같아도 느낌이 달라지는지를 봅니다. 1회차의 '90%가 평발' 식 집단 호명은 하지 않습니다. 족저근막염이 낫는다고 말하지 않습니다.</a:t>
            </a:r>
            <a:endParaRPr lang="en-US" sz="1000" dirty="0"/>
          </a:p>
        </p:txBody>
      </p:sp>
      <p:sp>
        <p:nvSpPr>
          <p:cNvPr id="7" name="Shape 5"/>
          <p:cNvSpPr/>
          <p:nvPr/>
        </p:nvSpPr>
        <p:spPr>
          <a:xfrm>
            <a:off x="548640" y="2240280"/>
            <a:ext cx="3544824" cy="2788920"/>
          </a:xfrm>
          <a:prstGeom prst="roundRect">
            <a:avLst>
              <a:gd name="adj" fmla="val 4918"/>
            </a:avLst>
          </a:prstGeom>
          <a:solidFill>
            <a:srgbClr val="132446"/>
          </a:solidFill>
          <a:ln w="12700">
            <a:solidFill>
              <a:srgbClr val="132446"/>
            </a:solidFill>
            <a:prstDash val="solid"/>
          </a:ln>
        </p:spPr>
      </p:sp>
      <p:sp>
        <p:nvSpPr>
          <p:cNvPr id="8" name="Text 6"/>
          <p:cNvSpPr txBox="1"/>
          <p:nvPr/>
        </p:nvSpPr>
        <p:spPr>
          <a:xfrm>
            <a:off x="749808"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현장 검증 · 체크</a:t>
            </a:r>
            <a:endParaRPr lang="en-US" sz="1000" dirty="0"/>
          </a:p>
        </p:txBody>
      </p:sp>
      <p:sp>
        <p:nvSpPr>
          <p:cNvPr id="9" name="Text 7"/>
          <p:cNvSpPr txBox="1"/>
          <p:nvPr/>
        </p:nvSpPr>
        <p:spPr>
          <a:xfrm>
            <a:off x="749808" y="2697480"/>
            <a:ext cx="3142488" cy="731520"/>
          </a:xfrm>
          <a:prstGeom prst="rect">
            <a:avLst/>
          </a:prstGeom>
          <a:noFill/>
          <a:ln/>
        </p:spPr>
        <p:txBody>
          <a:bodyPr wrap="square" lIns="0" tIns="0" rIns="0" bIns="0" rtlCol="0" anchor="t"/>
          <a:lstStyle/>
          <a:p>
            <a:pPr indent="0" marL="0">
              <a:buNone/>
            </a:pPr>
            <a:endParaRPr lang="en-US" sz="1500" dirty="0"/>
          </a:p>
        </p:txBody>
      </p:sp>
      <p:sp>
        <p:nvSpPr>
          <p:cNvPr id="10" name="Text 8"/>
          <p:cNvSpPr txBox="1"/>
          <p:nvPr/>
        </p:nvSpPr>
        <p:spPr>
          <a:xfrm>
            <a:off x="749808" y="3429000"/>
            <a:ext cx="3142488" cy="146304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제자리에서 가볍게 3번 뛰거나 3걸음. 발바닥 느낌과 어느 발이 둔한지 기억합니다 — 확인의 기준점입니다. 뛰기가 부담되면 의자를 잡고 한 발씩 체중 옮기기 3회로 대체(효력 동일).</a:t>
            </a:r>
            <a:endParaRPr lang="en-US" sz="1150" dirty="0"/>
          </a:p>
        </p:txBody>
      </p:sp>
      <p:sp>
        <p:nvSpPr>
          <p:cNvPr id="11" name="Shape 9"/>
          <p:cNvSpPr/>
          <p:nvPr/>
        </p:nvSpPr>
        <p:spPr>
          <a:xfrm>
            <a:off x="4322064" y="2240280"/>
            <a:ext cx="3544824" cy="2788920"/>
          </a:xfrm>
          <a:prstGeom prst="roundRect">
            <a:avLst>
              <a:gd name="adj" fmla="val 4918"/>
            </a:avLst>
          </a:prstGeom>
          <a:solidFill>
            <a:srgbClr val="0F2E3F"/>
          </a:solidFill>
          <a:ln w="12700">
            <a:solidFill>
              <a:srgbClr val="0F2E3F"/>
            </a:solidFill>
            <a:prstDash val="solid"/>
          </a:ln>
        </p:spPr>
      </p:sp>
      <p:sp>
        <p:nvSpPr>
          <p:cNvPr id="12" name="Text 10"/>
          <p:cNvSpPr txBox="1"/>
          <p:nvPr/>
        </p:nvSpPr>
        <p:spPr>
          <a:xfrm>
            <a:off x="4523232"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개입 실험 · 10초 리셋 · 한쪽만</a:t>
            </a:r>
            <a:endParaRPr lang="en-US" sz="1000" dirty="0"/>
          </a:p>
        </p:txBody>
      </p:sp>
      <p:sp>
        <p:nvSpPr>
          <p:cNvPr id="13" name="Text 11"/>
          <p:cNvSpPr txBox="1"/>
          <p:nvPr/>
        </p:nvSpPr>
        <p:spPr>
          <a:xfrm>
            <a:off x="4523232" y="2697480"/>
            <a:ext cx="3142488" cy="731520"/>
          </a:xfrm>
          <a:prstGeom prst="rect">
            <a:avLst/>
          </a:prstGeom>
          <a:noFill/>
          <a:ln/>
        </p:spPr>
        <p:txBody>
          <a:bodyPr wrap="square" lIns="0" tIns="0" rIns="0" bIns="0" rtlCol="0" anchor="t"/>
          <a:lstStyle/>
          <a:p>
            <a:pPr indent="0" marL="0">
              <a:buNone/>
            </a:pPr>
            <a:endParaRPr lang="en-US" sz="1500" dirty="0"/>
          </a:p>
        </p:txBody>
      </p:sp>
      <p:sp>
        <p:nvSpPr>
          <p:cNvPr id="14" name="Text 12"/>
          <p:cNvSpPr txBox="1"/>
          <p:nvPr/>
        </p:nvSpPr>
        <p:spPr>
          <a:xfrm>
            <a:off x="4523232" y="3429000"/>
            <a:ext cx="3142488"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한쪽 발만: 의자에 앉아 뒤꿈치는 바닥, 발 아치 중앙에 공. 굴리지 않고 누른 채 소리 나게 5초 내쉬기 ×5 (옆사람 귀에 들리게)</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누른 채 엄지↑네 발가락↓ ↔ 엄지↓네 발가락↑ 교대 ×10 — 아프면 '심봤다', 숨은 계속</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일어서서 뒤꿈치 바깥 → 앞꿈치 순서로 3걸음, 5%만 발바닥에</a:t>
            </a:r>
            <a:endParaRPr lang="en-US" sz="1150" dirty="0"/>
          </a:p>
        </p:txBody>
      </p:sp>
      <p:sp>
        <p:nvSpPr>
          <p:cNvPr id="15" name="Shape 13"/>
          <p:cNvSpPr/>
          <p:nvPr/>
        </p:nvSpPr>
        <p:spPr>
          <a:xfrm>
            <a:off x="8095488" y="2240280"/>
            <a:ext cx="3544824" cy="2788920"/>
          </a:xfrm>
          <a:prstGeom prst="roundRect">
            <a:avLst>
              <a:gd name="adj" fmla="val 4918"/>
            </a:avLst>
          </a:prstGeom>
          <a:solidFill>
            <a:srgbClr val="3A2A0F"/>
          </a:solidFill>
          <a:ln w="12700">
            <a:solidFill>
              <a:srgbClr val="3A2A0F"/>
            </a:solidFill>
            <a:prstDash val="solid"/>
          </a:ln>
        </p:spPr>
      </p:sp>
      <p:sp>
        <p:nvSpPr>
          <p:cNvPr id="16" name="Text 14"/>
          <p:cNvSpPr txBox="1"/>
          <p:nvPr/>
        </p:nvSpPr>
        <p:spPr>
          <a:xfrm>
            <a:off x="8296656"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대질 · 좌우 비교</a:t>
            </a:r>
            <a:endParaRPr lang="en-US" sz="1000" dirty="0"/>
          </a:p>
        </p:txBody>
      </p:sp>
      <p:sp>
        <p:nvSpPr>
          <p:cNvPr id="17" name="Text 15"/>
          <p:cNvSpPr txBox="1"/>
          <p:nvPr/>
        </p:nvSpPr>
        <p:spPr>
          <a:xfrm>
            <a:off x="8296656" y="2697480"/>
            <a:ext cx="3142488" cy="731520"/>
          </a:xfrm>
          <a:prstGeom prst="rect">
            <a:avLst/>
          </a:prstGeom>
          <a:noFill/>
          <a:ln/>
        </p:spPr>
        <p:txBody>
          <a:bodyPr wrap="square" lIns="0" tIns="0" rIns="0" bIns="0" rtlCol="0" anchor="t"/>
          <a:lstStyle/>
          <a:p>
            <a:pPr indent="0" marL="0">
              <a:buNone/>
            </a:pPr>
            <a:endParaRPr lang="en-US" sz="1500" dirty="0"/>
          </a:p>
        </p:txBody>
      </p:sp>
      <p:sp>
        <p:nvSpPr>
          <p:cNvPr id="18" name="Text 16"/>
          <p:cNvSpPr txBox="1"/>
          <p:nvPr/>
        </p:nvSpPr>
        <p:spPr>
          <a:xfrm>
            <a:off x="8296656" y="3429000"/>
            <a:ext cx="3142488"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대질: 안 푼 발 vs 푼 발로 제자리 가볍게 뛰기. 어느 발이 가볍고 탄력이 있습니까? 안 푼 발이 원래 내 발 — 반대편이 대조군입니다. 차이가 없으면 그것도 증언입니다. 뛰기 대신 체중 옮기기로 비교해도 됩니다.</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집행(유지): 걸을 때 뒤꿈치 바깥 → 앞꿈치. 95%는 딴생각, 5%만 발바닥에. 엘리베이터·신호등에서 발가락 살짝 들어 아치 만들기. 1분 버전: 앉은 채 공 없이 발가락 교대 ×10 + 발 3점.</a:t>
            </a:r>
            <a:endParaRPr lang="en-US" sz="1150" dirty="0"/>
          </a:p>
        </p:txBody>
      </p:sp>
      <p:sp>
        <p:nvSpPr>
          <p:cNvPr id="19" name="Text 17"/>
          <p:cNvSpPr txBox="1"/>
          <p:nvPr/>
        </p:nvSpPr>
        <p:spPr>
          <a:xfrm>
            <a:off x="548640" y="5120640"/>
            <a:ext cx="11091672" cy="640080"/>
          </a:xfrm>
          <a:prstGeom prst="rect">
            <a:avLst/>
          </a:prstGeom>
          <a:noFill/>
          <a:ln/>
        </p:spPr>
        <p:txBody>
          <a:bodyPr wrap="square" lIns="0" tIns="0" rIns="0" bIns="0" rtlCol="0" anchor="t"/>
          <a:lstStyle/>
          <a:p>
            <a:pPr indent="0" marL="0">
              <a:buNone/>
            </a:pPr>
            <a:r>
              <a:rPr lang="en-US" sz="950" dirty="0">
                <a:solidFill>
                  <a:srgbClr val="C5D0E2"/>
                </a:solidFill>
                <a:latin typeface="Malgun Gothic" pitchFamily="34" charset="0"/>
                <a:ea typeface="Malgun Gothic" pitchFamily="34" charset="-122"/>
                <a:cs typeface="Malgun Gothic" pitchFamily="34" charset="-120"/>
              </a:rPr>
              <a:t>현장: 1회차: 한쪽 발만 푼 뒤 뛰기 비교에서 '가벼워졌다' 반응 — 자기보고, 대조군 없음. 오늘은 QR 숫자로 기록 (1회차는 매트·누운 자세, 오늘은 의자 버전 — 조건이 다르므로 오늘이 의자 버전의 첫 기록) (1회차(8/31) 현장 관찰 · 자기보고 · 기록 없음(참고))</a:t>
            </a:r>
            <a:endParaRPr lang="en-US" sz="950" dirty="0"/>
          </a:p>
          <a:p>
            <a:pPr indent="0" marL="0">
              <a:buNone/>
            </a:pPr>
            <a:r>
              <a:rPr lang="en-US" sz="950" dirty="0">
                <a:solidFill>
                  <a:srgbClr val="C5D0E2"/>
                </a:solidFill>
                <a:latin typeface="Malgun Gothic" pitchFamily="34" charset="0"/>
                <a:ea typeface="Malgun Gothic" pitchFamily="34" charset="-122"/>
                <a:cs typeface="Malgun Gothic" pitchFamily="34" charset="-120"/>
              </a:rPr>
              <a:t>문헌: 발바닥 감각 입력이 서기·걷기의 균형 조절에 기여한다는 것은 운동학의 일반 원칙 — 구조(평발 여부)가 아니라 사용법을 다룬다 (일반 원칙(발바닥 감각과 자세 조절))</a:t>
            </a:r>
            <a:endParaRPr lang="en-US" sz="950" dirty="0"/>
          </a:p>
          <a:p>
            <a:pPr indent="0" marL="0">
              <a:buNone/>
            </a:pPr>
            <a:r>
              <a:rPr lang="en-US" sz="950" dirty="0">
                <a:solidFill>
                  <a:srgbClr val="C5D0E2"/>
                </a:solidFill>
                <a:latin typeface="Malgun Gothic" pitchFamily="34" charset="0"/>
                <a:ea typeface="Malgun Gothic" pitchFamily="34" charset="-122"/>
                <a:cs typeface="Malgun Gothic" pitchFamily="34" charset="-120"/>
              </a:rPr>
              <a:t>실험: 오늘 안 푼 발 vs 푼 발 뛰기 비교 + 사전/사후 QR (현장 자기 대조)</a:t>
            </a:r>
            <a:endParaRPr lang="en-US" sz="950" dirty="0"/>
          </a:p>
        </p:txBody>
      </p:sp>
      <p:sp>
        <p:nvSpPr>
          <p:cNvPr id="20" name="Text 18"/>
          <p:cNvSpPr txBox="1"/>
          <p:nvPr/>
        </p:nvSpPr>
        <p:spPr>
          <a:xfrm>
            <a:off x="548640" y="5715000"/>
            <a:ext cx="11091672" cy="457200"/>
          </a:xfrm>
          <a:prstGeom prst="rect">
            <a:avLst/>
          </a:prstGeom>
          <a:noFill/>
          <a:ln/>
        </p:spPr>
        <p:txBody>
          <a:bodyPr wrap="square" lIns="0" tIns="0" rIns="0" bIns="0" rtlCol="0" anchor="ctr"/>
          <a:lstStyle/>
          <a:p>
            <a:pPr indent="0" marL="0">
              <a:buNone/>
            </a:pPr>
            <a:r>
              <a:rPr lang="en-US" sz="1100" dirty="0">
                <a:solidFill>
                  <a:srgbClr val="FFC9C9"/>
                </a:solidFill>
                <a:latin typeface="Malgun Gothic" pitchFamily="34" charset="0"/>
                <a:ea typeface="Malgun Gothic" pitchFamily="34" charset="-122"/>
                <a:cs typeface="Malgun Gothic" pitchFamily="34" charset="-120"/>
              </a:rPr>
              <a:t>! 최근 발목을 삐었거나 발바닥이 붓고 뜨거우면 압박은 생략하고 걷기만 합니다. 발 감각이 둔하거나(당뇨 등) 발에 상처·궤양 이력이 있으면 공 압박은 생략하고 발가락 교대와 걷기만 합니다. 발바닥에 진단받은 통증(족저근막염 등)이 있으면 압박은 생략하거나 강도를 낮추고 걷기·발가락 교대만. 찌릿하게 저리면 그 자리는 피합니다. 뛰기가 부담되면(무릎 통증·임신·균형 불안·구두·미끄러운 바닥) 의자를 잡고 한 발씩 체중 옮기기 3회로 대체합니다.</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재검사 · AFTER · 발·발목</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9</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발·발목 — 재검사: 지금은 몇 점입니까?</a:t>
            </a:r>
            <a:endParaRPr lang="en-US" sz="3000" dirty="0"/>
          </a:p>
        </p:txBody>
      </p:sp>
      <p:sp>
        <p:nvSpPr>
          <p:cNvPr id="6" name="Shape 4"/>
          <p:cNvSpPr/>
          <p:nvPr/>
        </p:nvSpPr>
        <p:spPr>
          <a:xfrm>
            <a:off x="548640" y="1828800"/>
            <a:ext cx="3566160" cy="3566160"/>
          </a:xfrm>
          <a:prstGeom prst="roundRect">
            <a:avLst>
              <a:gd name="adj" fmla="val 5128"/>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31520" y="2011680"/>
            <a:ext cx="3200400" cy="3200400"/>
          </a:xfrm>
          <a:prstGeom prst="rect">
            <a:avLst/>
          </a:prstGeom>
        </p:spPr>
      </p:pic>
      <p:sp>
        <p:nvSpPr>
          <p:cNvPr id="8" name="Text 5"/>
          <p:cNvSpPr txBox="1"/>
          <p:nvPr/>
        </p:nvSpPr>
        <p:spPr>
          <a:xfrm>
            <a:off x="548640" y="5486400"/>
            <a:ext cx="3840480" cy="457200"/>
          </a:xfrm>
          <a:prstGeom prst="rect">
            <a:avLst/>
          </a:prstGeom>
          <a:noFill/>
          <a:ln/>
        </p:spPr>
        <p:txBody>
          <a:bodyPr wrap="square" lIns="0" tIns="0" rIns="0" bIns="0" rtlCol="0" anchor="ctr"/>
          <a:lstStyle/>
          <a:p>
            <a:pPr indent="0" marL="0">
              <a:buNone/>
            </a:pPr>
            <a:r>
              <a:rPr lang="en-US" sz="800" dirty="0">
                <a:solidFill>
                  <a:srgbClr val="8FA3BF"/>
                </a:solidFill>
                <a:latin typeface="Malgun Gothic" pitchFamily="34" charset="0"/>
                <a:ea typeface="Malgun Gothic" pitchFamily="34" charset="-122"/>
                <a:cs typeface="Malgun Gothic" pitchFamily="34" charset="-120"/>
              </a:rPr>
              <a:t>https://drjinfit-ship-it.github.io/jinkim/web/?mode=join&amp;s=suwon-2&amp;p=foot&amp;t=post</a:t>
            </a:r>
            <a:endParaRPr lang="en-US" sz="800" dirty="0"/>
          </a:p>
        </p:txBody>
      </p:sp>
      <p:sp>
        <p:nvSpPr>
          <p:cNvPr id="9" name="Shape 6"/>
          <p:cNvSpPr/>
          <p:nvPr/>
        </p:nvSpPr>
        <p:spPr>
          <a:xfrm>
            <a:off x="4572000" y="1828800"/>
            <a:ext cx="7068312" cy="1554480"/>
          </a:xfrm>
          <a:prstGeom prst="roundRect">
            <a:avLst>
              <a:gd name="adj" fmla="val 8824"/>
            </a:avLst>
          </a:prstGeom>
          <a:solidFill>
            <a:srgbClr val="132446"/>
          </a:solidFill>
          <a:ln w="12700">
            <a:solidFill>
              <a:srgbClr val="132446"/>
            </a:solidFill>
            <a:prstDash val="solid"/>
          </a:ln>
        </p:spPr>
      </p:sp>
      <p:sp>
        <p:nvSpPr>
          <p:cNvPr id="10" name="Text 7"/>
          <p:cNvSpPr txBox="1"/>
          <p:nvPr/>
        </p:nvSpPr>
        <p:spPr>
          <a:xfrm>
            <a:off x="4800600" y="1965960"/>
            <a:ext cx="6611112" cy="274320"/>
          </a:xfrm>
          <a:prstGeom prst="rect">
            <a:avLst/>
          </a:prstGeom>
          <a:noFill/>
          <a:ln/>
        </p:spPr>
        <p:txBody>
          <a:bodyPr wrap="square" lIns="0" tIns="0" rIns="0" bIns="0" rtlCol="0" anchor="ct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이 강의장 전체 · 불편감 감소 평균</a:t>
            </a:r>
            <a:endParaRPr lang="en-US" sz="1000" dirty="0"/>
          </a:p>
        </p:txBody>
      </p:sp>
      <p:sp>
        <p:nvSpPr>
          <p:cNvPr id="11" name="Text 8"/>
          <p:cNvSpPr txBox="1"/>
          <p:nvPr/>
        </p:nvSpPr>
        <p:spPr>
          <a:xfrm>
            <a:off x="4800600" y="2240280"/>
            <a:ext cx="6611112" cy="822960"/>
          </a:xfrm>
          <a:prstGeom prst="rect">
            <a:avLst/>
          </a:prstGeom>
          <a:noFill/>
          <a:ln/>
        </p:spPr>
        <p:txBody>
          <a:bodyPr wrap="square" lIns="0" tIns="0" rIns="0" bIns="0" rtlCol="0" anchor="ctr"/>
          <a:lstStyle/>
          <a:p>
            <a:pPr indent="0" marL="0">
              <a:buNone/>
            </a:pPr>
            <a:r>
              <a:rPr lang="en-US" sz="4000" b="1" dirty="0">
                <a:solidFill>
                  <a:srgbClr val="3DD68C"/>
                </a:solidFill>
                <a:latin typeface="Malgun Gothic" pitchFamily="34" charset="0"/>
                <a:ea typeface="Malgun Gothic" pitchFamily="34" charset="-122"/>
                <a:cs typeface="Malgun Gothic" pitchFamily="34" charset="-120"/>
              </a:rPr>
              <a:t>— 점 감소</a:t>
            </a:r>
            <a:endParaRPr lang="en-US" sz="4000" dirty="0"/>
          </a:p>
        </p:txBody>
      </p:sp>
      <p:sp>
        <p:nvSpPr>
          <p:cNvPr id="12" name="Text 9"/>
          <p:cNvSpPr txBox="1"/>
          <p:nvPr/>
        </p:nvSpPr>
        <p:spPr>
          <a:xfrm>
            <a:off x="4800600" y="3017520"/>
            <a:ext cx="6611112" cy="365760"/>
          </a:xfrm>
          <a:prstGeom prst="rect">
            <a:avLst/>
          </a:prstGeom>
          <a:noFill/>
          <a:ln/>
        </p:spPr>
        <p:txBody>
          <a:bodyPr wrap="square" lIns="0" tIns="0" rIns="0" bIns="0" rtlCol="0" anchor="ctr"/>
          <a:lstStyle/>
          <a:p>
            <a:pPr indent="0" marL="0">
              <a:buNone/>
            </a:pPr>
            <a:r>
              <a:rPr lang="en-US" sz="1050" dirty="0">
                <a:solidFill>
                  <a:srgbClr val="C5D0E2"/>
                </a:solidFill>
                <a:latin typeface="Malgun Gothic" pitchFamily="34" charset="0"/>
                <a:ea typeface="Malgun Gothic" pitchFamily="34" charset="-122"/>
                <a:cs typeface="Malgun Gothic" pitchFamily="34" charset="-120"/>
              </a:rPr>
              <a:t>현장에서는 실시간 보드로 평균·개선율이 표시됩니다. 같은 부위, 같은 기준으로 다시 입력합니다.</a:t>
            </a:r>
            <a:endParaRPr lang="en-US" sz="1050" dirty="0"/>
          </a:p>
        </p:txBody>
      </p:sp>
      <p:sp>
        <p:nvSpPr>
          <p:cNvPr id="13" name="Text 10"/>
          <p:cNvSpPr txBox="1"/>
          <p:nvPr/>
        </p:nvSpPr>
        <p:spPr>
          <a:xfrm>
            <a:off x="4572000" y="3657600"/>
            <a:ext cx="7068312" cy="1097280"/>
          </a:xfrm>
          <a:prstGeom prst="rect">
            <a:avLst/>
          </a:prstGeom>
          <a:noFill/>
          <a:ln/>
        </p:spPr>
        <p:txBody>
          <a:bodyPr wrap="square" lIns="0" tIns="0" rIns="0" bIns="0" rtlCol="0" anchor="t"/>
          <a:lstStyle/>
          <a:p>
            <a:pPr indent="0" marL="0">
              <a:buNone/>
            </a:pPr>
            <a:r>
              <a:rPr lang="en-US" sz="1200" dirty="0">
                <a:solidFill>
                  <a:srgbClr val="C5D0E2"/>
                </a:solidFill>
                <a:latin typeface="Malgun Gothic" pitchFamily="34" charset="0"/>
                <a:ea typeface="Malgun Gothic" pitchFamily="34" charset="-122"/>
                <a:cs typeface="Malgun Gothic" pitchFamily="34" charset="-120"/>
              </a:rPr>
              <a:t>소결(현장 수치로 채움): 사건 1 소결 — 발 불편감 평균 {drop}점 감소, 전후 응답 중 사전 1점 이상 중 {pct}%가 1점 이상 감소(2점 이상 {pct2}%, 자기보고). 각자 판결: 푼 발이 다른가, 같은가. 1분 버전은 발가락 교대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진술 접수 · BEFORE · 목</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10</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목 — 지금 불편감은 몇 점입니까?</a:t>
            </a:r>
            <a:endParaRPr lang="en-US" sz="3000" dirty="0"/>
          </a:p>
        </p:txBody>
      </p:sp>
      <p:sp>
        <p:nvSpPr>
          <p:cNvPr id="6" name="Shape 4"/>
          <p:cNvSpPr/>
          <p:nvPr/>
        </p:nvSpPr>
        <p:spPr>
          <a:xfrm>
            <a:off x="548640" y="1828800"/>
            <a:ext cx="3566160" cy="3566160"/>
          </a:xfrm>
          <a:prstGeom prst="roundRect">
            <a:avLst>
              <a:gd name="adj" fmla="val 5128"/>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31520" y="2011680"/>
            <a:ext cx="3200400" cy="3200400"/>
          </a:xfrm>
          <a:prstGeom prst="rect">
            <a:avLst/>
          </a:prstGeom>
        </p:spPr>
      </p:pic>
      <p:sp>
        <p:nvSpPr>
          <p:cNvPr id="8" name="Text 5"/>
          <p:cNvSpPr txBox="1"/>
          <p:nvPr/>
        </p:nvSpPr>
        <p:spPr>
          <a:xfrm>
            <a:off x="548640" y="5486400"/>
            <a:ext cx="3840480" cy="457200"/>
          </a:xfrm>
          <a:prstGeom prst="rect">
            <a:avLst/>
          </a:prstGeom>
          <a:noFill/>
          <a:ln/>
        </p:spPr>
        <p:txBody>
          <a:bodyPr wrap="square" lIns="0" tIns="0" rIns="0" bIns="0" rtlCol="0" anchor="ctr"/>
          <a:lstStyle/>
          <a:p>
            <a:pPr indent="0" marL="0">
              <a:buNone/>
            </a:pPr>
            <a:r>
              <a:rPr lang="en-US" sz="800" dirty="0">
                <a:solidFill>
                  <a:srgbClr val="8FA3BF"/>
                </a:solidFill>
                <a:latin typeface="Malgun Gothic" pitchFamily="34" charset="0"/>
                <a:ea typeface="Malgun Gothic" pitchFamily="34" charset="-122"/>
                <a:cs typeface="Malgun Gothic" pitchFamily="34" charset="-120"/>
              </a:rPr>
              <a:t>https://drjinfit-ship-it.github.io/jinkim/web/?mode=join&amp;s=suwon-2&amp;p=neck&amp;t=pre</a:t>
            </a:r>
            <a:endParaRPr lang="en-US" sz="800" dirty="0"/>
          </a:p>
        </p:txBody>
      </p:sp>
      <p:sp>
        <p:nvSpPr>
          <p:cNvPr id="9" name="Shape 6"/>
          <p:cNvSpPr/>
          <p:nvPr/>
        </p:nvSpPr>
        <p:spPr>
          <a:xfrm>
            <a:off x="4572000" y="1828800"/>
            <a:ext cx="7068312" cy="1554480"/>
          </a:xfrm>
          <a:prstGeom prst="roundRect">
            <a:avLst>
              <a:gd name="adj" fmla="val 8824"/>
            </a:avLst>
          </a:prstGeom>
          <a:solidFill>
            <a:srgbClr val="132446"/>
          </a:solidFill>
          <a:ln w="12700">
            <a:solidFill>
              <a:srgbClr val="132446"/>
            </a:solidFill>
            <a:prstDash val="solid"/>
          </a:ln>
        </p:spPr>
      </p:sp>
      <p:sp>
        <p:nvSpPr>
          <p:cNvPr id="10" name="Text 7"/>
          <p:cNvSpPr txBox="1"/>
          <p:nvPr/>
        </p:nvSpPr>
        <p:spPr>
          <a:xfrm>
            <a:off x="4800600" y="1965960"/>
            <a:ext cx="6611112" cy="274320"/>
          </a:xfrm>
          <a:prstGeom prst="rect">
            <a:avLst/>
          </a:prstGeom>
          <a:noFill/>
          <a:ln/>
        </p:spPr>
        <p:txBody>
          <a:bodyPr wrap="square" lIns="0" tIns="0" rIns="0" bIns="0" rtlCol="0" anchor="ct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진술 접수</a:t>
            </a:r>
            <a:endParaRPr lang="en-US" sz="1000" dirty="0"/>
          </a:p>
        </p:txBody>
      </p:sp>
      <p:sp>
        <p:nvSpPr>
          <p:cNvPr id="11" name="Text 8"/>
          <p:cNvSpPr txBox="1"/>
          <p:nvPr/>
        </p:nvSpPr>
        <p:spPr>
          <a:xfrm>
            <a:off x="4800600" y="2240280"/>
            <a:ext cx="6611112" cy="822960"/>
          </a:xfrm>
          <a:prstGeom prst="rect">
            <a:avLst/>
          </a:prstGeom>
          <a:noFill/>
          <a:ln/>
        </p:spPr>
        <p:txBody>
          <a:bodyPr wrap="square" lIns="0" tIns="0" rIns="0" bIns="0" rtlCol="0" anchor="ctr"/>
          <a:lstStyle/>
          <a:p>
            <a:pPr indent="0" marL="0">
              <a:buNone/>
            </a:pPr>
            <a:r>
              <a:rPr lang="en-US" sz="4000" b="1" dirty="0">
                <a:solidFill>
                  <a:srgbClr val="F5B13D"/>
                </a:solidFill>
                <a:latin typeface="Malgun Gothic" pitchFamily="34" charset="0"/>
                <a:ea typeface="Malgun Gothic" pitchFamily="34" charset="-122"/>
                <a:cs typeface="Malgun Gothic" pitchFamily="34" charset="-120"/>
              </a:rPr>
              <a:t>0 ~ 10</a:t>
            </a:r>
            <a:endParaRPr lang="en-US" sz="4000" dirty="0"/>
          </a:p>
        </p:txBody>
      </p:sp>
      <p:sp>
        <p:nvSpPr>
          <p:cNvPr id="12" name="Text 9"/>
          <p:cNvSpPr txBox="1"/>
          <p:nvPr/>
        </p:nvSpPr>
        <p:spPr>
          <a:xfrm>
            <a:off x="4800600" y="3017520"/>
            <a:ext cx="6611112" cy="365760"/>
          </a:xfrm>
          <a:prstGeom prst="rect">
            <a:avLst/>
          </a:prstGeom>
          <a:noFill/>
          <a:ln/>
        </p:spPr>
        <p:txBody>
          <a:bodyPr wrap="square" lIns="0" tIns="0" rIns="0" bIns="0" rtlCol="0" anchor="ctr"/>
          <a:lstStyle/>
          <a:p>
            <a:pPr indent="0" marL="0">
              <a:buNone/>
            </a:pPr>
            <a:r>
              <a:rPr lang="en-US" sz="1050" dirty="0">
                <a:solidFill>
                  <a:srgbClr val="C5D0E2"/>
                </a:solidFill>
                <a:latin typeface="Malgun Gothic" pitchFamily="34" charset="0"/>
                <a:ea typeface="Malgun Gothic" pitchFamily="34" charset="-122"/>
                <a:cs typeface="Malgun Gothic" pitchFamily="34" charset="-120"/>
              </a:rPr>
              <a:t>사건 2 접수 — 목. 먼저 확인 동작 10초: 정면에서 좌우로 같은 속도 회전. 그 직후 지금 이 순간의 불편감(걸리는 느낌 포함)을 0~10으로 진술합니다. 팔 저림·손 힘 빠짐이 있는 분은 압박은 생략하고 등 세우기만 하셔도 됩니다.</a:t>
            </a:r>
            <a:endParaRPr lang="en-US" sz="1050" dirty="0"/>
          </a:p>
        </p:txBody>
      </p:sp>
      <p:sp>
        <p:nvSpPr>
          <p:cNvPr id="13" name="Text 10"/>
          <p:cNvSpPr txBox="1"/>
          <p:nvPr/>
        </p:nvSpPr>
        <p:spPr>
          <a:xfrm>
            <a:off x="4572000" y="3657600"/>
            <a:ext cx="7068312" cy="1097280"/>
          </a:xfrm>
          <a:prstGeom prst="rect">
            <a:avLst/>
          </a:prstGeom>
          <a:noFill/>
          <a:ln/>
        </p:spPr>
        <p:txBody>
          <a:bodyPr wrap="square" lIns="0" tIns="0" rIns="0" bIns="0" rtlCol="0" anchor="t"/>
          <a:lstStyle/>
          <a:p>
            <a:pPr indent="0" marL="0">
              <a:buNone/>
            </a:pPr>
            <a:r>
              <a:rPr lang="en-US" sz="1200" dirty="0">
                <a:solidFill>
                  <a:srgbClr val="C5D0E2"/>
                </a:solidFill>
                <a:latin typeface="Malgun Gothic" pitchFamily="34" charset="0"/>
                <a:ea typeface="Malgun Gothic" pitchFamily="34" charset="-122"/>
                <a:cs typeface="Malgun Gothic" pitchFamily="34" charset="-120"/>
              </a:rPr>
              <a:t>이름·연락처·소속을 받지 않습니다. 이 휴대폰의 무작위 번호로만 강의 전·후를 짝지어 익명 집계합니다.</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증거조사 ② · 목 · 5분</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11</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2600" b="1" dirty="0">
                <a:solidFill>
                  <a:srgbClr val="F3F6FB"/>
                </a:solidFill>
                <a:latin typeface="Malgun Gothic" pitchFamily="34" charset="0"/>
                <a:ea typeface="Malgun Gothic" pitchFamily="34" charset="-122"/>
                <a:cs typeface="Malgun Gothic" pitchFamily="34" charset="-120"/>
              </a:rPr>
              <a:t>목은 피해자, 범인은 등입니다. 피해자만 주무르지 마세요.</a:t>
            </a:r>
            <a:endParaRPr lang="en-US" sz="2600" dirty="0"/>
          </a:p>
        </p:txBody>
      </p:sp>
      <p:sp>
        <p:nvSpPr>
          <p:cNvPr id="6" name="Text 4"/>
          <p:cNvSpPr txBox="1"/>
          <p:nvPr/>
        </p:nvSpPr>
        <p:spPr>
          <a:xfrm>
            <a:off x="548640" y="1600200"/>
            <a:ext cx="11091672" cy="548640"/>
          </a:xfrm>
          <a:prstGeom prst="rect">
            <a:avLst/>
          </a:prstGeom>
          <a:noFill/>
          <a:ln/>
        </p:spPr>
        <p:txBody>
          <a:bodyPr wrap="square" lIns="0" tIns="0" rIns="0" bIns="0" rtlCol="0" anchor="t"/>
          <a:lstStyle/>
          <a:p>
            <a:pPr indent="0" marL="0">
              <a:buNone/>
            </a:pPr>
            <a:r>
              <a:rPr lang="en-US" sz="1000" b="1" dirty="0">
                <a:solidFill>
                  <a:srgbClr val="F5B13D"/>
                </a:solidFill>
                <a:latin typeface="Malgun Gothic" pitchFamily="34" charset="0"/>
                <a:ea typeface="Malgun Gothic" pitchFamily="34" charset="-122"/>
                <a:cs typeface="Malgun Gothic" pitchFamily="34" charset="-120"/>
              </a:rPr>
              <a:t>주장  </a:t>
            </a:r>
            <a:pPr indent="0" marL="0">
              <a:buNone/>
            </a:pPr>
            <a:r>
              <a:rPr lang="en-US" sz="1300" dirty="0">
                <a:solidFill>
                  <a:srgbClr val="C5D0E2"/>
                </a:solidFill>
                <a:latin typeface="Malgun Gothic" pitchFamily="34" charset="0"/>
                <a:ea typeface="Malgun Gothic" pitchFamily="34" charset="-122"/>
                <a:cs typeface="Malgun Gothic" pitchFamily="34" charset="-120"/>
              </a:rPr>
              <a:t>목은 피해자, 범인은 등(상부 흉추)입니다. 등이 굽으면 머리가 앞으로 나가 목 근육이 더 오래 일한다는 가설입니다. 오늘 목은 한 번도 만지지 않고 등만 세운 뒤 회전이 달라지는지 확인합니다 — 쟁점 1·4·5를 여기서 답합니다.</a:t>
            </a:r>
            <a:pPr indent="0" marL="0">
              <a:buNone/>
            </a:pPr>
            <a:r>
              <a:rPr lang="en-US" sz="1000" b="1" dirty="0">
                <a:solidFill>
                  <a:srgbClr val="8FA3BF"/>
                </a:solidFill>
                <a:latin typeface="Malgun Gothic" pitchFamily="34" charset="0"/>
                <a:ea typeface="Malgun Gothic" pitchFamily="34" charset="-122"/>
                <a:cs typeface="Malgun Gothic" pitchFamily="34" charset="-120"/>
              </a:rPr>
              <a:t>    반대 가설  </a:t>
            </a:r>
            <a:pPr indent="0" marL="0">
              <a:buNone/>
            </a:pPr>
            <a:r>
              <a:rPr lang="en-US" sz="1200" dirty="0">
                <a:solidFill>
                  <a:srgbClr val="8FA3BF"/>
                </a:solidFill>
                <a:latin typeface="Malgun Gothic" pitchFamily="34" charset="0"/>
                <a:ea typeface="Malgun Gothic" pitchFamily="34" charset="-122"/>
                <a:cs typeface="Malgun Gothic" pitchFamily="34" charset="-120"/>
              </a:rPr>
              <a:t>"고개를 끄덕이면 디스크가 생기나?" — 그렇게 말하지 않습니다. 끄덕임 자체가 병이라는 근거는 없습니다. 오늘의 발견은 '내가 끄덕이는 줄 몰랐다'는 것, 즉 목이 무엇을 하는지 모른 채 하루를 보낸다는 점입니다. 경청을 줄이라는 게 아니라 주의를 상대와 내 몸에 나누라는 뜻입니다.</a:t>
            </a:r>
            <a:endParaRPr lang="en-US" sz="1000" dirty="0"/>
          </a:p>
        </p:txBody>
      </p:sp>
      <p:sp>
        <p:nvSpPr>
          <p:cNvPr id="7" name="Shape 5"/>
          <p:cNvSpPr/>
          <p:nvPr/>
        </p:nvSpPr>
        <p:spPr>
          <a:xfrm>
            <a:off x="548640" y="2240280"/>
            <a:ext cx="3544824" cy="2788920"/>
          </a:xfrm>
          <a:prstGeom prst="roundRect">
            <a:avLst>
              <a:gd name="adj" fmla="val 4918"/>
            </a:avLst>
          </a:prstGeom>
          <a:solidFill>
            <a:srgbClr val="132446"/>
          </a:solidFill>
          <a:ln w="12700">
            <a:solidFill>
              <a:srgbClr val="132446"/>
            </a:solidFill>
            <a:prstDash val="solid"/>
          </a:ln>
        </p:spPr>
      </p:sp>
      <p:sp>
        <p:nvSpPr>
          <p:cNvPr id="8" name="Text 6"/>
          <p:cNvSpPr txBox="1"/>
          <p:nvPr/>
        </p:nvSpPr>
        <p:spPr>
          <a:xfrm>
            <a:off x="749808"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현장 검증 · 체크</a:t>
            </a:r>
            <a:endParaRPr lang="en-US" sz="1000" dirty="0"/>
          </a:p>
        </p:txBody>
      </p:sp>
      <p:sp>
        <p:nvSpPr>
          <p:cNvPr id="9" name="Text 7"/>
          <p:cNvSpPr txBox="1"/>
          <p:nvPr/>
        </p:nvSpPr>
        <p:spPr>
          <a:xfrm>
            <a:off x="749808" y="2697480"/>
            <a:ext cx="3142488" cy="731520"/>
          </a:xfrm>
          <a:prstGeom prst="rect">
            <a:avLst/>
          </a:prstGeom>
          <a:noFill/>
          <a:ln/>
        </p:spPr>
        <p:txBody>
          <a:bodyPr wrap="square" lIns="0" tIns="0" rIns="0" bIns="0" rtlCol="0" anchor="t"/>
          <a:lstStyle/>
          <a:p>
            <a:pPr indent="0" marL="0">
              <a:buNone/>
            </a:pPr>
            <a:endParaRPr lang="en-US" sz="1500" dirty="0"/>
          </a:p>
        </p:txBody>
      </p:sp>
      <p:sp>
        <p:nvSpPr>
          <p:cNvPr id="10" name="Text 8"/>
          <p:cNvSpPr txBox="1"/>
          <p:nvPr/>
        </p:nvSpPr>
        <p:spPr>
          <a:xfrm>
            <a:off x="749808" y="3429000"/>
            <a:ext cx="3142488" cy="146304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쟁점 5 목 자가 확인 동작(10초): 정면에서 좌우로 편안한 범위까지 같은 속도로 회전. 더 걸리는 쪽을 기억합니다. 진단이 아니라 오늘의 기준선입니다.</a:t>
            </a:r>
            <a:endParaRPr lang="en-US" sz="1150" dirty="0"/>
          </a:p>
        </p:txBody>
      </p:sp>
      <p:sp>
        <p:nvSpPr>
          <p:cNvPr id="11" name="Shape 9"/>
          <p:cNvSpPr/>
          <p:nvPr/>
        </p:nvSpPr>
        <p:spPr>
          <a:xfrm>
            <a:off x="4322064" y="2240280"/>
            <a:ext cx="3544824" cy="2788920"/>
          </a:xfrm>
          <a:prstGeom prst="roundRect">
            <a:avLst>
              <a:gd name="adj" fmla="val 4918"/>
            </a:avLst>
          </a:prstGeom>
          <a:solidFill>
            <a:srgbClr val="0F2E3F"/>
          </a:solidFill>
          <a:ln w="12700">
            <a:solidFill>
              <a:srgbClr val="0F2E3F"/>
            </a:solidFill>
            <a:prstDash val="solid"/>
          </a:ln>
        </p:spPr>
      </p:sp>
      <p:sp>
        <p:nvSpPr>
          <p:cNvPr id="12" name="Text 10"/>
          <p:cNvSpPr txBox="1"/>
          <p:nvPr/>
        </p:nvSpPr>
        <p:spPr>
          <a:xfrm>
            <a:off x="4523232"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개입 실험 · 10초 리셋 · 한쪽만</a:t>
            </a:r>
            <a:endParaRPr lang="en-US" sz="1000" dirty="0"/>
          </a:p>
        </p:txBody>
      </p:sp>
      <p:sp>
        <p:nvSpPr>
          <p:cNvPr id="13" name="Text 11"/>
          <p:cNvSpPr txBox="1"/>
          <p:nvPr/>
        </p:nvSpPr>
        <p:spPr>
          <a:xfrm>
            <a:off x="4523232" y="2697480"/>
            <a:ext cx="3142488" cy="731520"/>
          </a:xfrm>
          <a:prstGeom prst="rect">
            <a:avLst/>
          </a:prstGeom>
          <a:noFill/>
          <a:ln/>
        </p:spPr>
        <p:txBody>
          <a:bodyPr wrap="square" lIns="0" tIns="0" rIns="0" bIns="0" rtlCol="0" anchor="t"/>
          <a:lstStyle/>
          <a:p>
            <a:pPr indent="0" marL="0">
              <a:buNone/>
            </a:pPr>
            <a:endParaRPr lang="en-US" sz="1500" dirty="0"/>
          </a:p>
        </p:txBody>
      </p:sp>
      <p:sp>
        <p:nvSpPr>
          <p:cNvPr id="14" name="Text 12"/>
          <p:cNvSpPr txBox="1"/>
          <p:nvPr/>
        </p:nvSpPr>
        <p:spPr>
          <a:xfrm>
            <a:off x="4523232" y="3429000"/>
            <a:ext cx="3142488"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범인 소환 — 의자 등받이에 등 위쪽을 붙이고 배를 살짝 조여 등 세우기, 소리 나게 5초 내쉬기 ×3. 목은 건드리지 않습니다. 이것만이 재판 중 '1분 버전'입니다(쟁점 4)</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공범 — 뒤통수 아래 움푹한 곳(양쪽)에 엄지, 아주 천천히 좌우 비교, 5초 내쉬기 ×3. 어지럽거나 눈앞이 흐려지면 즉시 손 떼기</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습관 인지 — 경청 중 내 목이 지금 무엇을 하는지 알아차리기. 끄덕임이 해롭다는 근거는 없습니다. 벌금은 '내 몸을 인지하는가'를 묻는 게임이지 끄덕이지 말라는 처방이 아닙니다. 경청 70%는 상대에게, 30%는 내 몸에</a:t>
            </a:r>
            <a:endParaRPr lang="en-US" sz="1150" dirty="0"/>
          </a:p>
        </p:txBody>
      </p:sp>
      <p:sp>
        <p:nvSpPr>
          <p:cNvPr id="15" name="Shape 13"/>
          <p:cNvSpPr/>
          <p:nvPr/>
        </p:nvSpPr>
        <p:spPr>
          <a:xfrm>
            <a:off x="8095488" y="2240280"/>
            <a:ext cx="3544824" cy="2788920"/>
          </a:xfrm>
          <a:prstGeom prst="roundRect">
            <a:avLst>
              <a:gd name="adj" fmla="val 4918"/>
            </a:avLst>
          </a:prstGeom>
          <a:solidFill>
            <a:srgbClr val="3A2A0F"/>
          </a:solidFill>
          <a:ln w="12700">
            <a:solidFill>
              <a:srgbClr val="3A2A0F"/>
            </a:solidFill>
            <a:prstDash val="solid"/>
          </a:ln>
        </p:spPr>
      </p:sp>
      <p:sp>
        <p:nvSpPr>
          <p:cNvPr id="16" name="Text 14"/>
          <p:cNvSpPr txBox="1"/>
          <p:nvPr/>
        </p:nvSpPr>
        <p:spPr>
          <a:xfrm>
            <a:off x="8296656"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대질 · 좌우 비교</a:t>
            </a:r>
            <a:endParaRPr lang="en-US" sz="1000" dirty="0"/>
          </a:p>
        </p:txBody>
      </p:sp>
      <p:sp>
        <p:nvSpPr>
          <p:cNvPr id="17" name="Text 15"/>
          <p:cNvSpPr txBox="1"/>
          <p:nvPr/>
        </p:nvSpPr>
        <p:spPr>
          <a:xfrm>
            <a:off x="8296656" y="2697480"/>
            <a:ext cx="3142488" cy="731520"/>
          </a:xfrm>
          <a:prstGeom prst="rect">
            <a:avLst/>
          </a:prstGeom>
          <a:noFill/>
          <a:ln/>
        </p:spPr>
        <p:txBody>
          <a:bodyPr wrap="square" lIns="0" tIns="0" rIns="0" bIns="0" rtlCol="0" anchor="t"/>
          <a:lstStyle/>
          <a:p>
            <a:pPr indent="0" marL="0">
              <a:buNone/>
            </a:pPr>
            <a:endParaRPr lang="en-US" sz="1500" dirty="0"/>
          </a:p>
        </p:txBody>
      </p:sp>
      <p:sp>
        <p:nvSpPr>
          <p:cNvPr id="18" name="Text 16"/>
          <p:cNvSpPr txBox="1"/>
          <p:nvPr/>
        </p:nvSpPr>
        <p:spPr>
          <a:xfrm>
            <a:off x="8296656" y="3429000"/>
            <a:ext cx="3142488"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대질: 같은 속도로 다시 회전. 각도보다 '덜 걸리는 느낌'을 확인합니다. 목을 건드리지 않았는데 달라졌다면, 적어도 자세가 목 감각에 영향을 준다는 것은 확인한 셈입니다 — 범인 확정은 아니고 가설 지지까지.</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집행(유지): 화면 위쪽을 눈높이 근처로. 기록을 볼 때 30분마다 등받이에 등 상부를 붙이고 한 번 세웁니다. 1분 버전: 등받이 + 배 조이기 + 내쉬기 ×3 — 재판 중 티 나지 않게.</a:t>
            </a:r>
            <a:endParaRPr lang="en-US" sz="1150" dirty="0"/>
          </a:p>
        </p:txBody>
      </p:sp>
      <p:sp>
        <p:nvSpPr>
          <p:cNvPr id="19" name="Text 17"/>
          <p:cNvSpPr txBox="1"/>
          <p:nvPr/>
        </p:nvSpPr>
        <p:spPr>
          <a:xfrm>
            <a:off x="548640" y="5120640"/>
            <a:ext cx="11091672" cy="640080"/>
          </a:xfrm>
          <a:prstGeom prst="rect">
            <a:avLst/>
          </a:prstGeom>
          <a:noFill/>
          <a:ln/>
        </p:spPr>
        <p:txBody>
          <a:bodyPr wrap="square" lIns="0" tIns="0" rIns="0" bIns="0" rtlCol="0" anchor="t"/>
          <a:lstStyle/>
          <a:p>
            <a:pPr indent="0" marL="0">
              <a:buNone/>
            </a:pPr>
            <a:r>
              <a:rPr lang="en-US" sz="950" dirty="0">
                <a:solidFill>
                  <a:srgbClr val="C5D0E2"/>
                </a:solidFill>
                <a:latin typeface="Malgun Gothic" pitchFamily="34" charset="0"/>
                <a:ea typeface="Malgun Gothic" pitchFamily="34" charset="-122"/>
                <a:cs typeface="Malgun Gothic" pitchFamily="34" charset="-120"/>
              </a:rPr>
              <a:t>문헌: 하루 4시간 이상 집중적 키보드·마우스 조작 등 장시간 고정 사무작업의 한 유형을 국가 기준이 부담작업으로 지정 — 기록 검토·경청은 직접 대상이 아닌 유추 적용 (고용노동부 근골격계부담작업 고시)</a:t>
            </a:r>
            <a:endParaRPr lang="en-US" sz="950" dirty="0"/>
          </a:p>
          <a:p>
            <a:pPr indent="0" marL="0">
              <a:buNone/>
            </a:pPr>
            <a:r>
              <a:rPr lang="en-US" sz="950" dirty="0">
                <a:solidFill>
                  <a:srgbClr val="C5D0E2"/>
                </a:solidFill>
                <a:latin typeface="Malgun Gothic" pitchFamily="34" charset="0"/>
                <a:ea typeface="Malgun Gothic" pitchFamily="34" charset="-122"/>
                <a:cs typeface="Malgun Gothic" pitchFamily="34" charset="-120"/>
              </a:rPr>
              <a:t>현장: 1회차: 경청 중 무의식적 고개 끄덕임을 본인이 인지하지 못한 참가자 다수, '경청하는 직업병' 손들기 반응 (1회차는 매트·누운 자세, 오늘은 의자 버전 — 조건이 다르므로 오늘이 의자 버전의 첫 기록) (1회차(8/31) 현장 관찰 · 자기보고 · 기록 없음(참고))</a:t>
            </a:r>
            <a:endParaRPr lang="en-US" sz="950" dirty="0"/>
          </a:p>
          <a:p>
            <a:pPr indent="0" marL="0">
              <a:buNone/>
            </a:pPr>
            <a:r>
              <a:rPr lang="en-US" sz="950" dirty="0">
                <a:solidFill>
                  <a:srgbClr val="C5D0E2"/>
                </a:solidFill>
                <a:latin typeface="Malgun Gothic" pitchFamily="34" charset="0"/>
                <a:ea typeface="Malgun Gothic" pitchFamily="34" charset="-122"/>
                <a:cs typeface="Malgun Gothic" pitchFamily="34" charset="-120"/>
              </a:rPr>
              <a:t>실험: 오늘 목을 만지지 않고 등만 세운 뒤 회전 재확인 + 사전/사후 QR (현장 자기 대조)</a:t>
            </a:r>
            <a:endParaRPr lang="en-US" sz="950" dirty="0"/>
          </a:p>
        </p:txBody>
      </p:sp>
      <p:sp>
        <p:nvSpPr>
          <p:cNvPr id="20" name="Text 18"/>
          <p:cNvSpPr txBox="1"/>
          <p:nvPr/>
        </p:nvSpPr>
        <p:spPr>
          <a:xfrm>
            <a:off x="548640" y="5715000"/>
            <a:ext cx="11091672" cy="457200"/>
          </a:xfrm>
          <a:prstGeom prst="rect">
            <a:avLst/>
          </a:prstGeom>
          <a:noFill/>
          <a:ln/>
        </p:spPr>
        <p:txBody>
          <a:bodyPr wrap="square" lIns="0" tIns="0" rIns="0" bIns="0" rtlCol="0" anchor="ctr"/>
          <a:lstStyle/>
          <a:p>
            <a:pPr indent="0" marL="0">
              <a:buNone/>
            </a:pPr>
            <a:r>
              <a:rPr lang="en-US" sz="1100" dirty="0">
                <a:solidFill>
                  <a:srgbClr val="FFC9C9"/>
                </a:solidFill>
                <a:latin typeface="Malgun Gothic" pitchFamily="34" charset="0"/>
                <a:ea typeface="Malgun Gothic" pitchFamily="34" charset="-122"/>
                <a:cs typeface="Malgun Gothic" pitchFamily="34" charset="-120"/>
              </a:rPr>
              <a:t>! 팔 저림·손 힘 빠짐·어지럼이 있으면 압박은 생략하고 등 세우기만. 목을 뒤로 꺾지 않습니다. 뒤통수 아래는 민감한 부위이므로 천천히·가볍게, 어지럼·시야 흐림·구역감이 오면 즉시 중단합니다. 저림·찌릿함은 이유를 따지지 않고 중단 신호입니다. 목 진료 중인 분은 담당 의료진 지시를 우선합니다.</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재검사 · AFTER · 목</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12</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목 — 재검사: 지금은 몇 점입니까?</a:t>
            </a:r>
            <a:endParaRPr lang="en-US" sz="3000" dirty="0"/>
          </a:p>
        </p:txBody>
      </p:sp>
      <p:sp>
        <p:nvSpPr>
          <p:cNvPr id="6" name="Shape 4"/>
          <p:cNvSpPr/>
          <p:nvPr/>
        </p:nvSpPr>
        <p:spPr>
          <a:xfrm>
            <a:off x="548640" y="1828800"/>
            <a:ext cx="3566160" cy="3566160"/>
          </a:xfrm>
          <a:prstGeom prst="roundRect">
            <a:avLst>
              <a:gd name="adj" fmla="val 5128"/>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31520" y="2011680"/>
            <a:ext cx="3200400" cy="3200400"/>
          </a:xfrm>
          <a:prstGeom prst="rect">
            <a:avLst/>
          </a:prstGeom>
        </p:spPr>
      </p:pic>
      <p:sp>
        <p:nvSpPr>
          <p:cNvPr id="8" name="Text 5"/>
          <p:cNvSpPr txBox="1"/>
          <p:nvPr/>
        </p:nvSpPr>
        <p:spPr>
          <a:xfrm>
            <a:off x="548640" y="5486400"/>
            <a:ext cx="3840480" cy="457200"/>
          </a:xfrm>
          <a:prstGeom prst="rect">
            <a:avLst/>
          </a:prstGeom>
          <a:noFill/>
          <a:ln/>
        </p:spPr>
        <p:txBody>
          <a:bodyPr wrap="square" lIns="0" tIns="0" rIns="0" bIns="0" rtlCol="0" anchor="ctr"/>
          <a:lstStyle/>
          <a:p>
            <a:pPr indent="0" marL="0">
              <a:buNone/>
            </a:pPr>
            <a:r>
              <a:rPr lang="en-US" sz="800" dirty="0">
                <a:solidFill>
                  <a:srgbClr val="8FA3BF"/>
                </a:solidFill>
                <a:latin typeface="Malgun Gothic" pitchFamily="34" charset="0"/>
                <a:ea typeface="Malgun Gothic" pitchFamily="34" charset="-122"/>
                <a:cs typeface="Malgun Gothic" pitchFamily="34" charset="-120"/>
              </a:rPr>
              <a:t>https://drjinfit-ship-it.github.io/jinkim/web/?mode=join&amp;s=suwon-2&amp;p=neck&amp;t=post</a:t>
            </a:r>
            <a:endParaRPr lang="en-US" sz="800" dirty="0"/>
          </a:p>
        </p:txBody>
      </p:sp>
      <p:sp>
        <p:nvSpPr>
          <p:cNvPr id="9" name="Shape 6"/>
          <p:cNvSpPr/>
          <p:nvPr/>
        </p:nvSpPr>
        <p:spPr>
          <a:xfrm>
            <a:off x="4572000" y="1828800"/>
            <a:ext cx="7068312" cy="1554480"/>
          </a:xfrm>
          <a:prstGeom prst="roundRect">
            <a:avLst>
              <a:gd name="adj" fmla="val 8824"/>
            </a:avLst>
          </a:prstGeom>
          <a:solidFill>
            <a:srgbClr val="132446"/>
          </a:solidFill>
          <a:ln w="12700">
            <a:solidFill>
              <a:srgbClr val="132446"/>
            </a:solidFill>
            <a:prstDash val="solid"/>
          </a:ln>
        </p:spPr>
      </p:sp>
      <p:sp>
        <p:nvSpPr>
          <p:cNvPr id="10" name="Text 7"/>
          <p:cNvSpPr txBox="1"/>
          <p:nvPr/>
        </p:nvSpPr>
        <p:spPr>
          <a:xfrm>
            <a:off x="4800600" y="1965960"/>
            <a:ext cx="6611112" cy="274320"/>
          </a:xfrm>
          <a:prstGeom prst="rect">
            <a:avLst/>
          </a:prstGeom>
          <a:noFill/>
          <a:ln/>
        </p:spPr>
        <p:txBody>
          <a:bodyPr wrap="square" lIns="0" tIns="0" rIns="0" bIns="0" rtlCol="0" anchor="ct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이 강의장 전체 · 불편감 감소 평균</a:t>
            </a:r>
            <a:endParaRPr lang="en-US" sz="1000" dirty="0"/>
          </a:p>
        </p:txBody>
      </p:sp>
      <p:sp>
        <p:nvSpPr>
          <p:cNvPr id="11" name="Text 8"/>
          <p:cNvSpPr txBox="1"/>
          <p:nvPr/>
        </p:nvSpPr>
        <p:spPr>
          <a:xfrm>
            <a:off x="4800600" y="2240280"/>
            <a:ext cx="6611112" cy="822960"/>
          </a:xfrm>
          <a:prstGeom prst="rect">
            <a:avLst/>
          </a:prstGeom>
          <a:noFill/>
          <a:ln/>
        </p:spPr>
        <p:txBody>
          <a:bodyPr wrap="square" lIns="0" tIns="0" rIns="0" bIns="0" rtlCol="0" anchor="ctr"/>
          <a:lstStyle/>
          <a:p>
            <a:pPr indent="0" marL="0">
              <a:buNone/>
            </a:pPr>
            <a:r>
              <a:rPr lang="en-US" sz="4000" b="1" dirty="0">
                <a:solidFill>
                  <a:srgbClr val="3DD68C"/>
                </a:solidFill>
                <a:latin typeface="Malgun Gothic" pitchFamily="34" charset="0"/>
                <a:ea typeface="Malgun Gothic" pitchFamily="34" charset="-122"/>
                <a:cs typeface="Malgun Gothic" pitchFamily="34" charset="-120"/>
              </a:rPr>
              <a:t>— 점 감소</a:t>
            </a:r>
            <a:endParaRPr lang="en-US" sz="4000" dirty="0"/>
          </a:p>
        </p:txBody>
      </p:sp>
      <p:sp>
        <p:nvSpPr>
          <p:cNvPr id="12" name="Text 9"/>
          <p:cNvSpPr txBox="1"/>
          <p:nvPr/>
        </p:nvSpPr>
        <p:spPr>
          <a:xfrm>
            <a:off x="4800600" y="3017520"/>
            <a:ext cx="6611112" cy="365760"/>
          </a:xfrm>
          <a:prstGeom prst="rect">
            <a:avLst/>
          </a:prstGeom>
          <a:noFill/>
          <a:ln/>
        </p:spPr>
        <p:txBody>
          <a:bodyPr wrap="square" lIns="0" tIns="0" rIns="0" bIns="0" rtlCol="0" anchor="ctr"/>
          <a:lstStyle/>
          <a:p>
            <a:pPr indent="0" marL="0">
              <a:buNone/>
            </a:pPr>
            <a:r>
              <a:rPr lang="en-US" sz="1050" dirty="0">
                <a:solidFill>
                  <a:srgbClr val="C5D0E2"/>
                </a:solidFill>
                <a:latin typeface="Malgun Gothic" pitchFamily="34" charset="0"/>
                <a:ea typeface="Malgun Gothic" pitchFamily="34" charset="-122"/>
                <a:cs typeface="Malgun Gothic" pitchFamily="34" charset="-120"/>
              </a:rPr>
              <a:t>현장에서는 실시간 보드로 평균·개선율이 표시됩니다. 같은 부위, 같은 기준으로 다시 입력합니다.</a:t>
            </a:r>
            <a:endParaRPr lang="en-US" sz="1050" dirty="0"/>
          </a:p>
        </p:txBody>
      </p:sp>
      <p:sp>
        <p:nvSpPr>
          <p:cNvPr id="13" name="Text 10"/>
          <p:cNvSpPr txBox="1"/>
          <p:nvPr/>
        </p:nvSpPr>
        <p:spPr>
          <a:xfrm>
            <a:off x="4572000" y="3657600"/>
            <a:ext cx="7068312" cy="1097280"/>
          </a:xfrm>
          <a:prstGeom prst="rect">
            <a:avLst/>
          </a:prstGeom>
          <a:noFill/>
          <a:ln/>
        </p:spPr>
        <p:txBody>
          <a:bodyPr wrap="square" lIns="0" tIns="0" rIns="0" bIns="0" rtlCol="0" anchor="t"/>
          <a:lstStyle/>
          <a:p>
            <a:pPr indent="0" marL="0">
              <a:buNone/>
            </a:pPr>
            <a:r>
              <a:rPr lang="en-US" sz="1200" dirty="0">
                <a:solidFill>
                  <a:srgbClr val="C5D0E2"/>
                </a:solidFill>
                <a:latin typeface="Malgun Gothic" pitchFamily="34" charset="0"/>
                <a:ea typeface="Malgun Gothic" pitchFamily="34" charset="-122"/>
                <a:cs typeface="Malgun Gothic" pitchFamily="34" charset="-120"/>
              </a:rPr>
              <a:t>소결(현장 수치로 채움): 사건 2 소결 — 목 불편감 평균 {drop}점 감소, 사전 1점 이상 중 {pct}%가 1점 이상 감소(2점 이상 {pct2}%, 자기보고). 목을 만지지 않고 얻은 숫자입니다. 쟁점 1 답: 의자도 안 바꿨고 자세 하나 바꿨습니다. 쟁점 4 답: 1분이면 등받이에 등 상부 붙이고 배 조여 내쉬기 ×3 — 목이 아니라 등을 건드린다.</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진술 접수 · BEFORE · 어깨</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13</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어깨 — 지금 불편감은 몇 점입니까?</a:t>
            </a:r>
            <a:endParaRPr lang="en-US" sz="3000" dirty="0"/>
          </a:p>
        </p:txBody>
      </p:sp>
      <p:sp>
        <p:nvSpPr>
          <p:cNvPr id="6" name="Shape 4"/>
          <p:cNvSpPr/>
          <p:nvPr/>
        </p:nvSpPr>
        <p:spPr>
          <a:xfrm>
            <a:off x="548640" y="1828800"/>
            <a:ext cx="3566160" cy="3566160"/>
          </a:xfrm>
          <a:prstGeom prst="roundRect">
            <a:avLst>
              <a:gd name="adj" fmla="val 5128"/>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31520" y="2011680"/>
            <a:ext cx="3200400" cy="3200400"/>
          </a:xfrm>
          <a:prstGeom prst="rect">
            <a:avLst/>
          </a:prstGeom>
        </p:spPr>
      </p:pic>
      <p:sp>
        <p:nvSpPr>
          <p:cNvPr id="8" name="Text 5"/>
          <p:cNvSpPr txBox="1"/>
          <p:nvPr/>
        </p:nvSpPr>
        <p:spPr>
          <a:xfrm>
            <a:off x="548640" y="5486400"/>
            <a:ext cx="3840480" cy="457200"/>
          </a:xfrm>
          <a:prstGeom prst="rect">
            <a:avLst/>
          </a:prstGeom>
          <a:noFill/>
          <a:ln/>
        </p:spPr>
        <p:txBody>
          <a:bodyPr wrap="square" lIns="0" tIns="0" rIns="0" bIns="0" rtlCol="0" anchor="ctr"/>
          <a:lstStyle/>
          <a:p>
            <a:pPr indent="0" marL="0">
              <a:buNone/>
            </a:pPr>
            <a:r>
              <a:rPr lang="en-US" sz="800" dirty="0">
                <a:solidFill>
                  <a:srgbClr val="8FA3BF"/>
                </a:solidFill>
                <a:latin typeface="Malgun Gothic" pitchFamily="34" charset="0"/>
                <a:ea typeface="Malgun Gothic" pitchFamily="34" charset="-122"/>
                <a:cs typeface="Malgun Gothic" pitchFamily="34" charset="-120"/>
              </a:rPr>
              <a:t>https://drjinfit-ship-it.github.io/jinkim/web/?mode=join&amp;s=suwon-2&amp;p=shoulder&amp;t=pre</a:t>
            </a:r>
            <a:endParaRPr lang="en-US" sz="800" dirty="0"/>
          </a:p>
        </p:txBody>
      </p:sp>
      <p:sp>
        <p:nvSpPr>
          <p:cNvPr id="9" name="Shape 6"/>
          <p:cNvSpPr/>
          <p:nvPr/>
        </p:nvSpPr>
        <p:spPr>
          <a:xfrm>
            <a:off x="4572000" y="1828800"/>
            <a:ext cx="7068312" cy="1554480"/>
          </a:xfrm>
          <a:prstGeom prst="roundRect">
            <a:avLst>
              <a:gd name="adj" fmla="val 8824"/>
            </a:avLst>
          </a:prstGeom>
          <a:solidFill>
            <a:srgbClr val="132446"/>
          </a:solidFill>
          <a:ln w="12700">
            <a:solidFill>
              <a:srgbClr val="132446"/>
            </a:solidFill>
            <a:prstDash val="solid"/>
          </a:ln>
        </p:spPr>
      </p:sp>
      <p:sp>
        <p:nvSpPr>
          <p:cNvPr id="10" name="Text 7"/>
          <p:cNvSpPr txBox="1"/>
          <p:nvPr/>
        </p:nvSpPr>
        <p:spPr>
          <a:xfrm>
            <a:off x="4800600" y="1965960"/>
            <a:ext cx="6611112" cy="274320"/>
          </a:xfrm>
          <a:prstGeom prst="rect">
            <a:avLst/>
          </a:prstGeom>
          <a:noFill/>
          <a:ln/>
        </p:spPr>
        <p:txBody>
          <a:bodyPr wrap="square" lIns="0" tIns="0" rIns="0" bIns="0" rtlCol="0" anchor="ct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진술 접수</a:t>
            </a:r>
            <a:endParaRPr lang="en-US" sz="1000" dirty="0"/>
          </a:p>
        </p:txBody>
      </p:sp>
      <p:sp>
        <p:nvSpPr>
          <p:cNvPr id="11" name="Text 8"/>
          <p:cNvSpPr txBox="1"/>
          <p:nvPr/>
        </p:nvSpPr>
        <p:spPr>
          <a:xfrm>
            <a:off x="4800600" y="2240280"/>
            <a:ext cx="6611112" cy="822960"/>
          </a:xfrm>
          <a:prstGeom prst="rect">
            <a:avLst/>
          </a:prstGeom>
          <a:noFill/>
          <a:ln/>
        </p:spPr>
        <p:txBody>
          <a:bodyPr wrap="square" lIns="0" tIns="0" rIns="0" bIns="0" rtlCol="0" anchor="ctr"/>
          <a:lstStyle/>
          <a:p>
            <a:pPr indent="0" marL="0">
              <a:buNone/>
            </a:pPr>
            <a:r>
              <a:rPr lang="en-US" sz="4000" b="1" dirty="0">
                <a:solidFill>
                  <a:srgbClr val="F5B13D"/>
                </a:solidFill>
                <a:latin typeface="Malgun Gothic" pitchFamily="34" charset="0"/>
                <a:ea typeface="Malgun Gothic" pitchFamily="34" charset="-122"/>
                <a:cs typeface="Malgun Gothic" pitchFamily="34" charset="-120"/>
              </a:rPr>
              <a:t>0 ~ 10</a:t>
            </a:r>
            <a:endParaRPr lang="en-US" sz="4000" dirty="0"/>
          </a:p>
        </p:txBody>
      </p:sp>
      <p:sp>
        <p:nvSpPr>
          <p:cNvPr id="12" name="Text 9"/>
          <p:cNvSpPr txBox="1"/>
          <p:nvPr/>
        </p:nvSpPr>
        <p:spPr>
          <a:xfrm>
            <a:off x="4800600" y="3017520"/>
            <a:ext cx="6611112" cy="365760"/>
          </a:xfrm>
          <a:prstGeom prst="rect">
            <a:avLst/>
          </a:prstGeom>
          <a:noFill/>
          <a:ln/>
        </p:spPr>
        <p:txBody>
          <a:bodyPr wrap="square" lIns="0" tIns="0" rIns="0" bIns="0" rtlCol="0" anchor="ctr"/>
          <a:lstStyle/>
          <a:p>
            <a:pPr indent="0" marL="0">
              <a:buNone/>
            </a:pPr>
            <a:r>
              <a:rPr lang="en-US" sz="1050" dirty="0">
                <a:solidFill>
                  <a:srgbClr val="C5D0E2"/>
                </a:solidFill>
                <a:latin typeface="Malgun Gothic" pitchFamily="34" charset="0"/>
                <a:ea typeface="Malgun Gothic" pitchFamily="34" charset="-122"/>
                <a:cs typeface="Malgun Gothic" pitchFamily="34" charset="-120"/>
              </a:rPr>
              <a:t>사건 3 접수 — 어깨. 먼저 확인 동작 10초: 양팔 천천히 만세. 그 직후 지금 이 순간의 불편감(무거움·걸림 포함)을 0~10으로 진술합니다. 어깨 급성 통증·탈구 이력이 있는 분은 만세 대신 앞으로 들기까지만 합니다.</a:t>
            </a:r>
            <a:endParaRPr lang="en-US" sz="1050" dirty="0"/>
          </a:p>
        </p:txBody>
      </p:sp>
      <p:sp>
        <p:nvSpPr>
          <p:cNvPr id="13" name="Text 10"/>
          <p:cNvSpPr txBox="1"/>
          <p:nvPr/>
        </p:nvSpPr>
        <p:spPr>
          <a:xfrm>
            <a:off x="4572000" y="3657600"/>
            <a:ext cx="7068312" cy="1097280"/>
          </a:xfrm>
          <a:prstGeom prst="rect">
            <a:avLst/>
          </a:prstGeom>
          <a:noFill/>
          <a:ln/>
        </p:spPr>
        <p:txBody>
          <a:bodyPr wrap="square" lIns="0" tIns="0" rIns="0" bIns="0" rtlCol="0" anchor="t"/>
          <a:lstStyle/>
          <a:p>
            <a:pPr indent="0" marL="0">
              <a:buNone/>
            </a:pPr>
            <a:r>
              <a:rPr lang="en-US" sz="1200" dirty="0">
                <a:solidFill>
                  <a:srgbClr val="C5D0E2"/>
                </a:solidFill>
                <a:latin typeface="Malgun Gothic" pitchFamily="34" charset="0"/>
                <a:ea typeface="Malgun Gothic" pitchFamily="34" charset="-122"/>
                <a:cs typeface="Malgun Gothic" pitchFamily="34" charset="-120"/>
              </a:rPr>
              <a:t>이름·연락처·소속을 받지 않습니다. 이 휴대폰의 무작위 번호로만 강의 전·후를 짝지어 익명 집계합니다.</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증거조사 ③ · 어깨 · 5분</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14</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2600" b="1" dirty="0">
                <a:solidFill>
                  <a:srgbClr val="F3F6FB"/>
                </a:solidFill>
                <a:latin typeface="Malgun Gothic" pitchFamily="34" charset="0"/>
                <a:ea typeface="Malgun Gothic" pitchFamily="34" charset="-122"/>
                <a:cs typeface="Malgun Gothic" pitchFamily="34" charset="-120"/>
              </a:rPr>
              <a:t>통증은 근육의 집 주소입니다. 아프면 '심봤다'.</a:t>
            </a:r>
            <a:endParaRPr lang="en-US" sz="2600" dirty="0"/>
          </a:p>
        </p:txBody>
      </p:sp>
      <p:sp>
        <p:nvSpPr>
          <p:cNvPr id="6" name="Text 4"/>
          <p:cNvSpPr txBox="1"/>
          <p:nvPr/>
        </p:nvSpPr>
        <p:spPr>
          <a:xfrm>
            <a:off x="548640" y="1600200"/>
            <a:ext cx="11091672" cy="548640"/>
          </a:xfrm>
          <a:prstGeom prst="rect">
            <a:avLst/>
          </a:prstGeom>
          <a:noFill/>
          <a:ln/>
        </p:spPr>
        <p:txBody>
          <a:bodyPr wrap="square" lIns="0" tIns="0" rIns="0" bIns="0" rtlCol="0" anchor="t"/>
          <a:lstStyle/>
          <a:p>
            <a:pPr indent="0" marL="0">
              <a:buNone/>
            </a:pPr>
            <a:r>
              <a:rPr lang="en-US" sz="1000" b="1" dirty="0">
                <a:solidFill>
                  <a:srgbClr val="F5B13D"/>
                </a:solidFill>
                <a:latin typeface="Malgun Gothic" pitchFamily="34" charset="0"/>
                <a:ea typeface="Malgun Gothic" pitchFamily="34" charset="-122"/>
                <a:cs typeface="Malgun Gothic" pitchFamily="34" charset="-120"/>
              </a:rPr>
              <a:t>주장  </a:t>
            </a:r>
            <a:pPr indent="0" marL="0">
              <a:buNone/>
            </a:pPr>
            <a:r>
              <a:rPr lang="en-US" sz="1300" dirty="0">
                <a:solidFill>
                  <a:srgbClr val="C5D0E2"/>
                </a:solidFill>
                <a:latin typeface="Malgun Gothic" pitchFamily="34" charset="0"/>
                <a:ea typeface="Malgun Gothic" pitchFamily="34" charset="-122"/>
                <a:cs typeface="Malgun Gothic" pitchFamily="34" charset="-120"/>
              </a:rPr>
              <a:t>통증은 근육의 집 주소입니다. 어깨 무거움의 범인은 목-어깨 모서리(승모근 상부)와 겨드랑이 뒤쪽(광배근)이라는 가설을 검증합니다. 한쪽만 풀면 팔 무게가 좌우로 달라지는지 확인합니다 — 쟁점 5의 어깨 검사가 여기 있습니다.</a:t>
            </a:r>
            <a:pPr indent="0" marL="0">
              <a:buNone/>
            </a:pPr>
            <a:r>
              <a:rPr lang="en-US" sz="1000" b="1" dirty="0">
                <a:solidFill>
                  <a:srgbClr val="8FA3BF"/>
                </a:solidFill>
                <a:latin typeface="Malgun Gothic" pitchFamily="34" charset="0"/>
                <a:ea typeface="Malgun Gothic" pitchFamily="34" charset="-122"/>
                <a:cs typeface="Malgun Gothic" pitchFamily="34" charset="-120"/>
              </a:rPr>
              <a:t>    반대 가설  </a:t>
            </a:r>
            <a:pPr indent="0" marL="0">
              <a:buNone/>
            </a:pPr>
            <a:r>
              <a:rPr lang="en-US" sz="1200" dirty="0">
                <a:solidFill>
                  <a:srgbClr val="8FA3BF"/>
                </a:solidFill>
                <a:latin typeface="Malgun Gothic" pitchFamily="34" charset="0"/>
                <a:ea typeface="Malgun Gothic" pitchFamily="34" charset="-122"/>
                <a:cs typeface="Malgun Gothic" pitchFamily="34" charset="-120"/>
              </a:rPr>
              <a:t>"오십견·손목터널이 이걸로 낫나?" — 낫는다고 말하지 않습니다. 그 진단명들은 의료기관의 영역입니다. 오늘은 그 위에 얹힌 굳은 근육을 풀면 '가벼워지는지'만 확인합니다. "세게 누를수록 잘 풀린다" — 더 세게가 더 낫다는 근거는 없고, 오늘 규칙은 숨이 쉬어지는 강도입니다. '집 주소'는 비유입니다 — 아픈 자리가 항상 원인 자리는 아닙니다.</a:t>
            </a:r>
            <a:endParaRPr lang="en-US" sz="1000" dirty="0"/>
          </a:p>
        </p:txBody>
      </p:sp>
      <p:sp>
        <p:nvSpPr>
          <p:cNvPr id="7" name="Shape 5"/>
          <p:cNvSpPr/>
          <p:nvPr/>
        </p:nvSpPr>
        <p:spPr>
          <a:xfrm>
            <a:off x="548640" y="2240280"/>
            <a:ext cx="3544824" cy="2788920"/>
          </a:xfrm>
          <a:prstGeom prst="roundRect">
            <a:avLst>
              <a:gd name="adj" fmla="val 4918"/>
            </a:avLst>
          </a:prstGeom>
          <a:solidFill>
            <a:srgbClr val="132446"/>
          </a:solidFill>
          <a:ln w="12700">
            <a:solidFill>
              <a:srgbClr val="132446"/>
            </a:solidFill>
            <a:prstDash val="solid"/>
          </a:ln>
        </p:spPr>
      </p:sp>
      <p:sp>
        <p:nvSpPr>
          <p:cNvPr id="8" name="Text 6"/>
          <p:cNvSpPr txBox="1"/>
          <p:nvPr/>
        </p:nvSpPr>
        <p:spPr>
          <a:xfrm>
            <a:off x="749808"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현장 검증 · 체크</a:t>
            </a:r>
            <a:endParaRPr lang="en-US" sz="1000" dirty="0"/>
          </a:p>
        </p:txBody>
      </p:sp>
      <p:sp>
        <p:nvSpPr>
          <p:cNvPr id="9" name="Text 7"/>
          <p:cNvSpPr txBox="1"/>
          <p:nvPr/>
        </p:nvSpPr>
        <p:spPr>
          <a:xfrm>
            <a:off x="749808" y="2697480"/>
            <a:ext cx="3142488" cy="731520"/>
          </a:xfrm>
          <a:prstGeom prst="rect">
            <a:avLst/>
          </a:prstGeom>
          <a:noFill/>
          <a:ln/>
        </p:spPr>
        <p:txBody>
          <a:bodyPr wrap="square" lIns="0" tIns="0" rIns="0" bIns="0" rtlCol="0" anchor="t"/>
          <a:lstStyle/>
          <a:p>
            <a:pPr indent="0" marL="0">
              <a:buNone/>
            </a:pPr>
            <a:endParaRPr lang="en-US" sz="1500" dirty="0"/>
          </a:p>
        </p:txBody>
      </p:sp>
      <p:sp>
        <p:nvSpPr>
          <p:cNvPr id="10" name="Text 8"/>
          <p:cNvSpPr txBox="1"/>
          <p:nvPr/>
        </p:nvSpPr>
        <p:spPr>
          <a:xfrm>
            <a:off x="749808" y="3429000"/>
            <a:ext cx="3142488" cy="146304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쟁점 5 어깨 자가 확인 동작(10초): 양팔 천천히 만세. 걸리는 높이와 어느 팔이 무거운지 기억합니다. 무거운 팔이 오늘의 사건입니다.</a:t>
            </a:r>
            <a:endParaRPr lang="en-US" sz="1150" dirty="0"/>
          </a:p>
        </p:txBody>
      </p:sp>
      <p:sp>
        <p:nvSpPr>
          <p:cNvPr id="11" name="Shape 9"/>
          <p:cNvSpPr/>
          <p:nvPr/>
        </p:nvSpPr>
        <p:spPr>
          <a:xfrm>
            <a:off x="4322064" y="2240280"/>
            <a:ext cx="3544824" cy="2788920"/>
          </a:xfrm>
          <a:prstGeom prst="roundRect">
            <a:avLst>
              <a:gd name="adj" fmla="val 4918"/>
            </a:avLst>
          </a:prstGeom>
          <a:solidFill>
            <a:srgbClr val="0F2E3F"/>
          </a:solidFill>
          <a:ln w="12700">
            <a:solidFill>
              <a:srgbClr val="0F2E3F"/>
            </a:solidFill>
            <a:prstDash val="solid"/>
          </a:ln>
        </p:spPr>
      </p:sp>
      <p:sp>
        <p:nvSpPr>
          <p:cNvPr id="12" name="Text 10"/>
          <p:cNvSpPr txBox="1"/>
          <p:nvPr/>
        </p:nvSpPr>
        <p:spPr>
          <a:xfrm>
            <a:off x="4523232"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개입 실험 · 10초 리셋 · 한쪽만</a:t>
            </a:r>
            <a:endParaRPr lang="en-US" sz="1000" dirty="0"/>
          </a:p>
        </p:txBody>
      </p:sp>
      <p:sp>
        <p:nvSpPr>
          <p:cNvPr id="13" name="Text 11"/>
          <p:cNvSpPr txBox="1"/>
          <p:nvPr/>
        </p:nvSpPr>
        <p:spPr>
          <a:xfrm>
            <a:off x="4523232" y="2697480"/>
            <a:ext cx="3142488" cy="731520"/>
          </a:xfrm>
          <a:prstGeom prst="rect">
            <a:avLst/>
          </a:prstGeom>
          <a:noFill/>
          <a:ln/>
        </p:spPr>
        <p:txBody>
          <a:bodyPr wrap="square" lIns="0" tIns="0" rIns="0" bIns="0" rtlCol="0" anchor="t"/>
          <a:lstStyle/>
          <a:p>
            <a:pPr indent="0" marL="0">
              <a:buNone/>
            </a:pPr>
            <a:endParaRPr lang="en-US" sz="1500" dirty="0"/>
          </a:p>
        </p:txBody>
      </p:sp>
      <p:sp>
        <p:nvSpPr>
          <p:cNvPr id="14" name="Text 12"/>
          <p:cNvSpPr txBox="1"/>
          <p:nvPr/>
        </p:nvSpPr>
        <p:spPr>
          <a:xfrm>
            <a:off x="4523232" y="3429000"/>
            <a:ext cx="3142488"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한쪽만: 목과 어깨의 모서리(승모근 위, 살짝 뒤)를 등받이와 등 사이 공으로 받치고, 내쉬며 팔 만세 ×3. 아픈 지점을 찾으면 '심봤다'</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겨드랑이 정중앙은 누르지 않고 뒤쪽 근육 벽(등 쪽으로 손가락 한 마디)에 공을 손으로 대고 5초 내쉬기 ×3. 저리거나 찌릿하면 옮기고, 남으면 이 자리는 생략</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미간의 힘 빼기 — 인상 쓰면 근육도 같이 조입니다. '지금 몇 % 뺐습니까? 80%? 5% 빼셨습니다.' 물 먹은 솜, 녹은 아이스크림까지</a:t>
            </a:r>
            <a:endParaRPr lang="en-US" sz="1150" dirty="0"/>
          </a:p>
        </p:txBody>
      </p:sp>
      <p:sp>
        <p:nvSpPr>
          <p:cNvPr id="15" name="Shape 13"/>
          <p:cNvSpPr/>
          <p:nvPr/>
        </p:nvSpPr>
        <p:spPr>
          <a:xfrm>
            <a:off x="8095488" y="2240280"/>
            <a:ext cx="3544824" cy="2788920"/>
          </a:xfrm>
          <a:prstGeom prst="roundRect">
            <a:avLst>
              <a:gd name="adj" fmla="val 4918"/>
            </a:avLst>
          </a:prstGeom>
          <a:solidFill>
            <a:srgbClr val="3A2A0F"/>
          </a:solidFill>
          <a:ln w="12700">
            <a:solidFill>
              <a:srgbClr val="3A2A0F"/>
            </a:solidFill>
            <a:prstDash val="solid"/>
          </a:ln>
        </p:spPr>
      </p:sp>
      <p:sp>
        <p:nvSpPr>
          <p:cNvPr id="16" name="Text 14"/>
          <p:cNvSpPr txBox="1"/>
          <p:nvPr/>
        </p:nvSpPr>
        <p:spPr>
          <a:xfrm>
            <a:off x="8296656"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대질 · 좌우 비교</a:t>
            </a:r>
            <a:endParaRPr lang="en-US" sz="1000" dirty="0"/>
          </a:p>
        </p:txBody>
      </p:sp>
      <p:sp>
        <p:nvSpPr>
          <p:cNvPr id="17" name="Text 15"/>
          <p:cNvSpPr txBox="1"/>
          <p:nvPr/>
        </p:nvSpPr>
        <p:spPr>
          <a:xfrm>
            <a:off x="8296656" y="2697480"/>
            <a:ext cx="3142488" cy="731520"/>
          </a:xfrm>
          <a:prstGeom prst="rect">
            <a:avLst/>
          </a:prstGeom>
          <a:noFill/>
          <a:ln/>
        </p:spPr>
        <p:txBody>
          <a:bodyPr wrap="square" lIns="0" tIns="0" rIns="0" bIns="0" rtlCol="0" anchor="t"/>
          <a:lstStyle/>
          <a:p>
            <a:pPr indent="0" marL="0">
              <a:buNone/>
            </a:pPr>
            <a:endParaRPr lang="en-US" sz="1500" dirty="0"/>
          </a:p>
        </p:txBody>
      </p:sp>
      <p:sp>
        <p:nvSpPr>
          <p:cNvPr id="18" name="Text 16"/>
          <p:cNvSpPr txBox="1"/>
          <p:nvPr/>
        </p:nvSpPr>
        <p:spPr>
          <a:xfrm>
            <a:off x="8296656" y="3429000"/>
            <a:ext cx="3142488"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대질(클라이맥스): 안 푼 팔 만세 vs 푼 팔 만세. 팔 무게가 다릅니까? 차이가 없어도 그것이 증언입니다. 어느 팔을 풀었는지 본인이 알기 때문에 기대는 남습니다 — 그래서 느낌이 아니라 숫자로 적습니다.</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집행(유지): 팔이 가벼우면 스포츠카를 얻은 것 — 주차장에 두지 말고 쓰세요. 기록 검토 중 30분마다 만세 한 번. 1분 버전: 모서리를 손으로 누른 채 만세 ×2 + 미간.</a:t>
            </a:r>
            <a:endParaRPr lang="en-US" sz="1150" dirty="0"/>
          </a:p>
        </p:txBody>
      </p:sp>
      <p:sp>
        <p:nvSpPr>
          <p:cNvPr id="19" name="Text 17"/>
          <p:cNvSpPr txBox="1"/>
          <p:nvPr/>
        </p:nvSpPr>
        <p:spPr>
          <a:xfrm>
            <a:off x="548640" y="5120640"/>
            <a:ext cx="11091672" cy="640080"/>
          </a:xfrm>
          <a:prstGeom prst="rect">
            <a:avLst/>
          </a:prstGeom>
          <a:noFill/>
          <a:ln/>
        </p:spPr>
        <p:txBody>
          <a:bodyPr wrap="square" lIns="0" tIns="0" rIns="0" bIns="0" rtlCol="0" anchor="t"/>
          <a:lstStyle/>
          <a:p>
            <a:pPr indent="0" marL="0">
              <a:buNone/>
            </a:pPr>
            <a:r>
              <a:rPr lang="en-US" sz="950" dirty="0">
                <a:solidFill>
                  <a:srgbClr val="C5D0E2"/>
                </a:solidFill>
                <a:latin typeface="Malgun Gothic" pitchFamily="34" charset="0"/>
                <a:ea typeface="Malgun Gothic" pitchFamily="34" charset="-122"/>
                <a:cs typeface="Malgun Gothic" pitchFamily="34" charset="-120"/>
              </a:rPr>
              <a:t>현장: 1회차 본강의 중 유일한 참가자 탄성('어 시원하')이 이 부위에서 나옴. 안 푼 팔 vs 푼 팔 만세 비교에서 차이 응답 — 자기보고 (1회차는 매트·누운 자세, 오늘은 의자 버전 — 조건이 다르므로 오늘이 의자 버전의 첫 기록) (1회차(8/31) 현장 관찰 · 자기보고 · 기록 없음(참고))</a:t>
            </a:r>
            <a:endParaRPr lang="en-US" sz="950" dirty="0"/>
          </a:p>
          <a:p>
            <a:pPr indent="0" marL="0">
              <a:buNone/>
            </a:pPr>
            <a:r>
              <a:rPr lang="en-US" sz="950" dirty="0">
                <a:solidFill>
                  <a:srgbClr val="C5D0E2"/>
                </a:solidFill>
                <a:latin typeface="Malgun Gothic" pitchFamily="34" charset="0"/>
                <a:ea typeface="Malgun Gothic" pitchFamily="34" charset="-122"/>
                <a:cs typeface="Malgun Gothic" pitchFamily="34" charset="-120"/>
              </a:rPr>
              <a:t>문헌: 통증은 조직 손상의 크기와 동일하지 않으며 생물·심리·사회 요인의 영향을 받는다 (IASP 통증 정의 개정 (2020))</a:t>
            </a:r>
            <a:endParaRPr lang="en-US" sz="950" dirty="0"/>
          </a:p>
          <a:p>
            <a:pPr indent="0" marL="0">
              <a:buNone/>
            </a:pPr>
            <a:r>
              <a:rPr lang="en-US" sz="950" dirty="0">
                <a:solidFill>
                  <a:srgbClr val="C5D0E2"/>
                </a:solidFill>
                <a:latin typeface="Malgun Gothic" pitchFamily="34" charset="0"/>
                <a:ea typeface="Malgun Gothic" pitchFamily="34" charset="-122"/>
                <a:cs typeface="Malgun Gothic" pitchFamily="34" charset="-120"/>
              </a:rPr>
              <a:t>실험: 오늘 안 푼 팔 vs 푼 팔 만세 + 사전/사후 QR (현장 자기 대조)</a:t>
            </a:r>
            <a:endParaRPr lang="en-US" sz="950" dirty="0"/>
          </a:p>
        </p:txBody>
      </p:sp>
      <p:sp>
        <p:nvSpPr>
          <p:cNvPr id="20" name="Text 18"/>
          <p:cNvSpPr txBox="1"/>
          <p:nvPr/>
        </p:nvSpPr>
        <p:spPr>
          <a:xfrm>
            <a:off x="548640" y="5715000"/>
            <a:ext cx="11091672" cy="457200"/>
          </a:xfrm>
          <a:prstGeom prst="rect">
            <a:avLst/>
          </a:prstGeom>
          <a:noFill/>
          <a:ln/>
        </p:spPr>
        <p:txBody>
          <a:bodyPr wrap="square" lIns="0" tIns="0" rIns="0" bIns="0" rtlCol="0" anchor="ctr"/>
          <a:lstStyle/>
          <a:p>
            <a:pPr indent="0" marL="0">
              <a:buNone/>
            </a:pPr>
            <a:r>
              <a:rPr lang="en-US" sz="1100" dirty="0">
                <a:solidFill>
                  <a:srgbClr val="FFC9C9"/>
                </a:solidFill>
                <a:latin typeface="Malgun Gothic" pitchFamily="34" charset="0"/>
                <a:ea typeface="Malgun Gothic" pitchFamily="34" charset="-122"/>
                <a:cs typeface="Malgun Gothic" pitchFamily="34" charset="-120"/>
              </a:rPr>
              <a:t>! 어깨 급성 통증·탈구 이력이 있으면 만세 대신 앞으로 들기까지만. 겨드랑이 정중앙은 누르지 않고 뒤쪽 근육 벽만. 저림·찌릿함은 이유를 따지지 않고 중단 신호. 등·갈비 쪽 압박은 손으로 가볍게, 체중을 싣지 않습니다(골다공증 진단·스테로이드 장기 복용자는 생략). 압박은 숨이 쉬어지는 '시원한 불편감'까지 — 비명이 나오는 강도는 오답.</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재검사 · AFTER · 어깨</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15</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어깨 — 재검사: 지금은 몇 점입니까?</a:t>
            </a:r>
            <a:endParaRPr lang="en-US" sz="3000" dirty="0"/>
          </a:p>
        </p:txBody>
      </p:sp>
      <p:sp>
        <p:nvSpPr>
          <p:cNvPr id="6" name="Shape 4"/>
          <p:cNvSpPr/>
          <p:nvPr/>
        </p:nvSpPr>
        <p:spPr>
          <a:xfrm>
            <a:off x="548640" y="1828800"/>
            <a:ext cx="3566160" cy="3566160"/>
          </a:xfrm>
          <a:prstGeom prst="roundRect">
            <a:avLst>
              <a:gd name="adj" fmla="val 5128"/>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31520" y="2011680"/>
            <a:ext cx="3200400" cy="3200400"/>
          </a:xfrm>
          <a:prstGeom prst="rect">
            <a:avLst/>
          </a:prstGeom>
        </p:spPr>
      </p:pic>
      <p:sp>
        <p:nvSpPr>
          <p:cNvPr id="8" name="Text 5"/>
          <p:cNvSpPr txBox="1"/>
          <p:nvPr/>
        </p:nvSpPr>
        <p:spPr>
          <a:xfrm>
            <a:off x="548640" y="5486400"/>
            <a:ext cx="3840480" cy="457200"/>
          </a:xfrm>
          <a:prstGeom prst="rect">
            <a:avLst/>
          </a:prstGeom>
          <a:noFill/>
          <a:ln/>
        </p:spPr>
        <p:txBody>
          <a:bodyPr wrap="square" lIns="0" tIns="0" rIns="0" bIns="0" rtlCol="0" anchor="ctr"/>
          <a:lstStyle/>
          <a:p>
            <a:pPr indent="0" marL="0">
              <a:buNone/>
            </a:pPr>
            <a:r>
              <a:rPr lang="en-US" sz="800" dirty="0">
                <a:solidFill>
                  <a:srgbClr val="8FA3BF"/>
                </a:solidFill>
                <a:latin typeface="Malgun Gothic" pitchFamily="34" charset="0"/>
                <a:ea typeface="Malgun Gothic" pitchFamily="34" charset="-122"/>
                <a:cs typeface="Malgun Gothic" pitchFamily="34" charset="-120"/>
              </a:rPr>
              <a:t>https://drjinfit-ship-it.github.io/jinkim/web/?mode=join&amp;s=suwon-2&amp;p=shoulder&amp;t=post</a:t>
            </a:r>
            <a:endParaRPr lang="en-US" sz="800" dirty="0"/>
          </a:p>
        </p:txBody>
      </p:sp>
      <p:sp>
        <p:nvSpPr>
          <p:cNvPr id="9" name="Shape 6"/>
          <p:cNvSpPr/>
          <p:nvPr/>
        </p:nvSpPr>
        <p:spPr>
          <a:xfrm>
            <a:off x="4572000" y="1828800"/>
            <a:ext cx="7068312" cy="1554480"/>
          </a:xfrm>
          <a:prstGeom prst="roundRect">
            <a:avLst>
              <a:gd name="adj" fmla="val 8824"/>
            </a:avLst>
          </a:prstGeom>
          <a:solidFill>
            <a:srgbClr val="132446"/>
          </a:solidFill>
          <a:ln w="12700">
            <a:solidFill>
              <a:srgbClr val="132446"/>
            </a:solidFill>
            <a:prstDash val="solid"/>
          </a:ln>
        </p:spPr>
      </p:sp>
      <p:sp>
        <p:nvSpPr>
          <p:cNvPr id="10" name="Text 7"/>
          <p:cNvSpPr txBox="1"/>
          <p:nvPr/>
        </p:nvSpPr>
        <p:spPr>
          <a:xfrm>
            <a:off x="4800600" y="1965960"/>
            <a:ext cx="6611112" cy="274320"/>
          </a:xfrm>
          <a:prstGeom prst="rect">
            <a:avLst/>
          </a:prstGeom>
          <a:noFill/>
          <a:ln/>
        </p:spPr>
        <p:txBody>
          <a:bodyPr wrap="square" lIns="0" tIns="0" rIns="0" bIns="0" rtlCol="0" anchor="ct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이 강의장 전체 · 불편감 감소 평균</a:t>
            </a:r>
            <a:endParaRPr lang="en-US" sz="1000" dirty="0"/>
          </a:p>
        </p:txBody>
      </p:sp>
      <p:sp>
        <p:nvSpPr>
          <p:cNvPr id="11" name="Text 8"/>
          <p:cNvSpPr txBox="1"/>
          <p:nvPr/>
        </p:nvSpPr>
        <p:spPr>
          <a:xfrm>
            <a:off x="4800600" y="2240280"/>
            <a:ext cx="6611112" cy="822960"/>
          </a:xfrm>
          <a:prstGeom prst="rect">
            <a:avLst/>
          </a:prstGeom>
          <a:noFill/>
          <a:ln/>
        </p:spPr>
        <p:txBody>
          <a:bodyPr wrap="square" lIns="0" tIns="0" rIns="0" bIns="0" rtlCol="0" anchor="ctr"/>
          <a:lstStyle/>
          <a:p>
            <a:pPr indent="0" marL="0">
              <a:buNone/>
            </a:pPr>
            <a:r>
              <a:rPr lang="en-US" sz="4000" b="1" dirty="0">
                <a:solidFill>
                  <a:srgbClr val="3DD68C"/>
                </a:solidFill>
                <a:latin typeface="Malgun Gothic" pitchFamily="34" charset="0"/>
                <a:ea typeface="Malgun Gothic" pitchFamily="34" charset="-122"/>
                <a:cs typeface="Malgun Gothic" pitchFamily="34" charset="-120"/>
              </a:rPr>
              <a:t>— 점 감소</a:t>
            </a:r>
            <a:endParaRPr lang="en-US" sz="4000" dirty="0"/>
          </a:p>
        </p:txBody>
      </p:sp>
      <p:sp>
        <p:nvSpPr>
          <p:cNvPr id="12" name="Text 9"/>
          <p:cNvSpPr txBox="1"/>
          <p:nvPr/>
        </p:nvSpPr>
        <p:spPr>
          <a:xfrm>
            <a:off x="4800600" y="3017520"/>
            <a:ext cx="6611112" cy="365760"/>
          </a:xfrm>
          <a:prstGeom prst="rect">
            <a:avLst/>
          </a:prstGeom>
          <a:noFill/>
          <a:ln/>
        </p:spPr>
        <p:txBody>
          <a:bodyPr wrap="square" lIns="0" tIns="0" rIns="0" bIns="0" rtlCol="0" anchor="ctr"/>
          <a:lstStyle/>
          <a:p>
            <a:pPr indent="0" marL="0">
              <a:buNone/>
            </a:pPr>
            <a:r>
              <a:rPr lang="en-US" sz="1050" dirty="0">
                <a:solidFill>
                  <a:srgbClr val="C5D0E2"/>
                </a:solidFill>
                <a:latin typeface="Malgun Gothic" pitchFamily="34" charset="0"/>
                <a:ea typeface="Malgun Gothic" pitchFamily="34" charset="-122"/>
                <a:cs typeface="Malgun Gothic" pitchFamily="34" charset="-120"/>
              </a:rPr>
              <a:t>현장에서는 실시간 보드로 평균·개선율이 표시됩니다. 같은 부위, 같은 기준으로 다시 입력합니다.</a:t>
            </a:r>
            <a:endParaRPr lang="en-US" sz="1050" dirty="0"/>
          </a:p>
        </p:txBody>
      </p:sp>
      <p:sp>
        <p:nvSpPr>
          <p:cNvPr id="13" name="Text 10"/>
          <p:cNvSpPr txBox="1"/>
          <p:nvPr/>
        </p:nvSpPr>
        <p:spPr>
          <a:xfrm>
            <a:off x="4572000" y="3657600"/>
            <a:ext cx="7068312" cy="1097280"/>
          </a:xfrm>
          <a:prstGeom prst="rect">
            <a:avLst/>
          </a:prstGeom>
          <a:noFill/>
          <a:ln/>
        </p:spPr>
        <p:txBody>
          <a:bodyPr wrap="square" lIns="0" tIns="0" rIns="0" bIns="0" rtlCol="0" anchor="t"/>
          <a:lstStyle/>
          <a:p>
            <a:pPr indent="0" marL="0">
              <a:buNone/>
            </a:pPr>
            <a:r>
              <a:rPr lang="en-US" sz="1200" dirty="0">
                <a:solidFill>
                  <a:srgbClr val="C5D0E2"/>
                </a:solidFill>
                <a:latin typeface="Malgun Gothic" pitchFamily="34" charset="0"/>
                <a:ea typeface="Malgun Gothic" pitchFamily="34" charset="-122"/>
                <a:cs typeface="Malgun Gothic" pitchFamily="34" charset="-120"/>
              </a:rPr>
              <a:t>소결(현장 수치로 채움): 사건 3 소결 — 어깨 불편감 평균 {drop}점 감소, 사전 1점 이상 중 {pct}%가 1점 이상 감소(2점 이상 {pct2}%, 자기보고). 쟁점 5 답: 만세 한 번이면 어느 팔이 무거운지 안다 — 진단이 아니라 관찰이다. 근육의 집 주소를 찾은 분과 못 찾은 분, 둘 다 증거입니다.</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진술 접수 · BEFORE · 허리</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16</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허리 — 지금 불편감은 몇 점입니까?</a:t>
            </a:r>
            <a:endParaRPr lang="en-US" sz="3000" dirty="0"/>
          </a:p>
        </p:txBody>
      </p:sp>
      <p:sp>
        <p:nvSpPr>
          <p:cNvPr id="6" name="Shape 4"/>
          <p:cNvSpPr/>
          <p:nvPr/>
        </p:nvSpPr>
        <p:spPr>
          <a:xfrm>
            <a:off x="548640" y="1828800"/>
            <a:ext cx="3566160" cy="3566160"/>
          </a:xfrm>
          <a:prstGeom prst="roundRect">
            <a:avLst>
              <a:gd name="adj" fmla="val 5128"/>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31520" y="2011680"/>
            <a:ext cx="3200400" cy="3200400"/>
          </a:xfrm>
          <a:prstGeom prst="rect">
            <a:avLst/>
          </a:prstGeom>
        </p:spPr>
      </p:pic>
      <p:sp>
        <p:nvSpPr>
          <p:cNvPr id="8" name="Text 5"/>
          <p:cNvSpPr txBox="1"/>
          <p:nvPr/>
        </p:nvSpPr>
        <p:spPr>
          <a:xfrm>
            <a:off x="548640" y="5486400"/>
            <a:ext cx="3840480" cy="457200"/>
          </a:xfrm>
          <a:prstGeom prst="rect">
            <a:avLst/>
          </a:prstGeom>
          <a:noFill/>
          <a:ln/>
        </p:spPr>
        <p:txBody>
          <a:bodyPr wrap="square" lIns="0" tIns="0" rIns="0" bIns="0" rtlCol="0" anchor="ctr"/>
          <a:lstStyle/>
          <a:p>
            <a:pPr indent="0" marL="0">
              <a:buNone/>
            </a:pPr>
            <a:r>
              <a:rPr lang="en-US" sz="800" dirty="0">
                <a:solidFill>
                  <a:srgbClr val="8FA3BF"/>
                </a:solidFill>
                <a:latin typeface="Malgun Gothic" pitchFamily="34" charset="0"/>
                <a:ea typeface="Malgun Gothic" pitchFamily="34" charset="-122"/>
                <a:cs typeface="Malgun Gothic" pitchFamily="34" charset="-120"/>
              </a:rPr>
              <a:t>https://drjinfit-ship-it.github.io/jinkim/web/?mode=join&amp;s=suwon-2&amp;p=back&amp;t=pre</a:t>
            </a:r>
            <a:endParaRPr lang="en-US" sz="800" dirty="0"/>
          </a:p>
        </p:txBody>
      </p:sp>
      <p:sp>
        <p:nvSpPr>
          <p:cNvPr id="9" name="Shape 6"/>
          <p:cNvSpPr/>
          <p:nvPr/>
        </p:nvSpPr>
        <p:spPr>
          <a:xfrm>
            <a:off x="4572000" y="1828800"/>
            <a:ext cx="7068312" cy="1554480"/>
          </a:xfrm>
          <a:prstGeom prst="roundRect">
            <a:avLst>
              <a:gd name="adj" fmla="val 8824"/>
            </a:avLst>
          </a:prstGeom>
          <a:solidFill>
            <a:srgbClr val="132446"/>
          </a:solidFill>
          <a:ln w="12700">
            <a:solidFill>
              <a:srgbClr val="132446"/>
            </a:solidFill>
            <a:prstDash val="solid"/>
          </a:ln>
        </p:spPr>
      </p:sp>
      <p:sp>
        <p:nvSpPr>
          <p:cNvPr id="10" name="Text 7"/>
          <p:cNvSpPr txBox="1"/>
          <p:nvPr/>
        </p:nvSpPr>
        <p:spPr>
          <a:xfrm>
            <a:off x="4800600" y="1965960"/>
            <a:ext cx="6611112" cy="274320"/>
          </a:xfrm>
          <a:prstGeom prst="rect">
            <a:avLst/>
          </a:prstGeom>
          <a:noFill/>
          <a:ln/>
        </p:spPr>
        <p:txBody>
          <a:bodyPr wrap="square" lIns="0" tIns="0" rIns="0" bIns="0" rtlCol="0" anchor="ct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진술 접수</a:t>
            </a:r>
            <a:endParaRPr lang="en-US" sz="1000" dirty="0"/>
          </a:p>
        </p:txBody>
      </p:sp>
      <p:sp>
        <p:nvSpPr>
          <p:cNvPr id="11" name="Text 8"/>
          <p:cNvSpPr txBox="1"/>
          <p:nvPr/>
        </p:nvSpPr>
        <p:spPr>
          <a:xfrm>
            <a:off x="4800600" y="2240280"/>
            <a:ext cx="6611112" cy="822960"/>
          </a:xfrm>
          <a:prstGeom prst="rect">
            <a:avLst/>
          </a:prstGeom>
          <a:noFill/>
          <a:ln/>
        </p:spPr>
        <p:txBody>
          <a:bodyPr wrap="square" lIns="0" tIns="0" rIns="0" bIns="0" rtlCol="0" anchor="ctr"/>
          <a:lstStyle/>
          <a:p>
            <a:pPr indent="0" marL="0">
              <a:buNone/>
            </a:pPr>
            <a:r>
              <a:rPr lang="en-US" sz="4000" b="1" dirty="0">
                <a:solidFill>
                  <a:srgbClr val="F5B13D"/>
                </a:solidFill>
                <a:latin typeface="Malgun Gothic" pitchFamily="34" charset="0"/>
                <a:ea typeface="Malgun Gothic" pitchFamily="34" charset="-122"/>
                <a:cs typeface="Malgun Gothic" pitchFamily="34" charset="-120"/>
              </a:rPr>
              <a:t>0 ~ 10</a:t>
            </a:r>
            <a:endParaRPr lang="en-US" sz="4000" dirty="0"/>
          </a:p>
        </p:txBody>
      </p:sp>
      <p:sp>
        <p:nvSpPr>
          <p:cNvPr id="12" name="Text 9"/>
          <p:cNvSpPr txBox="1"/>
          <p:nvPr/>
        </p:nvSpPr>
        <p:spPr>
          <a:xfrm>
            <a:off x="4800600" y="3017520"/>
            <a:ext cx="6611112" cy="365760"/>
          </a:xfrm>
          <a:prstGeom prst="rect">
            <a:avLst/>
          </a:prstGeom>
          <a:noFill/>
          <a:ln/>
        </p:spPr>
        <p:txBody>
          <a:bodyPr wrap="square" lIns="0" tIns="0" rIns="0" bIns="0" rtlCol="0" anchor="ctr"/>
          <a:lstStyle/>
          <a:p>
            <a:pPr indent="0" marL="0">
              <a:buNone/>
            </a:pPr>
            <a:r>
              <a:rPr lang="en-US" sz="1050" dirty="0">
                <a:solidFill>
                  <a:srgbClr val="C5D0E2"/>
                </a:solidFill>
                <a:latin typeface="Malgun Gothic" pitchFamily="34" charset="0"/>
                <a:ea typeface="Malgun Gothic" pitchFamily="34" charset="-122"/>
                <a:cs typeface="Malgun Gothic" pitchFamily="34" charset="-120"/>
              </a:rPr>
              <a:t>사건 4 접수 — 허리. 먼저 확인 동작 10초: 앉은 채 몸통 조금 숙이기 또는 일어나 3걸음. 그 직후 지금 이 순간의 불편감을 0~10으로 진술합니다. 다리로 뻗치는 통증·저림이 있는 분은 공은 생략하고 골반 흔들기만 하셔도 됩니다.</a:t>
            </a:r>
            <a:endParaRPr lang="en-US" sz="1050" dirty="0"/>
          </a:p>
        </p:txBody>
      </p:sp>
      <p:sp>
        <p:nvSpPr>
          <p:cNvPr id="13" name="Text 10"/>
          <p:cNvSpPr txBox="1"/>
          <p:nvPr/>
        </p:nvSpPr>
        <p:spPr>
          <a:xfrm>
            <a:off x="4572000" y="3657600"/>
            <a:ext cx="7068312" cy="1097280"/>
          </a:xfrm>
          <a:prstGeom prst="rect">
            <a:avLst/>
          </a:prstGeom>
          <a:noFill/>
          <a:ln/>
        </p:spPr>
        <p:txBody>
          <a:bodyPr wrap="square" lIns="0" tIns="0" rIns="0" bIns="0" rtlCol="0" anchor="t"/>
          <a:lstStyle/>
          <a:p>
            <a:pPr indent="0" marL="0">
              <a:buNone/>
            </a:pPr>
            <a:r>
              <a:rPr lang="en-US" sz="1200" dirty="0">
                <a:solidFill>
                  <a:srgbClr val="C5D0E2"/>
                </a:solidFill>
                <a:latin typeface="Malgun Gothic" pitchFamily="34" charset="0"/>
                <a:ea typeface="Malgun Gothic" pitchFamily="34" charset="-122"/>
                <a:cs typeface="Malgun Gothic" pitchFamily="34" charset="-120"/>
              </a:rPr>
              <a:t>이름·연락처·소속을 받지 않습니다. 이 휴대폰의 무작위 번호로만 강의 전·후를 짝지어 익명 집계합니다.</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증거조사 ④ · 허리 · 5분</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17</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2600" b="1" dirty="0">
                <a:solidFill>
                  <a:srgbClr val="F3F6FB"/>
                </a:solidFill>
                <a:latin typeface="Malgun Gothic" pitchFamily="34" charset="0"/>
                <a:ea typeface="Malgun Gothic" pitchFamily="34" charset="-122"/>
                <a:cs typeface="Malgun Gothic" pitchFamily="34" charset="-120"/>
              </a:rPr>
              <a:t>엉덩이는 방석이 아닙니다. 허리는 피해자, 범인은 엉덩이.</a:t>
            </a:r>
            <a:endParaRPr lang="en-US" sz="2600" dirty="0"/>
          </a:p>
        </p:txBody>
      </p:sp>
      <p:sp>
        <p:nvSpPr>
          <p:cNvPr id="6" name="Text 4"/>
          <p:cNvSpPr txBox="1"/>
          <p:nvPr/>
        </p:nvSpPr>
        <p:spPr>
          <a:xfrm>
            <a:off x="548640" y="1600200"/>
            <a:ext cx="11091672" cy="548640"/>
          </a:xfrm>
          <a:prstGeom prst="rect">
            <a:avLst/>
          </a:prstGeom>
          <a:noFill/>
          <a:ln/>
        </p:spPr>
        <p:txBody>
          <a:bodyPr wrap="square" lIns="0" tIns="0" rIns="0" bIns="0" rtlCol="0" anchor="t"/>
          <a:lstStyle/>
          <a:p>
            <a:pPr indent="0" marL="0">
              <a:buNone/>
            </a:pPr>
            <a:r>
              <a:rPr lang="en-US" sz="1000" b="1" dirty="0">
                <a:solidFill>
                  <a:srgbClr val="F5B13D"/>
                </a:solidFill>
                <a:latin typeface="Malgun Gothic" pitchFamily="34" charset="0"/>
                <a:ea typeface="Malgun Gothic" pitchFamily="34" charset="-122"/>
                <a:cs typeface="Malgun Gothic" pitchFamily="34" charset="-120"/>
              </a:rPr>
              <a:t>주장  </a:t>
            </a:r>
            <a:pPr indent="0" marL="0">
              <a:buNone/>
            </a:pPr>
            <a:r>
              <a:rPr lang="en-US" sz="1300" dirty="0">
                <a:solidFill>
                  <a:srgbClr val="C5D0E2"/>
                </a:solidFill>
                <a:latin typeface="Malgun Gothic" pitchFamily="34" charset="0"/>
                <a:ea typeface="Malgun Gothic" pitchFamily="34" charset="-122"/>
                <a:cs typeface="Malgun Gothic" pitchFamily="34" charset="-120"/>
              </a:rPr>
              <a:t>허리는 피해자, 범인은 엉덩이입니다. 오래 앉으면 엉덩이가 방석 역할만 하며 굳고, 허리가 대신 일합니다. 같은 의자에서 한쪽 엉덩이만 풀고 골반 중간점을 찾은 뒤 다리 들기와 3걸음이 달라지는지 확인합니다 — 쟁점 2·4·5를 여기서 답합니다.</a:t>
            </a:r>
            <a:pPr indent="0" marL="0">
              <a:buNone/>
            </a:pPr>
            <a:r>
              <a:rPr lang="en-US" sz="1000" b="1" dirty="0">
                <a:solidFill>
                  <a:srgbClr val="8FA3BF"/>
                </a:solidFill>
                <a:latin typeface="Malgun Gothic" pitchFamily="34" charset="0"/>
                <a:ea typeface="Malgun Gothic" pitchFamily="34" charset="-122"/>
                <a:cs typeface="Malgun Gothic" pitchFamily="34" charset="-120"/>
              </a:rPr>
              <a:t>    반대 가설  </a:t>
            </a:r>
            <a:pPr indent="0" marL="0">
              <a:buNone/>
            </a:pPr>
            <a:r>
              <a:rPr lang="en-US" sz="1200" dirty="0">
                <a:solidFill>
                  <a:srgbClr val="8FA3BF"/>
                </a:solidFill>
                <a:latin typeface="Malgun Gothic" pitchFamily="34" charset="0"/>
                <a:ea typeface="Malgun Gothic" pitchFamily="34" charset="-122"/>
                <a:cs typeface="Malgun Gothic" pitchFamily="34" charset="-120"/>
              </a:rPr>
              <a:t>"디스크가 있으면 소용없지 않나?" — 영상 소견은 오늘 못 바꿉니다. 오늘 확인하는 것은 그 위에 얹힌 근육 상태입니다. "허리가 아프면 허리를 풀어야 한다" — 오늘은 허리를 만지지 않았습니다. 변화가 없는 분은 원인이 엉덩이가 아닌 경우이니 손 들어 주세요 — 그것이 더 중요한 정보입니다. 저림이 늘면 의료기관입니다.</a:t>
            </a:r>
            <a:endParaRPr lang="en-US" sz="1000" dirty="0"/>
          </a:p>
        </p:txBody>
      </p:sp>
      <p:sp>
        <p:nvSpPr>
          <p:cNvPr id="7" name="Shape 5"/>
          <p:cNvSpPr/>
          <p:nvPr/>
        </p:nvSpPr>
        <p:spPr>
          <a:xfrm>
            <a:off x="548640" y="2240280"/>
            <a:ext cx="3544824" cy="2788920"/>
          </a:xfrm>
          <a:prstGeom prst="roundRect">
            <a:avLst>
              <a:gd name="adj" fmla="val 4918"/>
            </a:avLst>
          </a:prstGeom>
          <a:solidFill>
            <a:srgbClr val="132446"/>
          </a:solidFill>
          <a:ln w="12700">
            <a:solidFill>
              <a:srgbClr val="132446"/>
            </a:solidFill>
            <a:prstDash val="solid"/>
          </a:ln>
        </p:spPr>
      </p:sp>
      <p:sp>
        <p:nvSpPr>
          <p:cNvPr id="8" name="Text 6"/>
          <p:cNvSpPr txBox="1"/>
          <p:nvPr/>
        </p:nvSpPr>
        <p:spPr>
          <a:xfrm>
            <a:off x="749808"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현장 검증 · 체크</a:t>
            </a:r>
            <a:endParaRPr lang="en-US" sz="1000" dirty="0"/>
          </a:p>
        </p:txBody>
      </p:sp>
      <p:sp>
        <p:nvSpPr>
          <p:cNvPr id="9" name="Text 7"/>
          <p:cNvSpPr txBox="1"/>
          <p:nvPr/>
        </p:nvSpPr>
        <p:spPr>
          <a:xfrm>
            <a:off x="749808" y="2697480"/>
            <a:ext cx="3142488" cy="731520"/>
          </a:xfrm>
          <a:prstGeom prst="rect">
            <a:avLst/>
          </a:prstGeom>
          <a:noFill/>
          <a:ln/>
        </p:spPr>
        <p:txBody>
          <a:bodyPr wrap="square" lIns="0" tIns="0" rIns="0" bIns="0" rtlCol="0" anchor="t"/>
          <a:lstStyle/>
          <a:p>
            <a:pPr indent="0" marL="0">
              <a:buNone/>
            </a:pPr>
            <a:endParaRPr lang="en-US" sz="1500" dirty="0"/>
          </a:p>
        </p:txBody>
      </p:sp>
      <p:sp>
        <p:nvSpPr>
          <p:cNvPr id="10" name="Text 8"/>
          <p:cNvSpPr txBox="1"/>
          <p:nvPr/>
        </p:nvSpPr>
        <p:spPr>
          <a:xfrm>
            <a:off x="749808" y="3429000"/>
            <a:ext cx="3142488" cy="146304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쟁점 5 허리 자가 확인 동작(10초): 앉은 채 몸통을 조금 숙여 허리 느낌, 또는 일어나 3걸음. 뻣뻣함의 위치와 첫 걸음의 느낌을 기억합니다.</a:t>
            </a:r>
            <a:endParaRPr lang="en-US" sz="1150" dirty="0"/>
          </a:p>
        </p:txBody>
      </p:sp>
      <p:sp>
        <p:nvSpPr>
          <p:cNvPr id="11" name="Shape 9"/>
          <p:cNvSpPr/>
          <p:nvPr/>
        </p:nvSpPr>
        <p:spPr>
          <a:xfrm>
            <a:off x="4322064" y="2240280"/>
            <a:ext cx="3544824" cy="2788920"/>
          </a:xfrm>
          <a:prstGeom prst="roundRect">
            <a:avLst>
              <a:gd name="adj" fmla="val 4918"/>
            </a:avLst>
          </a:prstGeom>
          <a:solidFill>
            <a:srgbClr val="0F2E3F"/>
          </a:solidFill>
          <a:ln w="12700">
            <a:solidFill>
              <a:srgbClr val="0F2E3F"/>
            </a:solidFill>
            <a:prstDash val="solid"/>
          </a:ln>
        </p:spPr>
      </p:sp>
      <p:sp>
        <p:nvSpPr>
          <p:cNvPr id="12" name="Text 10"/>
          <p:cNvSpPr txBox="1"/>
          <p:nvPr/>
        </p:nvSpPr>
        <p:spPr>
          <a:xfrm>
            <a:off x="4523232"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개입 실험 · 10초 리셋 · 한쪽만</a:t>
            </a:r>
            <a:endParaRPr lang="en-US" sz="1000" dirty="0"/>
          </a:p>
        </p:txBody>
      </p:sp>
      <p:sp>
        <p:nvSpPr>
          <p:cNvPr id="13" name="Text 11"/>
          <p:cNvSpPr txBox="1"/>
          <p:nvPr/>
        </p:nvSpPr>
        <p:spPr>
          <a:xfrm>
            <a:off x="4523232" y="2697480"/>
            <a:ext cx="3142488" cy="731520"/>
          </a:xfrm>
          <a:prstGeom prst="rect">
            <a:avLst/>
          </a:prstGeom>
          <a:noFill/>
          <a:ln/>
        </p:spPr>
        <p:txBody>
          <a:bodyPr wrap="square" lIns="0" tIns="0" rIns="0" bIns="0" rtlCol="0" anchor="t"/>
          <a:lstStyle/>
          <a:p>
            <a:pPr indent="0" marL="0">
              <a:buNone/>
            </a:pPr>
            <a:endParaRPr lang="en-US" sz="1500" dirty="0"/>
          </a:p>
        </p:txBody>
      </p:sp>
      <p:sp>
        <p:nvSpPr>
          <p:cNvPr id="14" name="Text 12"/>
          <p:cNvSpPr txBox="1"/>
          <p:nvPr/>
        </p:nvSpPr>
        <p:spPr>
          <a:xfrm>
            <a:off x="4523232" y="3429000"/>
            <a:ext cx="3142488"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한쪽만: 의자 위 청바지 뒷주머니 위치에 공, 그쪽 무릎을 바깥으로 벌리며 체중 싣기. '10초 불편할지, 오후 내내 불편할지' 선택</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힘을 완전히 빼고 소리 나게 10초 내쉬기 ×2, 공을 바깥 위로 손가락 한 마디 옮겨 반복 — 더 아프면 '심봤다'. 저리거나 찌릿하면 즉시 옮기고, 남으면 생략</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골반을 앞뒤로 작게 5번 움직여 가장 편한 중간점에서 호흡 3회 — 이것이 좋은 의자가 못 해주는 일이고, 재판 중 '1분 버전'(쟁점 4)</a:t>
            </a:r>
            <a:endParaRPr lang="en-US" sz="1150" dirty="0"/>
          </a:p>
        </p:txBody>
      </p:sp>
      <p:sp>
        <p:nvSpPr>
          <p:cNvPr id="15" name="Shape 13"/>
          <p:cNvSpPr/>
          <p:nvPr/>
        </p:nvSpPr>
        <p:spPr>
          <a:xfrm>
            <a:off x="8095488" y="2240280"/>
            <a:ext cx="3544824" cy="2788920"/>
          </a:xfrm>
          <a:prstGeom prst="roundRect">
            <a:avLst>
              <a:gd name="adj" fmla="val 4918"/>
            </a:avLst>
          </a:prstGeom>
          <a:solidFill>
            <a:srgbClr val="3A2A0F"/>
          </a:solidFill>
          <a:ln w="12700">
            <a:solidFill>
              <a:srgbClr val="3A2A0F"/>
            </a:solidFill>
            <a:prstDash val="solid"/>
          </a:ln>
        </p:spPr>
      </p:sp>
      <p:sp>
        <p:nvSpPr>
          <p:cNvPr id="16" name="Text 14"/>
          <p:cNvSpPr txBox="1"/>
          <p:nvPr/>
        </p:nvSpPr>
        <p:spPr>
          <a:xfrm>
            <a:off x="8296656"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대질 · 좌우 비교</a:t>
            </a:r>
            <a:endParaRPr lang="en-US" sz="1000" dirty="0"/>
          </a:p>
        </p:txBody>
      </p:sp>
      <p:sp>
        <p:nvSpPr>
          <p:cNvPr id="17" name="Text 15"/>
          <p:cNvSpPr txBox="1"/>
          <p:nvPr/>
        </p:nvSpPr>
        <p:spPr>
          <a:xfrm>
            <a:off x="8296656" y="2697480"/>
            <a:ext cx="3142488" cy="731520"/>
          </a:xfrm>
          <a:prstGeom prst="rect">
            <a:avLst/>
          </a:prstGeom>
          <a:noFill/>
          <a:ln/>
        </p:spPr>
        <p:txBody>
          <a:bodyPr wrap="square" lIns="0" tIns="0" rIns="0" bIns="0" rtlCol="0" anchor="t"/>
          <a:lstStyle/>
          <a:p>
            <a:pPr indent="0" marL="0">
              <a:buNone/>
            </a:pPr>
            <a:endParaRPr lang="en-US" sz="1500" dirty="0"/>
          </a:p>
        </p:txBody>
      </p:sp>
      <p:sp>
        <p:nvSpPr>
          <p:cNvPr id="18" name="Text 16"/>
          <p:cNvSpPr txBox="1"/>
          <p:nvPr/>
        </p:nvSpPr>
        <p:spPr>
          <a:xfrm>
            <a:off x="8296656" y="3429000"/>
            <a:ext cx="3142488"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대질: 공 빼고 안 푼 다리 vs 푼 다리 들어 올리기. 일어나서 3걸음 — 첫 걸음이 다릅니까? 의자는 그대로였습니다(쟁점 2).</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집행(유지): 앉을 때 골반 중간점에서 배를 살짝 조여 등을 세웁니다. 30분마다 자세를 바꿉니다 — 가장 좋은 자세는 다음 자세. 1분 버전: 뒷주머니 쪽으로 체중 옮기기 + 골반 중간점.</a:t>
            </a:r>
            <a:endParaRPr lang="en-US" sz="1150" dirty="0"/>
          </a:p>
        </p:txBody>
      </p:sp>
      <p:sp>
        <p:nvSpPr>
          <p:cNvPr id="19" name="Text 17"/>
          <p:cNvSpPr txBox="1"/>
          <p:nvPr/>
        </p:nvSpPr>
        <p:spPr>
          <a:xfrm>
            <a:off x="548640" y="5120640"/>
            <a:ext cx="11091672" cy="640080"/>
          </a:xfrm>
          <a:prstGeom prst="rect">
            <a:avLst/>
          </a:prstGeom>
          <a:noFill/>
          <a:ln/>
        </p:spPr>
        <p:txBody>
          <a:bodyPr wrap="square" lIns="0" tIns="0" rIns="0" bIns="0" rtlCol="0" anchor="t"/>
          <a:lstStyle/>
          <a:p>
            <a:pPr indent="0" marL="0">
              <a:buNone/>
            </a:pPr>
            <a:r>
              <a:rPr lang="en-US" sz="950" dirty="0">
                <a:solidFill>
                  <a:srgbClr val="C5D0E2"/>
                </a:solidFill>
                <a:latin typeface="Malgun Gothic" pitchFamily="34" charset="0"/>
                <a:ea typeface="Malgun Gothic" pitchFamily="34" charset="-122"/>
                <a:cs typeface="Malgun Gothic" pitchFamily="34" charset="-120"/>
              </a:rPr>
              <a:t>문헌: 비특이적 요통은 일상 활동 지속·자기관리·운동을 권고. 레드플래그 징후는 별도 평가 (NICE NG59 (2016))</a:t>
            </a:r>
            <a:endParaRPr lang="en-US" sz="950" dirty="0"/>
          </a:p>
          <a:p>
            <a:pPr indent="0" marL="0">
              <a:buNone/>
            </a:pPr>
            <a:r>
              <a:rPr lang="en-US" sz="950" dirty="0">
                <a:solidFill>
                  <a:srgbClr val="C5D0E2"/>
                </a:solidFill>
                <a:latin typeface="Malgun Gothic" pitchFamily="34" charset="0"/>
                <a:ea typeface="Malgun Gothic" pitchFamily="34" charset="-122"/>
                <a:cs typeface="Malgun Gothic" pitchFamily="34" charset="-120"/>
              </a:rPr>
              <a:t>현장: 1회차: 한쪽 엉덩이만 푼 뒤 다리 들기·걷기 비교에서 차이 응답. 강사 스스로 '다시 돌아온다' 고지 — 그래서 집행 조건이 붙는다 (1회차는 매트·누운 자세, 오늘은 의자 버전 — 조건이 다르므로 오늘이 의자 버전의 첫 기록) (1회차(8/31) 현장 관찰 · 자기보고 · 기록 없음(참고))</a:t>
            </a:r>
            <a:endParaRPr lang="en-US" sz="950" dirty="0"/>
          </a:p>
          <a:p>
            <a:pPr indent="0" marL="0">
              <a:buNone/>
            </a:pPr>
            <a:r>
              <a:rPr lang="en-US" sz="950" dirty="0">
                <a:solidFill>
                  <a:srgbClr val="C5D0E2"/>
                </a:solidFill>
                <a:latin typeface="Malgun Gothic" pitchFamily="34" charset="0"/>
                <a:ea typeface="Malgun Gothic" pitchFamily="34" charset="-122"/>
                <a:cs typeface="Malgun Gothic" pitchFamily="34" charset="-120"/>
              </a:rPr>
              <a:t>실험: 오늘 같은 의자에서 한쪽만 풀고 다리 들기·3걸음 비교 + 사전/사후 QR (현장 자기 대조)</a:t>
            </a:r>
            <a:endParaRPr lang="en-US" sz="950" dirty="0"/>
          </a:p>
        </p:txBody>
      </p:sp>
      <p:sp>
        <p:nvSpPr>
          <p:cNvPr id="20" name="Text 18"/>
          <p:cNvSpPr txBox="1"/>
          <p:nvPr/>
        </p:nvSpPr>
        <p:spPr>
          <a:xfrm>
            <a:off x="548640" y="5715000"/>
            <a:ext cx="11091672" cy="457200"/>
          </a:xfrm>
          <a:prstGeom prst="rect">
            <a:avLst/>
          </a:prstGeom>
          <a:noFill/>
          <a:ln/>
        </p:spPr>
        <p:txBody>
          <a:bodyPr wrap="square" lIns="0" tIns="0" rIns="0" bIns="0" rtlCol="0" anchor="ctr"/>
          <a:lstStyle/>
          <a:p>
            <a:pPr indent="0" marL="0">
              <a:buNone/>
            </a:pPr>
            <a:r>
              <a:rPr lang="en-US" sz="1100" dirty="0">
                <a:solidFill>
                  <a:srgbClr val="FFC9C9"/>
                </a:solidFill>
                <a:latin typeface="Malgun Gothic" pitchFamily="34" charset="0"/>
                <a:ea typeface="Malgun Gothic" pitchFamily="34" charset="-122"/>
                <a:cs typeface="Malgun Gothic" pitchFamily="34" charset="-120"/>
              </a:rPr>
              <a:t>! 바퀴 의자는 벽이나 책상에 붙이고 양발을 바닥에 둔 채 체중을 옮깁니다. 의자가 밀리면 공을 뺍니다. 다리로 뻗치는 통증·저림이 있으면 공은 생략하고 골반 흔들기만 합니다. 공 위에서 저리거나 찌릿하면 그 자리는 피해 손가락 한 마디 옮기고, 남으면 중단 — 이유는 판단하지 않습니다. 대소변 조절 이상·발열·야간통·최근 외상은 이 법정 관할 밖 — 의료기관 평가가 먼저입니다. 항응고제 복용·골다공증 진단자는 압박을 생략합니다. 허리 진료 중인 분은 담당 의료진 지시 우선.</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재검사 · AFTER · 허리</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18</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허리 — 재검사: 지금은 몇 점입니까?</a:t>
            </a:r>
            <a:endParaRPr lang="en-US" sz="3000" dirty="0"/>
          </a:p>
        </p:txBody>
      </p:sp>
      <p:sp>
        <p:nvSpPr>
          <p:cNvPr id="6" name="Shape 4"/>
          <p:cNvSpPr/>
          <p:nvPr/>
        </p:nvSpPr>
        <p:spPr>
          <a:xfrm>
            <a:off x="548640" y="1828800"/>
            <a:ext cx="3566160" cy="3566160"/>
          </a:xfrm>
          <a:prstGeom prst="roundRect">
            <a:avLst>
              <a:gd name="adj" fmla="val 5128"/>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31520" y="2011680"/>
            <a:ext cx="3200400" cy="3200400"/>
          </a:xfrm>
          <a:prstGeom prst="rect">
            <a:avLst/>
          </a:prstGeom>
        </p:spPr>
      </p:pic>
      <p:sp>
        <p:nvSpPr>
          <p:cNvPr id="8" name="Text 5"/>
          <p:cNvSpPr txBox="1"/>
          <p:nvPr/>
        </p:nvSpPr>
        <p:spPr>
          <a:xfrm>
            <a:off x="548640" y="5486400"/>
            <a:ext cx="3840480" cy="457200"/>
          </a:xfrm>
          <a:prstGeom prst="rect">
            <a:avLst/>
          </a:prstGeom>
          <a:noFill/>
          <a:ln/>
        </p:spPr>
        <p:txBody>
          <a:bodyPr wrap="square" lIns="0" tIns="0" rIns="0" bIns="0" rtlCol="0" anchor="ctr"/>
          <a:lstStyle/>
          <a:p>
            <a:pPr indent="0" marL="0">
              <a:buNone/>
            </a:pPr>
            <a:r>
              <a:rPr lang="en-US" sz="800" dirty="0">
                <a:solidFill>
                  <a:srgbClr val="8FA3BF"/>
                </a:solidFill>
                <a:latin typeface="Malgun Gothic" pitchFamily="34" charset="0"/>
                <a:ea typeface="Malgun Gothic" pitchFamily="34" charset="-122"/>
                <a:cs typeface="Malgun Gothic" pitchFamily="34" charset="-120"/>
              </a:rPr>
              <a:t>https://drjinfit-ship-it.github.io/jinkim/web/?mode=join&amp;s=suwon-2&amp;p=back&amp;t=post</a:t>
            </a:r>
            <a:endParaRPr lang="en-US" sz="800" dirty="0"/>
          </a:p>
        </p:txBody>
      </p:sp>
      <p:sp>
        <p:nvSpPr>
          <p:cNvPr id="9" name="Shape 6"/>
          <p:cNvSpPr/>
          <p:nvPr/>
        </p:nvSpPr>
        <p:spPr>
          <a:xfrm>
            <a:off x="4572000" y="1828800"/>
            <a:ext cx="7068312" cy="1554480"/>
          </a:xfrm>
          <a:prstGeom prst="roundRect">
            <a:avLst>
              <a:gd name="adj" fmla="val 8824"/>
            </a:avLst>
          </a:prstGeom>
          <a:solidFill>
            <a:srgbClr val="132446"/>
          </a:solidFill>
          <a:ln w="12700">
            <a:solidFill>
              <a:srgbClr val="132446"/>
            </a:solidFill>
            <a:prstDash val="solid"/>
          </a:ln>
        </p:spPr>
      </p:sp>
      <p:sp>
        <p:nvSpPr>
          <p:cNvPr id="10" name="Text 7"/>
          <p:cNvSpPr txBox="1"/>
          <p:nvPr/>
        </p:nvSpPr>
        <p:spPr>
          <a:xfrm>
            <a:off x="4800600" y="1965960"/>
            <a:ext cx="6611112" cy="274320"/>
          </a:xfrm>
          <a:prstGeom prst="rect">
            <a:avLst/>
          </a:prstGeom>
          <a:noFill/>
          <a:ln/>
        </p:spPr>
        <p:txBody>
          <a:bodyPr wrap="square" lIns="0" tIns="0" rIns="0" bIns="0" rtlCol="0" anchor="ct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이 강의장 전체 · 불편감 감소 평균</a:t>
            </a:r>
            <a:endParaRPr lang="en-US" sz="1000" dirty="0"/>
          </a:p>
        </p:txBody>
      </p:sp>
      <p:sp>
        <p:nvSpPr>
          <p:cNvPr id="11" name="Text 8"/>
          <p:cNvSpPr txBox="1"/>
          <p:nvPr/>
        </p:nvSpPr>
        <p:spPr>
          <a:xfrm>
            <a:off x="4800600" y="2240280"/>
            <a:ext cx="6611112" cy="822960"/>
          </a:xfrm>
          <a:prstGeom prst="rect">
            <a:avLst/>
          </a:prstGeom>
          <a:noFill/>
          <a:ln/>
        </p:spPr>
        <p:txBody>
          <a:bodyPr wrap="square" lIns="0" tIns="0" rIns="0" bIns="0" rtlCol="0" anchor="ctr"/>
          <a:lstStyle/>
          <a:p>
            <a:pPr indent="0" marL="0">
              <a:buNone/>
            </a:pPr>
            <a:r>
              <a:rPr lang="en-US" sz="4000" b="1" dirty="0">
                <a:solidFill>
                  <a:srgbClr val="3DD68C"/>
                </a:solidFill>
                <a:latin typeface="Malgun Gothic" pitchFamily="34" charset="0"/>
                <a:ea typeface="Malgun Gothic" pitchFamily="34" charset="-122"/>
                <a:cs typeface="Malgun Gothic" pitchFamily="34" charset="-120"/>
              </a:rPr>
              <a:t>— 점 감소</a:t>
            </a:r>
            <a:endParaRPr lang="en-US" sz="4000" dirty="0"/>
          </a:p>
        </p:txBody>
      </p:sp>
      <p:sp>
        <p:nvSpPr>
          <p:cNvPr id="12" name="Text 9"/>
          <p:cNvSpPr txBox="1"/>
          <p:nvPr/>
        </p:nvSpPr>
        <p:spPr>
          <a:xfrm>
            <a:off x="4800600" y="3017520"/>
            <a:ext cx="6611112" cy="365760"/>
          </a:xfrm>
          <a:prstGeom prst="rect">
            <a:avLst/>
          </a:prstGeom>
          <a:noFill/>
          <a:ln/>
        </p:spPr>
        <p:txBody>
          <a:bodyPr wrap="square" lIns="0" tIns="0" rIns="0" bIns="0" rtlCol="0" anchor="ctr"/>
          <a:lstStyle/>
          <a:p>
            <a:pPr indent="0" marL="0">
              <a:buNone/>
            </a:pPr>
            <a:r>
              <a:rPr lang="en-US" sz="1050" dirty="0">
                <a:solidFill>
                  <a:srgbClr val="C5D0E2"/>
                </a:solidFill>
                <a:latin typeface="Malgun Gothic" pitchFamily="34" charset="0"/>
                <a:ea typeface="Malgun Gothic" pitchFamily="34" charset="-122"/>
                <a:cs typeface="Malgun Gothic" pitchFamily="34" charset="-120"/>
              </a:rPr>
              <a:t>현장에서는 실시간 보드로 평균·개선율이 표시됩니다. 같은 부위, 같은 기준으로 다시 입력합니다.</a:t>
            </a:r>
            <a:endParaRPr lang="en-US" sz="1050" dirty="0"/>
          </a:p>
        </p:txBody>
      </p:sp>
      <p:sp>
        <p:nvSpPr>
          <p:cNvPr id="13" name="Text 10"/>
          <p:cNvSpPr txBox="1"/>
          <p:nvPr/>
        </p:nvSpPr>
        <p:spPr>
          <a:xfrm>
            <a:off x="4572000" y="3657600"/>
            <a:ext cx="7068312" cy="1097280"/>
          </a:xfrm>
          <a:prstGeom prst="rect">
            <a:avLst/>
          </a:prstGeom>
          <a:noFill/>
          <a:ln/>
        </p:spPr>
        <p:txBody>
          <a:bodyPr wrap="square" lIns="0" tIns="0" rIns="0" bIns="0" rtlCol="0" anchor="t"/>
          <a:lstStyle/>
          <a:p>
            <a:pPr indent="0" marL="0">
              <a:buNone/>
            </a:pPr>
            <a:r>
              <a:rPr lang="en-US" sz="1200" dirty="0">
                <a:solidFill>
                  <a:srgbClr val="C5D0E2"/>
                </a:solidFill>
                <a:latin typeface="Malgun Gothic" pitchFamily="34" charset="0"/>
                <a:ea typeface="Malgun Gothic" pitchFamily="34" charset="-122"/>
                <a:cs typeface="Malgun Gothic" pitchFamily="34" charset="-120"/>
              </a:rPr>
              <a:t>소결(현장 수치로 채움): 사건 4 소결 — 허리 불편감 평균 {drop}점 감소, 사전 1점 이상 중 {pct}%가 1점 이상 감소(2점 이상 {pct2}%, 자기보고). 쟁점 2 답: 의자는 같았고 엉덩이만 달랐다 — 좋은 의자는 좋은 변호사, 대신 걸어 주진 않는다. 쟁점 4 답: 재판 중 1분이면 골반 중간점 + 허리 넣고 배 조이기.</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진술 접수 · BEFORE · 무릎</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19</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무릎 — 지금 불편감은 몇 점입니까?</a:t>
            </a:r>
            <a:endParaRPr lang="en-US" sz="3000" dirty="0"/>
          </a:p>
        </p:txBody>
      </p:sp>
      <p:sp>
        <p:nvSpPr>
          <p:cNvPr id="6" name="Shape 4"/>
          <p:cNvSpPr/>
          <p:nvPr/>
        </p:nvSpPr>
        <p:spPr>
          <a:xfrm>
            <a:off x="548640" y="1828800"/>
            <a:ext cx="3566160" cy="3566160"/>
          </a:xfrm>
          <a:prstGeom prst="roundRect">
            <a:avLst>
              <a:gd name="adj" fmla="val 5128"/>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31520" y="2011680"/>
            <a:ext cx="3200400" cy="3200400"/>
          </a:xfrm>
          <a:prstGeom prst="rect">
            <a:avLst/>
          </a:prstGeom>
        </p:spPr>
      </p:pic>
      <p:sp>
        <p:nvSpPr>
          <p:cNvPr id="8" name="Text 5"/>
          <p:cNvSpPr txBox="1"/>
          <p:nvPr/>
        </p:nvSpPr>
        <p:spPr>
          <a:xfrm>
            <a:off x="548640" y="5486400"/>
            <a:ext cx="3840480" cy="457200"/>
          </a:xfrm>
          <a:prstGeom prst="rect">
            <a:avLst/>
          </a:prstGeom>
          <a:noFill/>
          <a:ln/>
        </p:spPr>
        <p:txBody>
          <a:bodyPr wrap="square" lIns="0" tIns="0" rIns="0" bIns="0" rtlCol="0" anchor="ctr"/>
          <a:lstStyle/>
          <a:p>
            <a:pPr indent="0" marL="0">
              <a:buNone/>
            </a:pPr>
            <a:r>
              <a:rPr lang="en-US" sz="800" dirty="0">
                <a:solidFill>
                  <a:srgbClr val="8FA3BF"/>
                </a:solidFill>
                <a:latin typeface="Malgun Gothic" pitchFamily="34" charset="0"/>
                <a:ea typeface="Malgun Gothic" pitchFamily="34" charset="-122"/>
                <a:cs typeface="Malgun Gothic" pitchFamily="34" charset="-120"/>
              </a:rPr>
              <a:t>https://drjinfit-ship-it.github.io/jinkim/web/?mode=join&amp;s=suwon-2&amp;p=knee&amp;t=pre</a:t>
            </a:r>
            <a:endParaRPr lang="en-US" sz="800" dirty="0"/>
          </a:p>
        </p:txBody>
      </p:sp>
      <p:sp>
        <p:nvSpPr>
          <p:cNvPr id="9" name="Shape 6"/>
          <p:cNvSpPr/>
          <p:nvPr/>
        </p:nvSpPr>
        <p:spPr>
          <a:xfrm>
            <a:off x="4572000" y="1828800"/>
            <a:ext cx="7068312" cy="1554480"/>
          </a:xfrm>
          <a:prstGeom prst="roundRect">
            <a:avLst>
              <a:gd name="adj" fmla="val 8824"/>
            </a:avLst>
          </a:prstGeom>
          <a:solidFill>
            <a:srgbClr val="132446"/>
          </a:solidFill>
          <a:ln w="12700">
            <a:solidFill>
              <a:srgbClr val="132446"/>
            </a:solidFill>
            <a:prstDash val="solid"/>
          </a:ln>
        </p:spPr>
      </p:sp>
      <p:sp>
        <p:nvSpPr>
          <p:cNvPr id="10" name="Text 7"/>
          <p:cNvSpPr txBox="1"/>
          <p:nvPr/>
        </p:nvSpPr>
        <p:spPr>
          <a:xfrm>
            <a:off x="4800600" y="1965960"/>
            <a:ext cx="6611112" cy="274320"/>
          </a:xfrm>
          <a:prstGeom prst="rect">
            <a:avLst/>
          </a:prstGeom>
          <a:noFill/>
          <a:ln/>
        </p:spPr>
        <p:txBody>
          <a:bodyPr wrap="square" lIns="0" tIns="0" rIns="0" bIns="0" rtlCol="0" anchor="ct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진술 접수</a:t>
            </a:r>
            <a:endParaRPr lang="en-US" sz="1000" dirty="0"/>
          </a:p>
        </p:txBody>
      </p:sp>
      <p:sp>
        <p:nvSpPr>
          <p:cNvPr id="11" name="Text 8"/>
          <p:cNvSpPr txBox="1"/>
          <p:nvPr/>
        </p:nvSpPr>
        <p:spPr>
          <a:xfrm>
            <a:off x="4800600" y="2240280"/>
            <a:ext cx="6611112" cy="822960"/>
          </a:xfrm>
          <a:prstGeom prst="rect">
            <a:avLst/>
          </a:prstGeom>
          <a:noFill/>
          <a:ln/>
        </p:spPr>
        <p:txBody>
          <a:bodyPr wrap="square" lIns="0" tIns="0" rIns="0" bIns="0" rtlCol="0" anchor="ctr"/>
          <a:lstStyle/>
          <a:p>
            <a:pPr indent="0" marL="0">
              <a:buNone/>
            </a:pPr>
            <a:r>
              <a:rPr lang="en-US" sz="4000" b="1" dirty="0">
                <a:solidFill>
                  <a:srgbClr val="F5B13D"/>
                </a:solidFill>
                <a:latin typeface="Malgun Gothic" pitchFamily="34" charset="0"/>
                <a:ea typeface="Malgun Gothic" pitchFamily="34" charset="-122"/>
                <a:cs typeface="Malgun Gothic" pitchFamily="34" charset="-120"/>
              </a:rPr>
              <a:t>0 ~ 10</a:t>
            </a:r>
            <a:endParaRPr lang="en-US" sz="4000" dirty="0"/>
          </a:p>
        </p:txBody>
      </p:sp>
      <p:sp>
        <p:nvSpPr>
          <p:cNvPr id="12" name="Text 9"/>
          <p:cNvSpPr txBox="1"/>
          <p:nvPr/>
        </p:nvSpPr>
        <p:spPr>
          <a:xfrm>
            <a:off x="4800600" y="3017520"/>
            <a:ext cx="6611112" cy="365760"/>
          </a:xfrm>
          <a:prstGeom prst="rect">
            <a:avLst/>
          </a:prstGeom>
          <a:noFill/>
          <a:ln/>
        </p:spPr>
        <p:txBody>
          <a:bodyPr wrap="square" lIns="0" tIns="0" rIns="0" bIns="0" rtlCol="0" anchor="ctr"/>
          <a:lstStyle/>
          <a:p>
            <a:pPr indent="0" marL="0">
              <a:buNone/>
            </a:pPr>
            <a:r>
              <a:rPr lang="en-US" sz="1050" dirty="0">
                <a:solidFill>
                  <a:srgbClr val="C5D0E2"/>
                </a:solidFill>
                <a:latin typeface="Malgun Gothic" pitchFamily="34" charset="0"/>
                <a:ea typeface="Malgun Gothic" pitchFamily="34" charset="-122"/>
                <a:cs typeface="Malgun Gothic" pitchFamily="34" charset="-120"/>
              </a:rPr>
              <a:t>사건 5 접수 — 무릎. 먼저 확인 동작 10초: 의자에서 천천히 일어나기 1회. 그 직후 지금 이 순간의 불편감을 0~10으로 진술합니다. 수술 직후·부종·열감·인공관절·항응고제 복용이면 압박은 생략하고 일어나기만 하셔도 됩니다.</a:t>
            </a:r>
            <a:endParaRPr lang="en-US" sz="1050" dirty="0"/>
          </a:p>
        </p:txBody>
      </p:sp>
      <p:sp>
        <p:nvSpPr>
          <p:cNvPr id="13" name="Text 10"/>
          <p:cNvSpPr txBox="1"/>
          <p:nvPr/>
        </p:nvSpPr>
        <p:spPr>
          <a:xfrm>
            <a:off x="4572000" y="3657600"/>
            <a:ext cx="7068312" cy="1097280"/>
          </a:xfrm>
          <a:prstGeom prst="rect">
            <a:avLst/>
          </a:prstGeom>
          <a:noFill/>
          <a:ln/>
        </p:spPr>
        <p:txBody>
          <a:bodyPr wrap="square" lIns="0" tIns="0" rIns="0" bIns="0" rtlCol="0" anchor="t"/>
          <a:lstStyle/>
          <a:p>
            <a:pPr indent="0" marL="0">
              <a:buNone/>
            </a:pPr>
            <a:r>
              <a:rPr lang="en-US" sz="1200" dirty="0">
                <a:solidFill>
                  <a:srgbClr val="C5D0E2"/>
                </a:solidFill>
                <a:latin typeface="Malgun Gothic" pitchFamily="34" charset="0"/>
                <a:ea typeface="Malgun Gothic" pitchFamily="34" charset="-122"/>
                <a:cs typeface="Malgun Gothic" pitchFamily="34" charset="-120"/>
              </a:rPr>
              <a:t>이름·연락처·소속을 받지 않습니다. 이 휴대폰의 무작위 번호로만 강의 전·후를 짝지어 익명 집계합니다.</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증거조사 ⑤ · 무릎 · 5분</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20</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2600" b="1" dirty="0">
                <a:solidFill>
                  <a:srgbClr val="F3F6FB"/>
                </a:solidFill>
                <a:latin typeface="Malgun Gothic" pitchFamily="34" charset="0"/>
                <a:ea typeface="Malgun Gothic" pitchFamily="34" charset="-122"/>
                <a:cs typeface="Malgun Gothic" pitchFamily="34" charset="-120"/>
              </a:rPr>
              <a:t>무릎은 2층입니다. 1층(발)과 3층(엉덩이)이 무릎을 결정합니다.</a:t>
            </a:r>
            <a:endParaRPr lang="en-US" sz="2600" dirty="0"/>
          </a:p>
        </p:txBody>
      </p:sp>
      <p:sp>
        <p:nvSpPr>
          <p:cNvPr id="6" name="Text 4"/>
          <p:cNvSpPr txBox="1"/>
          <p:nvPr/>
        </p:nvSpPr>
        <p:spPr>
          <a:xfrm>
            <a:off x="548640" y="1600200"/>
            <a:ext cx="11091672" cy="548640"/>
          </a:xfrm>
          <a:prstGeom prst="rect">
            <a:avLst/>
          </a:prstGeom>
          <a:noFill/>
          <a:ln/>
        </p:spPr>
        <p:txBody>
          <a:bodyPr wrap="square" lIns="0" tIns="0" rIns="0" bIns="0" rtlCol="0" anchor="t"/>
          <a:lstStyle/>
          <a:p>
            <a:pPr indent="0" marL="0">
              <a:buNone/>
            </a:pPr>
            <a:r>
              <a:rPr lang="en-US" sz="1000" b="1" dirty="0">
                <a:solidFill>
                  <a:srgbClr val="F5B13D"/>
                </a:solidFill>
                <a:latin typeface="Malgun Gothic" pitchFamily="34" charset="0"/>
                <a:ea typeface="Malgun Gothic" pitchFamily="34" charset="-122"/>
                <a:cs typeface="Malgun Gothic" pitchFamily="34" charset="-120"/>
              </a:rPr>
              <a:t>주장  </a:t>
            </a:r>
            <a:pPr indent="0" marL="0">
              <a:buNone/>
            </a:pPr>
            <a:r>
              <a:rPr lang="en-US" sz="1300" dirty="0">
                <a:solidFill>
                  <a:srgbClr val="C5D0E2"/>
                </a:solidFill>
                <a:latin typeface="Malgun Gothic" pitchFamily="34" charset="0"/>
                <a:ea typeface="Malgun Gothic" pitchFamily="34" charset="-122"/>
                <a:cs typeface="Malgun Gothic" pitchFamily="34" charset="-120"/>
              </a:rPr>
              <a:t>무릎은 2층입니다. 1층(발)과 3층(엉덩이·골반), 그리고 굳은 앞 허벅지가 무릎의 방향과 부담에 영향을 준다는 가설입니다(개인차 큼). 앞 허벅지를 동적 이완하고 발 3점·무릎 방향을 맞춘 뒤 일어서기가 달라지는지 확인합니다 — 쟁점 6의 단서가 여기 있습니다.</a:t>
            </a:r>
            <a:pPr indent="0" marL="0">
              <a:buNone/>
            </a:pPr>
            <a:r>
              <a:rPr lang="en-US" sz="1000" b="1" dirty="0">
                <a:solidFill>
                  <a:srgbClr val="8FA3BF"/>
                </a:solidFill>
                <a:latin typeface="Malgun Gothic" pitchFamily="34" charset="0"/>
                <a:ea typeface="Malgun Gothic" pitchFamily="34" charset="-122"/>
                <a:cs typeface="Malgun Gothic" pitchFamily="34" charset="-120"/>
              </a:rPr>
              <a:t>    반대 가설  </a:t>
            </a:r>
            <a:pPr indent="0" marL="0">
              <a:buNone/>
            </a:pPr>
            <a:r>
              <a:rPr lang="en-US" sz="1200" dirty="0">
                <a:solidFill>
                  <a:srgbClr val="8FA3BF"/>
                </a:solidFill>
                <a:latin typeface="Malgun Gothic" pitchFamily="34" charset="0"/>
                <a:ea typeface="Malgun Gothic" pitchFamily="34" charset="-122"/>
                <a:cs typeface="Malgun Gothic" pitchFamily="34" charset="-120"/>
              </a:rPr>
              <a:t>"허벅지 근육을 키우면 무릎이 보호되지 않나?" — 근력 강화는 무릎 재활의 표준이고 부정하지 않습니다. 감정인 의견은 '순서'입니다: 굳은 앞 허벅지를 먼저 풀고, 방향을 맞춘 뒤 강화. 수술·재활이 틀렸다는 뜻이 아니라 그 다음 단계 이야기이고, 표본 1명입니다. 그래서 오늘 여러분이 직접 잽니다.</a:t>
            </a:r>
            <a:endParaRPr lang="en-US" sz="1000" dirty="0"/>
          </a:p>
        </p:txBody>
      </p:sp>
      <p:sp>
        <p:nvSpPr>
          <p:cNvPr id="7" name="Shape 5"/>
          <p:cNvSpPr/>
          <p:nvPr/>
        </p:nvSpPr>
        <p:spPr>
          <a:xfrm>
            <a:off x="548640" y="2240280"/>
            <a:ext cx="3544824" cy="2788920"/>
          </a:xfrm>
          <a:prstGeom prst="roundRect">
            <a:avLst>
              <a:gd name="adj" fmla="val 4918"/>
            </a:avLst>
          </a:prstGeom>
          <a:solidFill>
            <a:srgbClr val="132446"/>
          </a:solidFill>
          <a:ln w="12700">
            <a:solidFill>
              <a:srgbClr val="132446"/>
            </a:solidFill>
            <a:prstDash val="solid"/>
          </a:ln>
        </p:spPr>
      </p:sp>
      <p:sp>
        <p:nvSpPr>
          <p:cNvPr id="8" name="Text 6"/>
          <p:cNvSpPr txBox="1"/>
          <p:nvPr/>
        </p:nvSpPr>
        <p:spPr>
          <a:xfrm>
            <a:off x="749808"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현장 검증 · 체크</a:t>
            </a:r>
            <a:endParaRPr lang="en-US" sz="1000" dirty="0"/>
          </a:p>
        </p:txBody>
      </p:sp>
      <p:sp>
        <p:nvSpPr>
          <p:cNvPr id="9" name="Text 7"/>
          <p:cNvSpPr txBox="1"/>
          <p:nvPr/>
        </p:nvSpPr>
        <p:spPr>
          <a:xfrm>
            <a:off x="749808" y="2697480"/>
            <a:ext cx="3142488" cy="731520"/>
          </a:xfrm>
          <a:prstGeom prst="rect">
            <a:avLst/>
          </a:prstGeom>
          <a:noFill/>
          <a:ln/>
        </p:spPr>
        <p:txBody>
          <a:bodyPr wrap="square" lIns="0" tIns="0" rIns="0" bIns="0" rtlCol="0" anchor="t"/>
          <a:lstStyle/>
          <a:p>
            <a:pPr indent="0" marL="0">
              <a:buNone/>
            </a:pPr>
            <a:endParaRPr lang="en-US" sz="1500" dirty="0"/>
          </a:p>
        </p:txBody>
      </p:sp>
      <p:sp>
        <p:nvSpPr>
          <p:cNvPr id="10" name="Text 8"/>
          <p:cNvSpPr txBox="1"/>
          <p:nvPr/>
        </p:nvSpPr>
        <p:spPr>
          <a:xfrm>
            <a:off x="749808" y="3429000"/>
            <a:ext cx="3142488" cy="146304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의자에서 천천히 일어나기 1회. 무릎이 향하는 방향(둘째 발가락 쪽인지 안쪽인지)과 불편한 지점을 기억합니다.</a:t>
            </a:r>
            <a:endParaRPr lang="en-US" sz="1150" dirty="0"/>
          </a:p>
        </p:txBody>
      </p:sp>
      <p:sp>
        <p:nvSpPr>
          <p:cNvPr id="11" name="Shape 9"/>
          <p:cNvSpPr/>
          <p:nvPr/>
        </p:nvSpPr>
        <p:spPr>
          <a:xfrm>
            <a:off x="4322064" y="2240280"/>
            <a:ext cx="3544824" cy="2788920"/>
          </a:xfrm>
          <a:prstGeom prst="roundRect">
            <a:avLst>
              <a:gd name="adj" fmla="val 4918"/>
            </a:avLst>
          </a:prstGeom>
          <a:solidFill>
            <a:srgbClr val="0F2E3F"/>
          </a:solidFill>
          <a:ln w="12700">
            <a:solidFill>
              <a:srgbClr val="0F2E3F"/>
            </a:solidFill>
            <a:prstDash val="solid"/>
          </a:ln>
        </p:spPr>
      </p:sp>
      <p:sp>
        <p:nvSpPr>
          <p:cNvPr id="12" name="Text 10"/>
          <p:cNvSpPr txBox="1"/>
          <p:nvPr/>
        </p:nvSpPr>
        <p:spPr>
          <a:xfrm>
            <a:off x="4523232"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개입 실험 · 10초 리셋 · 한쪽만</a:t>
            </a:r>
            <a:endParaRPr lang="en-US" sz="1000" dirty="0"/>
          </a:p>
        </p:txBody>
      </p:sp>
      <p:sp>
        <p:nvSpPr>
          <p:cNvPr id="13" name="Text 11"/>
          <p:cNvSpPr txBox="1"/>
          <p:nvPr/>
        </p:nvSpPr>
        <p:spPr>
          <a:xfrm>
            <a:off x="4523232" y="2697480"/>
            <a:ext cx="3142488" cy="731520"/>
          </a:xfrm>
          <a:prstGeom prst="rect">
            <a:avLst/>
          </a:prstGeom>
          <a:noFill/>
          <a:ln/>
        </p:spPr>
        <p:txBody>
          <a:bodyPr wrap="square" lIns="0" tIns="0" rIns="0" bIns="0" rtlCol="0" anchor="t"/>
          <a:lstStyle/>
          <a:p>
            <a:pPr indent="0" marL="0">
              <a:buNone/>
            </a:pPr>
            <a:endParaRPr lang="en-US" sz="1500" dirty="0"/>
          </a:p>
        </p:txBody>
      </p:sp>
      <p:sp>
        <p:nvSpPr>
          <p:cNvPr id="14" name="Text 12"/>
          <p:cNvSpPr txBox="1"/>
          <p:nvPr/>
        </p:nvSpPr>
        <p:spPr>
          <a:xfrm>
            <a:off x="4523232" y="3429000"/>
            <a:ext cx="3142488"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한쪽만: 앉아서 허벅지 앞 중앙을 공이나 손바닥으로 누른 채 무릎 구부렸다 폈다 ×10, 움직이며 내쉬기(동적 이완). 아프면 '심봤다', 숨은 계속</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발 3점(뒤꿈치·엄지 아래·새끼 아래)을 바닥에, 무릎은 둘째 발가락 방향 — 1층을 먼저 세운다</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무릎을 잠그지 말고 2%만 구부린 채 엉덩이를 접어 일어나기 ×3 — 5%도 아니고 2%. 3층(엉덩이)이 일하게</a:t>
            </a:r>
            <a:endParaRPr lang="en-US" sz="1150" dirty="0"/>
          </a:p>
        </p:txBody>
      </p:sp>
      <p:sp>
        <p:nvSpPr>
          <p:cNvPr id="15" name="Shape 13"/>
          <p:cNvSpPr/>
          <p:nvPr/>
        </p:nvSpPr>
        <p:spPr>
          <a:xfrm>
            <a:off x="8095488" y="2240280"/>
            <a:ext cx="3544824" cy="2788920"/>
          </a:xfrm>
          <a:prstGeom prst="roundRect">
            <a:avLst>
              <a:gd name="adj" fmla="val 4918"/>
            </a:avLst>
          </a:prstGeom>
          <a:solidFill>
            <a:srgbClr val="3A2A0F"/>
          </a:solidFill>
          <a:ln w="12700">
            <a:solidFill>
              <a:srgbClr val="3A2A0F"/>
            </a:solidFill>
            <a:prstDash val="solid"/>
          </a:ln>
        </p:spPr>
      </p:sp>
      <p:sp>
        <p:nvSpPr>
          <p:cNvPr id="16" name="Text 14"/>
          <p:cNvSpPr txBox="1"/>
          <p:nvPr/>
        </p:nvSpPr>
        <p:spPr>
          <a:xfrm>
            <a:off x="8296656" y="2404872"/>
            <a:ext cx="314248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대질 · 좌우 비교</a:t>
            </a:r>
            <a:endParaRPr lang="en-US" sz="1000" dirty="0"/>
          </a:p>
        </p:txBody>
      </p:sp>
      <p:sp>
        <p:nvSpPr>
          <p:cNvPr id="17" name="Text 15"/>
          <p:cNvSpPr txBox="1"/>
          <p:nvPr/>
        </p:nvSpPr>
        <p:spPr>
          <a:xfrm>
            <a:off x="8296656" y="2697480"/>
            <a:ext cx="3142488" cy="731520"/>
          </a:xfrm>
          <a:prstGeom prst="rect">
            <a:avLst/>
          </a:prstGeom>
          <a:noFill/>
          <a:ln/>
        </p:spPr>
        <p:txBody>
          <a:bodyPr wrap="square" lIns="0" tIns="0" rIns="0" bIns="0" rtlCol="0" anchor="t"/>
          <a:lstStyle/>
          <a:p>
            <a:pPr indent="0" marL="0">
              <a:buNone/>
            </a:pPr>
            <a:endParaRPr lang="en-US" sz="1500" dirty="0"/>
          </a:p>
        </p:txBody>
      </p:sp>
      <p:sp>
        <p:nvSpPr>
          <p:cNvPr id="18" name="Text 16"/>
          <p:cNvSpPr txBox="1"/>
          <p:nvPr/>
        </p:nvSpPr>
        <p:spPr>
          <a:xfrm>
            <a:off x="8296656" y="3429000"/>
            <a:ext cx="3142488"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대질: 안 푼 다리 vs 푼 다리 들기. 같은 속도로 한 번 더 일어나 비교합니다. 무릎은 만지지 않고 발과 방향만 바꿨는데 다르다면, '무릎은 2층' 가설이 지지된 것입니다.</a:t>
            </a:r>
            <a:endParaRPr lang="en-US" sz="1150" dirty="0"/>
          </a:p>
          <a:p>
            <a:pPr marL="342900" indent="-342900">
              <a:spcAft>
                <a:spcPts val="400"/>
              </a:spcAft>
              <a:buSzPct val="100000"/>
              <a:buChar char="•"/>
            </a:pPr>
            <a:r>
              <a:rPr lang="en-US" sz="1150" dirty="0">
                <a:solidFill>
                  <a:srgbClr val="C5D0E2"/>
                </a:solidFill>
                <a:latin typeface="Malgun Gothic" pitchFamily="34" charset="0"/>
                <a:ea typeface="Malgun Gothic" pitchFamily="34" charset="-122"/>
                <a:cs typeface="Malgun Gothic" pitchFamily="34" charset="-120"/>
              </a:rPr>
              <a:t>집행(유지): 서 있을 때 무릎 2% 구부리기 — 엘리베이터와 신호등에서 연습. 계단은 발 3점을 딛고 무릎을 둘째 발가락 방향으로. 1분 버전: 발 3점 + 2%로 일어나기 ×3.</a:t>
            </a:r>
            <a:endParaRPr lang="en-US" sz="1150" dirty="0"/>
          </a:p>
        </p:txBody>
      </p:sp>
      <p:sp>
        <p:nvSpPr>
          <p:cNvPr id="19" name="Text 17"/>
          <p:cNvSpPr txBox="1"/>
          <p:nvPr/>
        </p:nvSpPr>
        <p:spPr>
          <a:xfrm>
            <a:off x="548640" y="5120640"/>
            <a:ext cx="11091672" cy="640080"/>
          </a:xfrm>
          <a:prstGeom prst="rect">
            <a:avLst/>
          </a:prstGeom>
          <a:noFill/>
          <a:ln/>
        </p:spPr>
        <p:txBody>
          <a:bodyPr wrap="square" lIns="0" tIns="0" rIns="0" bIns="0" rtlCol="0" anchor="t"/>
          <a:lstStyle/>
          <a:p>
            <a:pPr indent="0" marL="0">
              <a:buNone/>
            </a:pPr>
            <a:r>
              <a:rPr lang="en-US" sz="950" dirty="0">
                <a:solidFill>
                  <a:srgbClr val="C5D0E2"/>
                </a:solidFill>
                <a:latin typeface="Malgun Gothic" pitchFamily="34" charset="0"/>
                <a:ea typeface="Malgun Gothic" pitchFamily="34" charset="-122"/>
                <a:cs typeface="Malgun Gothic" pitchFamily="34" charset="-120"/>
              </a:rPr>
              <a:t>문헌: 성인에게 근력 강화 활동을 주 2일 이상 권고 — 강화는 필요하며, 오늘은 그 전 단계인 '풀기와 방향'을 다룬다 (WHO 신체활동 및 좌식행동 가이드라인 (2020))</a:t>
            </a:r>
            <a:endParaRPr lang="en-US" sz="950" dirty="0"/>
          </a:p>
          <a:p>
            <a:pPr indent="0" marL="0">
              <a:buNone/>
            </a:pPr>
            <a:r>
              <a:rPr lang="en-US" sz="950" dirty="0">
                <a:solidFill>
                  <a:srgbClr val="C5D0E2"/>
                </a:solidFill>
                <a:latin typeface="Malgun Gothic" pitchFamily="34" charset="0"/>
                <a:ea typeface="Malgun Gothic" pitchFamily="34" charset="-122"/>
                <a:cs typeface="Malgun Gothic" pitchFamily="34" charset="-120"/>
              </a:rPr>
              <a:t>현장: 감정인 본인 사례: 수술과 병원 재활을 마친 뒤에도 남아 있던 불편이, 이완을 먼저 하고 순서를 바꾼 뒤 달라져 42km를 달리는 컨디션으로 회복(완주 기록은 별도 확인) — 표본 1명, 증거능력 낮음, 참고용 (1회차는 매트·누운 자세, 오늘은 의자 버전 — 조건이 다르므로 오늘이 의자 버전의 첫 기록) (1회차(8/31) 현장 관찰 · 자기보고 · 기록 없음(참고))</a:t>
            </a:r>
            <a:endParaRPr lang="en-US" sz="950" dirty="0"/>
          </a:p>
          <a:p>
            <a:pPr indent="0" marL="0">
              <a:buNone/>
            </a:pPr>
            <a:r>
              <a:rPr lang="en-US" sz="950" dirty="0">
                <a:solidFill>
                  <a:srgbClr val="C5D0E2"/>
                </a:solidFill>
                <a:latin typeface="Malgun Gothic" pitchFamily="34" charset="0"/>
                <a:ea typeface="Malgun Gothic" pitchFamily="34" charset="-122"/>
                <a:cs typeface="Malgun Gothic" pitchFamily="34" charset="-120"/>
              </a:rPr>
              <a:t>실험: 오늘 안 푼 다리 vs 푼 다리 들기, 일어서기 비교 + 사전/사후 QR (현장 자기 대조)</a:t>
            </a:r>
            <a:endParaRPr lang="en-US" sz="950" dirty="0"/>
          </a:p>
        </p:txBody>
      </p:sp>
      <p:sp>
        <p:nvSpPr>
          <p:cNvPr id="20" name="Text 18"/>
          <p:cNvSpPr txBox="1"/>
          <p:nvPr/>
        </p:nvSpPr>
        <p:spPr>
          <a:xfrm>
            <a:off x="548640" y="5715000"/>
            <a:ext cx="11091672" cy="457200"/>
          </a:xfrm>
          <a:prstGeom prst="rect">
            <a:avLst/>
          </a:prstGeom>
          <a:noFill/>
          <a:ln/>
        </p:spPr>
        <p:txBody>
          <a:bodyPr wrap="square" lIns="0" tIns="0" rIns="0" bIns="0" rtlCol="0" anchor="ctr"/>
          <a:lstStyle/>
          <a:p>
            <a:pPr indent="0" marL="0">
              <a:buNone/>
            </a:pPr>
            <a:r>
              <a:rPr lang="en-US" sz="1100" dirty="0">
                <a:solidFill>
                  <a:srgbClr val="FFC9C9"/>
                </a:solidFill>
                <a:latin typeface="Malgun Gothic" pitchFamily="34" charset="0"/>
                <a:ea typeface="Malgun Gothic" pitchFamily="34" charset="-122"/>
                <a:cs typeface="Malgun Gothic" pitchFamily="34" charset="-120"/>
              </a:rPr>
              <a:t>! 수술 직후·부종·열감·최근 외상이 있으면 압박은 생략하고 일어나기만 합니다. 슬개골(무릎뼈) 자체는 누르지 않습니다. 고관절·무릎 인공관절·항응고제 복용·멍이 잘 드는 분은 압박은 생략하고 발 3점·2% 일어나기만 합니다. 병원 재활 중이면 그 프로그램을 그대로 하고 이완만 추가합니다 — 재활 중단을 권하지 않습니다.</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재검사 · AFTER · 무릎</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21</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무릎 — 재검사: 지금은 몇 점입니까?</a:t>
            </a:r>
            <a:endParaRPr lang="en-US" sz="3000" dirty="0"/>
          </a:p>
        </p:txBody>
      </p:sp>
      <p:sp>
        <p:nvSpPr>
          <p:cNvPr id="6" name="Shape 4"/>
          <p:cNvSpPr/>
          <p:nvPr/>
        </p:nvSpPr>
        <p:spPr>
          <a:xfrm>
            <a:off x="548640" y="1828800"/>
            <a:ext cx="3566160" cy="3566160"/>
          </a:xfrm>
          <a:prstGeom prst="roundRect">
            <a:avLst>
              <a:gd name="adj" fmla="val 5128"/>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31520" y="2011680"/>
            <a:ext cx="3200400" cy="3200400"/>
          </a:xfrm>
          <a:prstGeom prst="rect">
            <a:avLst/>
          </a:prstGeom>
        </p:spPr>
      </p:pic>
      <p:sp>
        <p:nvSpPr>
          <p:cNvPr id="8" name="Text 5"/>
          <p:cNvSpPr txBox="1"/>
          <p:nvPr/>
        </p:nvSpPr>
        <p:spPr>
          <a:xfrm>
            <a:off x="548640" y="5486400"/>
            <a:ext cx="3840480" cy="457200"/>
          </a:xfrm>
          <a:prstGeom prst="rect">
            <a:avLst/>
          </a:prstGeom>
          <a:noFill/>
          <a:ln/>
        </p:spPr>
        <p:txBody>
          <a:bodyPr wrap="square" lIns="0" tIns="0" rIns="0" bIns="0" rtlCol="0" anchor="ctr"/>
          <a:lstStyle/>
          <a:p>
            <a:pPr indent="0" marL="0">
              <a:buNone/>
            </a:pPr>
            <a:r>
              <a:rPr lang="en-US" sz="800" dirty="0">
                <a:solidFill>
                  <a:srgbClr val="8FA3BF"/>
                </a:solidFill>
                <a:latin typeface="Malgun Gothic" pitchFamily="34" charset="0"/>
                <a:ea typeface="Malgun Gothic" pitchFamily="34" charset="-122"/>
                <a:cs typeface="Malgun Gothic" pitchFamily="34" charset="-120"/>
              </a:rPr>
              <a:t>https://drjinfit-ship-it.github.io/jinkim/web/?mode=join&amp;s=suwon-2&amp;p=knee&amp;t=post</a:t>
            </a:r>
            <a:endParaRPr lang="en-US" sz="800" dirty="0"/>
          </a:p>
        </p:txBody>
      </p:sp>
      <p:sp>
        <p:nvSpPr>
          <p:cNvPr id="9" name="Shape 6"/>
          <p:cNvSpPr/>
          <p:nvPr/>
        </p:nvSpPr>
        <p:spPr>
          <a:xfrm>
            <a:off x="4572000" y="1828800"/>
            <a:ext cx="7068312" cy="1554480"/>
          </a:xfrm>
          <a:prstGeom prst="roundRect">
            <a:avLst>
              <a:gd name="adj" fmla="val 8824"/>
            </a:avLst>
          </a:prstGeom>
          <a:solidFill>
            <a:srgbClr val="132446"/>
          </a:solidFill>
          <a:ln w="12700">
            <a:solidFill>
              <a:srgbClr val="132446"/>
            </a:solidFill>
            <a:prstDash val="solid"/>
          </a:ln>
        </p:spPr>
      </p:sp>
      <p:sp>
        <p:nvSpPr>
          <p:cNvPr id="10" name="Text 7"/>
          <p:cNvSpPr txBox="1"/>
          <p:nvPr/>
        </p:nvSpPr>
        <p:spPr>
          <a:xfrm>
            <a:off x="4800600" y="1965960"/>
            <a:ext cx="6611112" cy="274320"/>
          </a:xfrm>
          <a:prstGeom prst="rect">
            <a:avLst/>
          </a:prstGeom>
          <a:noFill/>
          <a:ln/>
        </p:spPr>
        <p:txBody>
          <a:bodyPr wrap="square" lIns="0" tIns="0" rIns="0" bIns="0" rtlCol="0" anchor="ct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이 강의장 전체 · 불편감 감소 평균</a:t>
            </a:r>
            <a:endParaRPr lang="en-US" sz="1000" dirty="0"/>
          </a:p>
        </p:txBody>
      </p:sp>
      <p:sp>
        <p:nvSpPr>
          <p:cNvPr id="11" name="Text 8"/>
          <p:cNvSpPr txBox="1"/>
          <p:nvPr/>
        </p:nvSpPr>
        <p:spPr>
          <a:xfrm>
            <a:off x="4800600" y="2240280"/>
            <a:ext cx="6611112" cy="822960"/>
          </a:xfrm>
          <a:prstGeom prst="rect">
            <a:avLst/>
          </a:prstGeom>
          <a:noFill/>
          <a:ln/>
        </p:spPr>
        <p:txBody>
          <a:bodyPr wrap="square" lIns="0" tIns="0" rIns="0" bIns="0" rtlCol="0" anchor="ctr"/>
          <a:lstStyle/>
          <a:p>
            <a:pPr indent="0" marL="0">
              <a:buNone/>
            </a:pPr>
            <a:r>
              <a:rPr lang="en-US" sz="4000" b="1" dirty="0">
                <a:solidFill>
                  <a:srgbClr val="3DD68C"/>
                </a:solidFill>
                <a:latin typeface="Malgun Gothic" pitchFamily="34" charset="0"/>
                <a:ea typeface="Malgun Gothic" pitchFamily="34" charset="-122"/>
                <a:cs typeface="Malgun Gothic" pitchFamily="34" charset="-120"/>
              </a:rPr>
              <a:t>— 점 감소</a:t>
            </a:r>
            <a:endParaRPr lang="en-US" sz="4000" dirty="0"/>
          </a:p>
        </p:txBody>
      </p:sp>
      <p:sp>
        <p:nvSpPr>
          <p:cNvPr id="12" name="Text 9"/>
          <p:cNvSpPr txBox="1"/>
          <p:nvPr/>
        </p:nvSpPr>
        <p:spPr>
          <a:xfrm>
            <a:off x="4800600" y="3017520"/>
            <a:ext cx="6611112" cy="365760"/>
          </a:xfrm>
          <a:prstGeom prst="rect">
            <a:avLst/>
          </a:prstGeom>
          <a:noFill/>
          <a:ln/>
        </p:spPr>
        <p:txBody>
          <a:bodyPr wrap="square" lIns="0" tIns="0" rIns="0" bIns="0" rtlCol="0" anchor="ctr"/>
          <a:lstStyle/>
          <a:p>
            <a:pPr indent="0" marL="0">
              <a:buNone/>
            </a:pPr>
            <a:r>
              <a:rPr lang="en-US" sz="1050" dirty="0">
                <a:solidFill>
                  <a:srgbClr val="C5D0E2"/>
                </a:solidFill>
                <a:latin typeface="Malgun Gothic" pitchFamily="34" charset="0"/>
                <a:ea typeface="Malgun Gothic" pitchFamily="34" charset="-122"/>
                <a:cs typeface="Malgun Gothic" pitchFamily="34" charset="-120"/>
              </a:rPr>
              <a:t>현장에서는 실시간 보드로 평균·개선율이 표시됩니다. 같은 부위, 같은 기준으로 다시 입력합니다.</a:t>
            </a:r>
            <a:endParaRPr lang="en-US" sz="1050" dirty="0"/>
          </a:p>
        </p:txBody>
      </p:sp>
      <p:sp>
        <p:nvSpPr>
          <p:cNvPr id="13" name="Text 10"/>
          <p:cNvSpPr txBox="1"/>
          <p:nvPr/>
        </p:nvSpPr>
        <p:spPr>
          <a:xfrm>
            <a:off x="4572000" y="3657600"/>
            <a:ext cx="7068312" cy="1097280"/>
          </a:xfrm>
          <a:prstGeom prst="rect">
            <a:avLst/>
          </a:prstGeom>
          <a:noFill/>
          <a:ln/>
        </p:spPr>
        <p:txBody>
          <a:bodyPr wrap="square" lIns="0" tIns="0" rIns="0" bIns="0" rtlCol="0" anchor="t"/>
          <a:lstStyle/>
          <a:p>
            <a:pPr indent="0" marL="0">
              <a:buNone/>
            </a:pPr>
            <a:r>
              <a:rPr lang="en-US" sz="1200" dirty="0">
                <a:solidFill>
                  <a:srgbClr val="C5D0E2"/>
                </a:solidFill>
                <a:latin typeface="Malgun Gothic" pitchFamily="34" charset="0"/>
                <a:ea typeface="Malgun Gothic" pitchFamily="34" charset="-122"/>
                <a:cs typeface="Malgun Gothic" pitchFamily="34" charset="-120"/>
              </a:rPr>
              <a:t>소결(현장 수치로 채움): 사건 5 소결 — 무릎 불편감 평균 {drop}점 감소, 사전 1점 이상 중 {pct}%가 1점 이상 감소(2점 이상 {pct2}%, 자기보고). 무릎 자체를 만지지 않고 1층·3층과 서는 방식만 바꿨습니다. 쟁점 6의 단서: 근육을 '더 키우는 것'과 '풀고 제 방향으로 쓰는 것'은 다른 일이다 — 확정은 판결에서.</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판결 · LIVE RESULT · 쟁점 6</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22</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판결 — 오늘 이 강의장은 얼마나 달라졌습니까</a:t>
            </a:r>
            <a:endParaRPr lang="en-US" sz="3000" dirty="0"/>
          </a:p>
        </p:txBody>
      </p:sp>
      <p:sp>
        <p:nvSpPr>
          <p:cNvPr id="6" name="Text 4"/>
          <p:cNvSpPr txBox="1"/>
          <p:nvPr/>
        </p:nvSpPr>
        <p:spPr>
          <a:xfrm>
            <a:off x="548640" y="1783080"/>
            <a:ext cx="11091672" cy="731520"/>
          </a:xfrm>
          <a:prstGeom prst="rect">
            <a:avLst/>
          </a:prstGeom>
          <a:noFill/>
          <a:ln/>
        </p:spPr>
        <p:txBody>
          <a:bodyPr wrap="square" lIns="0" tIns="0" rIns="0" bIns="0" rtlCol="0" anchor="t"/>
          <a:lstStyle/>
          <a:p>
            <a:pPr indent="0" marL="0">
              <a:buNone/>
            </a:pPr>
            <a:r>
              <a:rPr lang="en-US" sz="1500" dirty="0">
                <a:solidFill>
                  <a:srgbClr val="C5D0E2"/>
                </a:solidFill>
                <a:latin typeface="Malgun Gothic" pitchFamily="34" charset="0"/>
                <a:ea typeface="Malgun Gothic" pitchFamily="34" charset="-122"/>
                <a:cs typeface="Malgun Gothic" pitchFamily="34" charset="-120"/>
              </a:rPr>
              <a:t>결과 공개 전 한 문장: 화면의 평균은 참고 자료이고, 판결은 각자의 숫자로 합니다. 좋아진 분도, 그대로인 분도, 더 불편한 분도 모두 증거입니다.</a:t>
            </a:r>
            <a:endParaRPr lang="en-US" sz="1500" dirty="0"/>
          </a:p>
        </p:txBody>
      </p:sp>
      <p:sp>
        <p:nvSpPr>
          <p:cNvPr id="7" name="Shape 5"/>
          <p:cNvSpPr/>
          <p:nvPr/>
        </p:nvSpPr>
        <p:spPr>
          <a:xfrm>
            <a:off x="548640" y="2651760"/>
            <a:ext cx="2601468" cy="1463040"/>
          </a:xfrm>
          <a:prstGeom prst="roundRect">
            <a:avLst>
              <a:gd name="adj" fmla="val 9375"/>
            </a:avLst>
          </a:prstGeom>
          <a:solidFill>
            <a:srgbClr val="132446"/>
          </a:solidFill>
          <a:ln w="12700">
            <a:solidFill>
              <a:srgbClr val="132446"/>
            </a:solidFill>
            <a:prstDash val="solid"/>
          </a:ln>
        </p:spPr>
      </p:sp>
      <p:sp>
        <p:nvSpPr>
          <p:cNvPr id="8" name="Text 6"/>
          <p:cNvSpPr txBox="1"/>
          <p:nvPr/>
        </p:nvSpPr>
        <p:spPr>
          <a:xfrm>
            <a:off x="749808" y="281635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참여자</a:t>
            </a:r>
            <a:endParaRPr lang="en-US" sz="1000" dirty="0"/>
          </a:p>
        </p:txBody>
      </p:sp>
      <p:sp>
        <p:nvSpPr>
          <p:cNvPr id="9" name="Text 7"/>
          <p:cNvSpPr txBox="1"/>
          <p:nvPr/>
        </p:nvSpPr>
        <p:spPr>
          <a:xfrm>
            <a:off x="749808" y="310896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 명</a:t>
            </a:r>
            <a:endParaRPr lang="en-US" sz="1500" dirty="0"/>
          </a:p>
        </p:txBody>
      </p:sp>
      <p:sp>
        <p:nvSpPr>
          <p:cNvPr id="10" name="Text 8"/>
          <p:cNvSpPr txBox="1"/>
          <p:nvPr/>
        </p:nvSpPr>
        <p:spPr>
          <a:xfrm>
            <a:off x="749808" y="3840480"/>
            <a:ext cx="2199132" cy="1371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익명 기기 기준</a:t>
            </a:r>
            <a:endParaRPr lang="en-US" sz="1150" dirty="0"/>
          </a:p>
        </p:txBody>
      </p:sp>
      <p:sp>
        <p:nvSpPr>
          <p:cNvPr id="11" name="Shape 9"/>
          <p:cNvSpPr/>
          <p:nvPr/>
        </p:nvSpPr>
        <p:spPr>
          <a:xfrm>
            <a:off x="3378708" y="2651760"/>
            <a:ext cx="2601468" cy="1463040"/>
          </a:xfrm>
          <a:prstGeom prst="roundRect">
            <a:avLst>
              <a:gd name="adj" fmla="val 9375"/>
            </a:avLst>
          </a:prstGeom>
          <a:solidFill>
            <a:srgbClr val="132446"/>
          </a:solidFill>
          <a:ln w="12700">
            <a:solidFill>
              <a:srgbClr val="132446"/>
            </a:solidFill>
            <a:prstDash val="solid"/>
          </a:ln>
        </p:spPr>
      </p:sp>
      <p:sp>
        <p:nvSpPr>
          <p:cNvPr id="12" name="Text 10"/>
          <p:cNvSpPr txBox="1"/>
          <p:nvPr/>
        </p:nvSpPr>
        <p:spPr>
          <a:xfrm>
            <a:off x="3579876" y="281635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1개 부위 이상 개선</a:t>
            </a:r>
            <a:endParaRPr lang="en-US" sz="1000" dirty="0"/>
          </a:p>
        </p:txBody>
      </p:sp>
      <p:sp>
        <p:nvSpPr>
          <p:cNvPr id="13" name="Text 11"/>
          <p:cNvSpPr txBox="1"/>
          <p:nvPr/>
        </p:nvSpPr>
        <p:spPr>
          <a:xfrm>
            <a:off x="3579876" y="310896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 %</a:t>
            </a:r>
            <a:endParaRPr lang="en-US" sz="1500" dirty="0"/>
          </a:p>
        </p:txBody>
      </p:sp>
      <p:sp>
        <p:nvSpPr>
          <p:cNvPr id="14" name="Text 12"/>
          <p:cNvSpPr txBox="1"/>
          <p:nvPr/>
        </p:nvSpPr>
        <p:spPr>
          <a:xfrm>
            <a:off x="3579876" y="3840480"/>
            <a:ext cx="2199132" cy="1371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전후 짝 기준</a:t>
            </a:r>
            <a:endParaRPr lang="en-US" sz="1150" dirty="0"/>
          </a:p>
        </p:txBody>
      </p:sp>
      <p:sp>
        <p:nvSpPr>
          <p:cNvPr id="15" name="Shape 13"/>
          <p:cNvSpPr/>
          <p:nvPr/>
        </p:nvSpPr>
        <p:spPr>
          <a:xfrm>
            <a:off x="6208776" y="2651760"/>
            <a:ext cx="2601468" cy="1463040"/>
          </a:xfrm>
          <a:prstGeom prst="roundRect">
            <a:avLst>
              <a:gd name="adj" fmla="val 9375"/>
            </a:avLst>
          </a:prstGeom>
          <a:solidFill>
            <a:srgbClr val="132446"/>
          </a:solidFill>
          <a:ln w="12700">
            <a:solidFill>
              <a:srgbClr val="132446"/>
            </a:solidFill>
            <a:prstDash val="solid"/>
          </a:ln>
        </p:spPr>
      </p:sp>
      <p:sp>
        <p:nvSpPr>
          <p:cNvPr id="16" name="Text 14"/>
          <p:cNvSpPr txBox="1"/>
          <p:nvPr/>
        </p:nvSpPr>
        <p:spPr>
          <a:xfrm>
            <a:off x="6409944" y="281635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평균 불편감 감소</a:t>
            </a:r>
            <a:endParaRPr lang="en-US" sz="1000" dirty="0"/>
          </a:p>
        </p:txBody>
      </p:sp>
      <p:sp>
        <p:nvSpPr>
          <p:cNvPr id="17" name="Text 15"/>
          <p:cNvSpPr txBox="1"/>
          <p:nvPr/>
        </p:nvSpPr>
        <p:spPr>
          <a:xfrm>
            <a:off x="6409944" y="310896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 점</a:t>
            </a:r>
            <a:endParaRPr lang="en-US" sz="1500" dirty="0"/>
          </a:p>
        </p:txBody>
      </p:sp>
      <p:sp>
        <p:nvSpPr>
          <p:cNvPr id="18" name="Text 16"/>
          <p:cNvSpPr txBox="1"/>
          <p:nvPr/>
        </p:nvSpPr>
        <p:spPr>
          <a:xfrm>
            <a:off x="6409944" y="3840480"/>
            <a:ext cx="2199132" cy="1371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전후 응답 쌍 기준</a:t>
            </a:r>
            <a:endParaRPr lang="en-US" sz="1150" dirty="0"/>
          </a:p>
        </p:txBody>
      </p:sp>
      <p:sp>
        <p:nvSpPr>
          <p:cNvPr id="19" name="Shape 17"/>
          <p:cNvSpPr/>
          <p:nvPr/>
        </p:nvSpPr>
        <p:spPr>
          <a:xfrm>
            <a:off x="9038844" y="2651760"/>
            <a:ext cx="2601468" cy="1463040"/>
          </a:xfrm>
          <a:prstGeom prst="roundRect">
            <a:avLst>
              <a:gd name="adj" fmla="val 9375"/>
            </a:avLst>
          </a:prstGeom>
          <a:solidFill>
            <a:srgbClr val="132446"/>
          </a:solidFill>
          <a:ln w="12700">
            <a:solidFill>
              <a:srgbClr val="132446"/>
            </a:solidFill>
            <a:prstDash val="solid"/>
          </a:ln>
        </p:spPr>
      </p:sp>
      <p:sp>
        <p:nvSpPr>
          <p:cNvPr id="20" name="Text 18"/>
          <p:cNvSpPr txBox="1"/>
          <p:nvPr/>
        </p:nvSpPr>
        <p:spPr>
          <a:xfrm>
            <a:off x="9240012" y="2816352"/>
            <a:ext cx="2199132"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2점 이상 감소</a:t>
            </a:r>
            <a:endParaRPr lang="en-US" sz="1000" dirty="0"/>
          </a:p>
        </p:txBody>
      </p:sp>
      <p:sp>
        <p:nvSpPr>
          <p:cNvPr id="21" name="Text 19"/>
          <p:cNvSpPr txBox="1"/>
          <p:nvPr/>
        </p:nvSpPr>
        <p:spPr>
          <a:xfrm>
            <a:off x="9240012" y="3108960"/>
            <a:ext cx="2199132"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 %</a:t>
            </a:r>
            <a:endParaRPr lang="en-US" sz="1500" dirty="0"/>
          </a:p>
        </p:txBody>
      </p:sp>
      <p:sp>
        <p:nvSpPr>
          <p:cNvPr id="22" name="Text 20"/>
          <p:cNvSpPr txBox="1"/>
          <p:nvPr/>
        </p:nvSpPr>
        <p:spPr>
          <a:xfrm>
            <a:off x="9240012" y="3840480"/>
            <a:ext cx="2199132" cy="1371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임상적 의미 있는 변화 기준은 만성통증 연구 맥락</a:t>
            </a:r>
            <a:endParaRPr lang="en-US" sz="1150" dirty="0"/>
          </a:p>
        </p:txBody>
      </p:sp>
      <p:sp>
        <p:nvSpPr>
          <p:cNvPr id="23" name="Text 21"/>
          <p:cNvSpPr txBox="1"/>
          <p:nvPr/>
        </p:nvSpPr>
        <p:spPr>
          <a:xfrm>
            <a:off x="548640" y="4343400"/>
            <a:ext cx="11091672" cy="146304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주문  오늘의 개입 — 아픈 곳(피해자)이 아닌 굳은 곳(범인)을 풀고 등·골반·발을 세운 것 — 은 이 강의장의 불편감을 달라지게 했다고 볼 여지가 있다. 집행: 한 시간에 한 번 1분 리셋과 서기·걷기·앉기 5%. 재심: 재발 시 같은 0~10 기준으로 재측정한다.
</a:t>
            </a:r>
            <a:pPr indent="0" marL="0">
              <a:buNone/>
            </a:pPr>
            <a:r>
              <a:rPr lang="en-US" sz="1150" dirty="0">
                <a:solidFill>
                  <a:srgbClr val="C5D0E2"/>
                </a:solidFill>
                <a:latin typeface="Malgun Gothic" pitchFamily="34" charset="0"/>
                <a:ea typeface="Malgun Gothic" pitchFamily="34" charset="-122"/>
                <a:cs typeface="Malgun Gothic" pitchFamily="34" charset="-120"/>
              </a:rPr>
              <a:t>이유  같은 사람·같은 부위·같은 0~10 기준의 사전·사후 진술이 {pairs}건 있었고, 한쪽만 푼 대질에서 안 푼 쪽이 비교 기준 역할을 했다(어느 쪽을 풀었는지 본인이 아는 비맹검 비교). 변화의 원인은 특정하지 않는다. 서증(IASP 2020, WHO 2020, NICE NG59 2016, 고용노동부 고시)은 '정적 부하·활동 유지·레드플래그 구분' 원칙을 뒷받침하고, 감정인의 개인 사례는 표본 1명으로 참고에 그친다.
</a:t>
            </a:r>
            <a:pPr indent="0" marL="0">
              <a:buNone/>
            </a:pPr>
            <a:r>
              <a:rPr lang="en-US" sz="1150" dirty="0">
                <a:solidFill>
                  <a:srgbClr val="C5D0E2"/>
                </a:solidFill>
                <a:latin typeface="Malgun Gothic" pitchFamily="34" charset="0"/>
                <a:ea typeface="Malgun Gothic" pitchFamily="34" charset="-122"/>
                <a:cs typeface="Malgun Gothic" pitchFamily="34" charset="-120"/>
              </a:rPr>
              <a:t>조건  저림·힘 빠짐·대소변 조절 이상·발열·야간통·최근 외상·급성 심한 통증·수술 직후는 이 법정 관할 밖 — 의료기관 평가가 먼저다. 변화가 없었거나 더 불편해진 참가자는 원인이 오늘 다룬 근육이 아닐 수 있으므로 무리하지 않는다. 병원 재활·치료 중이면 그 지시를 우선하고 오늘 방법은 '추가'로만 쓴다.
</a:t>
            </a:r>
            <a:pPr indent="0" marL="0">
              <a:buNone/>
            </a:pPr>
            <a:r>
              <a:rPr lang="en-US" sz="1150" dirty="0">
                <a:solidFill>
                  <a:srgbClr val="C5D0E2"/>
                </a:solidFill>
                <a:latin typeface="Malgun Gothic" pitchFamily="34" charset="0"/>
                <a:ea typeface="Malgun Gothic" pitchFamily="34" charset="-122"/>
                <a:cs typeface="Malgun Gothic" pitchFamily="34" charset="-120"/>
              </a:rPr>
              <a:t>한계  교육 직후의 익명 자기보고이며 대조군이 없다. 강사가 효과를 예고한 뒤의 측정으로 기대효과·평균으로의 회귀가 섞일 수 있다. 약 40명·1회·직후 측정으로 지속 효과를 말하지 않는다. 의학적 진단이나 치료 효과를 의미하지 않는다. 감정인은 이 방법으로 일하는 이해관계인이다. 좌우 비교도 비맹검이다. 감소율의 분모는 사전 1점 이상 짝이며(사전 0점은 바닥효과로 제외) 1점 변화는 오차 범위일 수 있어 2점 이상을 병기한다. 1회차 반응은 매트·누운 자세 버전이어서 오늘이 의자 버전의 첫 기록이다.</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폐정 · 집행 · 재심 · 쟁점 4·7</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23</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3000" b="1" dirty="0">
                <a:solidFill>
                  <a:srgbClr val="F3F6FB"/>
                </a:solidFill>
                <a:latin typeface="Malgun Gothic" pitchFamily="34" charset="0"/>
                <a:ea typeface="Malgun Gothic" pitchFamily="34" charset="-122"/>
                <a:cs typeface="Malgun Gothic" pitchFamily="34" charset="-120"/>
              </a:rPr>
              <a:t>폐정 — 집행과 재심: 오늘 가져갈 세 가지</a:t>
            </a:r>
            <a:endParaRPr lang="en-US" sz="3000" dirty="0"/>
          </a:p>
        </p:txBody>
      </p:sp>
      <p:sp>
        <p:nvSpPr>
          <p:cNvPr id="6" name="Text 4"/>
          <p:cNvSpPr txBox="1"/>
          <p:nvPr/>
        </p:nvSpPr>
        <p:spPr>
          <a:xfrm>
            <a:off x="548640" y="1783080"/>
            <a:ext cx="11091672" cy="731520"/>
          </a:xfrm>
          <a:prstGeom prst="rect">
            <a:avLst/>
          </a:prstGeom>
          <a:noFill/>
          <a:ln/>
        </p:spPr>
        <p:txBody>
          <a:bodyPr wrap="square" lIns="0" tIns="0" rIns="0" bIns="0" rtlCol="0" anchor="t"/>
          <a:lstStyle/>
          <a:p>
            <a:pPr indent="0" marL="0">
              <a:buNone/>
            </a:pPr>
            <a:r>
              <a:rPr lang="en-US" sz="1500" dirty="0">
                <a:solidFill>
                  <a:srgbClr val="C5D0E2"/>
                </a:solidFill>
                <a:latin typeface="Malgun Gothic" pitchFamily="34" charset="0"/>
                <a:ea typeface="Malgun Gothic" pitchFamily="34" charset="-122"/>
                <a:cs typeface="Malgun Gothic" pitchFamily="34" charset="-120"/>
              </a:rPr>
              <a:t>쟁점 7의 답입니다. 판결은 집행돼야 효력이 있고, 재발하면 재심입니다. 효과는 돌아옵니다 — 그래서 한 시간에 한 번 1분입니다.</a:t>
            </a:r>
            <a:endParaRPr lang="en-US" sz="1500" dirty="0"/>
          </a:p>
        </p:txBody>
      </p:sp>
      <p:sp>
        <p:nvSpPr>
          <p:cNvPr id="7" name="Shape 5"/>
          <p:cNvSpPr/>
          <p:nvPr/>
        </p:nvSpPr>
        <p:spPr>
          <a:xfrm>
            <a:off x="548640" y="2651760"/>
            <a:ext cx="2035454" cy="2377440"/>
          </a:xfrm>
          <a:prstGeom prst="roundRect">
            <a:avLst>
              <a:gd name="adj" fmla="val 6739"/>
            </a:avLst>
          </a:prstGeom>
          <a:solidFill>
            <a:srgbClr val="132446"/>
          </a:solidFill>
          <a:ln w="12700">
            <a:solidFill>
              <a:srgbClr val="132446"/>
            </a:solidFill>
            <a:prstDash val="solid"/>
          </a:ln>
        </p:spPr>
      </p:sp>
      <p:sp>
        <p:nvSpPr>
          <p:cNvPr id="8" name="Text 6"/>
          <p:cNvSpPr txBox="1"/>
          <p:nvPr/>
        </p:nvSpPr>
        <p:spPr>
          <a:xfrm>
            <a:off x="749808" y="2816352"/>
            <a:ext cx="163311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하나 · 범인</a:t>
            </a:r>
            <a:endParaRPr lang="en-US" sz="1000" dirty="0"/>
          </a:p>
        </p:txBody>
      </p:sp>
      <p:sp>
        <p:nvSpPr>
          <p:cNvPr id="9" name="Text 7"/>
          <p:cNvSpPr txBox="1"/>
          <p:nvPr/>
        </p:nvSpPr>
        <p:spPr>
          <a:xfrm>
            <a:off x="749808" y="3108960"/>
            <a:ext cx="163311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아픈 곳 말고 굳은 곳</a:t>
            </a:r>
            <a:endParaRPr lang="en-US" sz="1500" dirty="0"/>
          </a:p>
        </p:txBody>
      </p:sp>
      <p:sp>
        <p:nvSpPr>
          <p:cNvPr id="10" name="Text 8"/>
          <p:cNvSpPr txBox="1"/>
          <p:nvPr/>
        </p:nvSpPr>
        <p:spPr>
          <a:xfrm>
            <a:off x="749808" y="3840480"/>
            <a:ext cx="1633118"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목→등, 허리→엉덩이, 어깨→승모근·겨드랑이, 무릎→발·앞허벅지. 피해자만 주무르면 하루 뒤 돌아옵니다.</a:t>
            </a:r>
            <a:endParaRPr lang="en-US" sz="1150" dirty="0"/>
          </a:p>
        </p:txBody>
      </p:sp>
      <p:sp>
        <p:nvSpPr>
          <p:cNvPr id="11" name="Shape 9"/>
          <p:cNvSpPr/>
          <p:nvPr/>
        </p:nvSpPr>
        <p:spPr>
          <a:xfrm>
            <a:off x="2812694" y="2651760"/>
            <a:ext cx="2035454" cy="2377440"/>
          </a:xfrm>
          <a:prstGeom prst="roundRect">
            <a:avLst>
              <a:gd name="adj" fmla="val 6739"/>
            </a:avLst>
          </a:prstGeom>
          <a:solidFill>
            <a:srgbClr val="132446"/>
          </a:solidFill>
          <a:ln w="12700">
            <a:solidFill>
              <a:srgbClr val="132446"/>
            </a:solidFill>
            <a:prstDash val="solid"/>
          </a:ln>
        </p:spPr>
      </p:sp>
      <p:sp>
        <p:nvSpPr>
          <p:cNvPr id="12" name="Text 10"/>
          <p:cNvSpPr txBox="1"/>
          <p:nvPr/>
        </p:nvSpPr>
        <p:spPr>
          <a:xfrm>
            <a:off x="3013862" y="2816352"/>
            <a:ext cx="163311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둘 · 내쉬기</a:t>
            </a:r>
            <a:endParaRPr lang="en-US" sz="1000" dirty="0"/>
          </a:p>
        </p:txBody>
      </p:sp>
      <p:sp>
        <p:nvSpPr>
          <p:cNvPr id="13" name="Text 11"/>
          <p:cNvSpPr txBox="1"/>
          <p:nvPr/>
        </p:nvSpPr>
        <p:spPr>
          <a:xfrm>
            <a:off x="3013862" y="3108960"/>
            <a:ext cx="163311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아프면 참지 말고 5초 내쉰다</a:t>
            </a:r>
            <a:endParaRPr lang="en-US" sz="1500" dirty="0"/>
          </a:p>
        </p:txBody>
      </p:sp>
      <p:sp>
        <p:nvSpPr>
          <p:cNvPr id="14" name="Text 12"/>
          <p:cNvSpPr txBox="1"/>
          <p:nvPr/>
        </p:nvSpPr>
        <p:spPr>
          <a:xfrm>
            <a:off x="3013862" y="3840480"/>
            <a:ext cx="1633118"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내쉬고 → 미간 풀고 → 심봤다. 숨을 참으면 힘이 빠지지 않습니다. 벌금 1만 원.</a:t>
            </a:r>
            <a:endParaRPr lang="en-US" sz="1150" dirty="0"/>
          </a:p>
        </p:txBody>
      </p:sp>
      <p:sp>
        <p:nvSpPr>
          <p:cNvPr id="15" name="Shape 13"/>
          <p:cNvSpPr/>
          <p:nvPr/>
        </p:nvSpPr>
        <p:spPr>
          <a:xfrm>
            <a:off x="5076749" y="2651760"/>
            <a:ext cx="2035454" cy="2377440"/>
          </a:xfrm>
          <a:prstGeom prst="roundRect">
            <a:avLst>
              <a:gd name="adj" fmla="val 6739"/>
            </a:avLst>
          </a:prstGeom>
          <a:solidFill>
            <a:srgbClr val="132446"/>
          </a:solidFill>
          <a:ln w="12700">
            <a:solidFill>
              <a:srgbClr val="132446"/>
            </a:solidFill>
            <a:prstDash val="solid"/>
          </a:ln>
        </p:spPr>
      </p:sp>
      <p:sp>
        <p:nvSpPr>
          <p:cNvPr id="16" name="Text 14"/>
          <p:cNvSpPr txBox="1"/>
          <p:nvPr/>
        </p:nvSpPr>
        <p:spPr>
          <a:xfrm>
            <a:off x="5277917" y="2816352"/>
            <a:ext cx="163311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셋 · 다음 자세</a:t>
            </a:r>
            <a:endParaRPr lang="en-US" sz="1000" dirty="0"/>
          </a:p>
        </p:txBody>
      </p:sp>
      <p:sp>
        <p:nvSpPr>
          <p:cNvPr id="17" name="Text 15"/>
          <p:cNvSpPr txBox="1"/>
          <p:nvPr/>
        </p:nvSpPr>
        <p:spPr>
          <a:xfrm>
            <a:off x="5277917" y="3108960"/>
            <a:ext cx="163311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한 시간에 한 번, 1분 리셋</a:t>
            </a:r>
            <a:endParaRPr lang="en-US" sz="1500" dirty="0"/>
          </a:p>
        </p:txBody>
      </p:sp>
      <p:sp>
        <p:nvSpPr>
          <p:cNvPr id="18" name="Text 16"/>
          <p:cNvSpPr txBox="1"/>
          <p:nvPr/>
        </p:nvSpPr>
        <p:spPr>
          <a:xfrm>
            <a:off x="5277917" y="3840480"/>
            <a:ext cx="1633118"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0~10초 발 3점·체중 옮기기 → 10~40초 등 세우기+내쉬기 ×3 → 40~55초 모서리 누르며 만세 ×2+미간 → 55~60초 회전 확인. 5%만.</a:t>
            </a:r>
            <a:endParaRPr lang="en-US" sz="1150" dirty="0"/>
          </a:p>
        </p:txBody>
      </p:sp>
      <p:sp>
        <p:nvSpPr>
          <p:cNvPr id="19" name="Shape 17"/>
          <p:cNvSpPr/>
          <p:nvPr/>
        </p:nvSpPr>
        <p:spPr>
          <a:xfrm>
            <a:off x="7340803" y="2651760"/>
            <a:ext cx="2035454" cy="2377440"/>
          </a:xfrm>
          <a:prstGeom prst="roundRect">
            <a:avLst>
              <a:gd name="adj" fmla="val 6739"/>
            </a:avLst>
          </a:prstGeom>
          <a:solidFill>
            <a:srgbClr val="132446"/>
          </a:solidFill>
          <a:ln w="12700">
            <a:solidFill>
              <a:srgbClr val="132446"/>
            </a:solidFill>
            <a:prstDash val="solid"/>
          </a:ln>
        </p:spPr>
      </p:sp>
      <p:sp>
        <p:nvSpPr>
          <p:cNvPr id="20" name="Text 18"/>
          <p:cNvSpPr txBox="1"/>
          <p:nvPr/>
        </p:nvSpPr>
        <p:spPr>
          <a:xfrm>
            <a:off x="7541971" y="2816352"/>
            <a:ext cx="163311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재심</a:t>
            </a:r>
            <a:endParaRPr lang="en-US" sz="1000" dirty="0"/>
          </a:p>
        </p:txBody>
      </p:sp>
      <p:sp>
        <p:nvSpPr>
          <p:cNvPr id="21" name="Text 19"/>
          <p:cNvSpPr txBox="1"/>
          <p:nvPr/>
        </p:nvSpPr>
        <p:spPr>
          <a:xfrm>
            <a:off x="7541971" y="3108960"/>
            <a:ext cx="163311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돌아오면 다시 잰다</a:t>
            </a:r>
            <a:endParaRPr lang="en-US" sz="1500" dirty="0"/>
          </a:p>
        </p:txBody>
      </p:sp>
      <p:sp>
        <p:nvSpPr>
          <p:cNvPr id="22" name="Text 20"/>
          <p:cNvSpPr txBox="1"/>
          <p:nvPr/>
        </p:nvSpPr>
        <p:spPr>
          <a:xfrm>
            <a:off x="7541971" y="3840480"/>
            <a:ext cx="1633118"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재발은 실패가 아니라 재심 사유. 아침·잠들기 전 0~10, 같은 기준. 저림·힘 빠짐이 늘면 의료기관.</a:t>
            </a:r>
            <a:endParaRPr lang="en-US" sz="1150" dirty="0"/>
          </a:p>
        </p:txBody>
      </p:sp>
      <p:sp>
        <p:nvSpPr>
          <p:cNvPr id="23" name="Shape 21"/>
          <p:cNvSpPr/>
          <p:nvPr/>
        </p:nvSpPr>
        <p:spPr>
          <a:xfrm>
            <a:off x="9604858" y="2651760"/>
            <a:ext cx="2035454" cy="2377440"/>
          </a:xfrm>
          <a:prstGeom prst="roundRect">
            <a:avLst>
              <a:gd name="adj" fmla="val 6739"/>
            </a:avLst>
          </a:prstGeom>
          <a:solidFill>
            <a:srgbClr val="132446"/>
          </a:solidFill>
          <a:ln w="12700">
            <a:solidFill>
              <a:srgbClr val="132446"/>
            </a:solidFill>
            <a:prstDash val="solid"/>
          </a:ln>
        </p:spPr>
      </p:sp>
      <p:sp>
        <p:nvSpPr>
          <p:cNvPr id="24" name="Text 22"/>
          <p:cNvSpPr txBox="1"/>
          <p:nvPr/>
        </p:nvSpPr>
        <p:spPr>
          <a:xfrm>
            <a:off x="9806026" y="2816352"/>
            <a:ext cx="1633118" cy="274320"/>
          </a:xfrm>
          <a:prstGeom prst="rect">
            <a:avLst/>
          </a:prstGeom>
          <a:noFill/>
          <a:ln/>
        </p:spPr>
        <p:txBody>
          <a:bodyPr wrap="square" lIns="0" tIns="0" rIns="0" bIns="0" rtlCol="0" anchor="ctr"/>
          <a:lstStyle/>
          <a:p>
            <a:pPr indent="0" marL="0">
              <a:buNone/>
            </a:pPr>
            <a:r>
              <a:rPr lang="en-US" sz="1000" b="1" spc="100" kern="0" dirty="0">
                <a:solidFill>
                  <a:srgbClr val="F5B13D"/>
                </a:solidFill>
                <a:latin typeface="Malgun Gothic" pitchFamily="34" charset="0"/>
                <a:ea typeface="Malgun Gothic" pitchFamily="34" charset="-122"/>
                <a:cs typeface="Malgun Gothic" pitchFamily="34" charset="-120"/>
              </a:rPr>
              <a:t>복습</a:t>
            </a:r>
            <a:endParaRPr lang="en-US" sz="1000" dirty="0"/>
          </a:p>
        </p:txBody>
      </p:sp>
      <p:sp>
        <p:nvSpPr>
          <p:cNvPr id="25" name="Text 23"/>
          <p:cNvSpPr txBox="1"/>
          <p:nvPr/>
        </p:nvSpPr>
        <p:spPr>
          <a:xfrm>
            <a:off x="9806026" y="3108960"/>
            <a:ext cx="1633118" cy="731520"/>
          </a:xfrm>
          <a:prstGeom prst="rect">
            <a:avLst/>
          </a:prstGeom>
          <a:noFill/>
          <a:ln/>
        </p:spPr>
        <p:txBody>
          <a:bodyPr wrap="square" lIns="0" tIns="0" rIns="0" bIns="0" rtlCol="0" anchor="t"/>
          <a:lstStyle/>
          <a:p>
            <a:pPr indent="0" marL="0">
              <a:buNone/>
            </a:pPr>
            <a:r>
              <a:rPr lang="en-US" sz="1500" b="1" dirty="0">
                <a:solidFill>
                  <a:srgbClr val="F3F6FB"/>
                </a:solidFill>
                <a:latin typeface="Malgun Gothic" pitchFamily="34" charset="0"/>
                <a:ea typeface="Malgun Gothic" pitchFamily="34" charset="-122"/>
                <a:cs typeface="Malgun Gothic" pitchFamily="34" charset="-120"/>
              </a:rPr>
              <a:t>기관 공식 안내</a:t>
            </a:r>
            <a:endParaRPr lang="en-US" sz="1500" dirty="0"/>
          </a:p>
        </p:txBody>
      </p:sp>
      <p:sp>
        <p:nvSpPr>
          <p:cNvPr id="26" name="Text 24"/>
          <p:cNvSpPr txBox="1"/>
          <p:nvPr/>
        </p:nvSpPr>
        <p:spPr>
          <a:xfrm>
            <a:off x="9806026" y="3840480"/>
            <a:ext cx="1633118" cy="1051560"/>
          </a:xfrm>
          <a:prstGeom prst="rect">
            <a:avLst/>
          </a:prstGeom>
          <a:noFill/>
          <a:ln/>
        </p:spPr>
        <p:txBody>
          <a:bodyPr wrap="square" lIns="0" tIns="0" rIns="0" bIns="0" rtlCol="0" anchor="t"/>
          <a:lstStyle/>
          <a:p>
            <a:pPr indent="0" marL="0">
              <a:buNone/>
            </a:pPr>
            <a:r>
              <a:rPr lang="en-US" sz="1150" dirty="0">
                <a:solidFill>
                  <a:srgbClr val="C5D0E2"/>
                </a:solidFill>
                <a:latin typeface="Malgun Gothic" pitchFamily="34" charset="0"/>
                <a:ea typeface="Malgun Gothic" pitchFamily="34" charset="-122"/>
                <a:cs typeface="Malgun Gothic" pitchFamily="34" charset="-120"/>
              </a:rPr>
              <a:t>복습 자료는 개인 신청이 아니라 기관을 통해 동일 조건으로 안내됩니다. 현장에서 연락처를 받지 않습니다.</a:t>
            </a:r>
            <a:endParaRPr lang="en-US" sz="1150" dirty="0"/>
          </a:p>
        </p:txBody>
      </p:sp>
      <p:sp>
        <p:nvSpPr>
          <p:cNvPr id="27" name="Text 25"/>
          <p:cNvSpPr txBox="1"/>
          <p:nvPr/>
        </p:nvSpPr>
        <p:spPr>
          <a:xfrm>
            <a:off x="548640" y="5120640"/>
            <a:ext cx="11091672" cy="640080"/>
          </a:xfrm>
          <a:prstGeom prst="rect">
            <a:avLst/>
          </a:prstGeom>
          <a:noFill/>
          <a:ln/>
        </p:spPr>
        <p:txBody>
          <a:bodyPr wrap="square" lIns="0" tIns="0" rIns="0" bIns="0" rtlCol="0" anchor="ctr"/>
          <a:lstStyle/>
          <a:p>
            <a:pPr indent="0" marL="0">
              <a:buNone/>
            </a:pPr>
            <a:r>
              <a:rPr lang="en-US" sz="1600" b="1" i="1" dirty="0">
                <a:solidFill>
                  <a:srgbClr val="FFD27A"/>
                </a:solidFill>
                <a:latin typeface="Malgun Gothic" pitchFamily="34" charset="0"/>
                <a:ea typeface="Malgun Gothic" pitchFamily="34" charset="-122"/>
                <a:cs typeface="Malgun Gothic" pitchFamily="34" charset="-120"/>
              </a:rPr>
              <a:t>"운동은 체육관에서 하는 게 아니라 체육관 밖 23시간 동안 하는 것입니다. 이상으로 사건번호 2026-몸-2, 통증 사건 심리를 폐정합니다."</a:t>
            </a:r>
            <a:endParaRPr lang="en-US" sz="1600" dirty="0"/>
          </a:p>
        </p:txBody>
      </p:sp>
      <p:sp>
        <p:nvSpPr>
          <p:cNvPr id="28" name="Text 26"/>
          <p:cNvSpPr txBox="1"/>
          <p:nvPr/>
        </p:nvSpPr>
        <p:spPr>
          <a:xfrm>
            <a:off x="548640" y="5715000"/>
            <a:ext cx="11091672" cy="457200"/>
          </a:xfrm>
          <a:prstGeom prst="rect">
            <a:avLst/>
          </a:prstGeom>
          <a:noFill/>
          <a:ln/>
        </p:spPr>
        <p:txBody>
          <a:bodyPr wrap="square" lIns="0" tIns="0" rIns="0" bIns="0" rtlCol="0" anchor="ctr"/>
          <a:lstStyle/>
          <a:p>
            <a:pPr indent="0" marL="0">
              <a:buNone/>
            </a:pPr>
            <a:r>
              <a:rPr lang="en-US" sz="1100" dirty="0">
                <a:solidFill>
                  <a:srgbClr val="FFC9C9"/>
                </a:solidFill>
                <a:latin typeface="Malgun Gothic" pitchFamily="34" charset="0"/>
                <a:ea typeface="Malgun Gothic" pitchFamily="34" charset="-122"/>
                <a:cs typeface="Malgun Gothic" pitchFamily="34" charset="-120"/>
              </a:rPr>
              <a:t>! 사진은 동의하신 분만, 종료 후 자율 — '안 푼 팔 내리고 푼 팔만 만세'. 대외 사용은 기관 승인 후. 복습·후속 안내는 기관 공식 경로로 동일하게 제공되며 개인 연락처는 받지 않습니다.</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판사의 질문 7개 · 최종 답</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24</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2600" b="1" dirty="0">
                <a:solidFill>
                  <a:srgbClr val="F3F6FB"/>
                </a:solidFill>
                <a:latin typeface="Malgun Gothic" pitchFamily="34" charset="0"/>
                <a:ea typeface="Malgun Gothic" pitchFamily="34" charset="-122"/>
                <a:cs typeface="Malgun Gothic" pitchFamily="34" charset="-120"/>
              </a:rPr>
              <a:t>7개 질문에 대한 감정인의 답</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457200"/>
                <a:gridCol w="3108960"/>
                <a:gridCol w="4206240"/>
                <a:gridCol w="3291840"/>
              </a:tblGrid>
              <a:tr h="502920">
                <a:tc>
                  <a:txBody>
                    <a:bodyP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질문</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한 문장 결론</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b="1" dirty="0">
                          <a:solidFill>
                            <a:srgbClr val="8FA3BF"/>
                          </a:solidFill>
                          <a:latin typeface="Malgun Gothic" pitchFamily="34" charset="0"/>
                          <a:ea typeface="Malgun Gothic" pitchFamily="34" charset="-122"/>
                          <a:cs typeface="Malgun Gothic" pitchFamily="34" charset="-120"/>
                        </a:rPr>
                        <a:t>오늘 현장 확인</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r>
              <a:tr h="502920">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1</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왜 일을 오래 하면 목과 허리가 아픈가?</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범인은 '나쁜 자세'가 아니라 '한 자세'입니다 — 오래 같은 자세로 있으면 목·허리를 받치는 근육이 쉬지 못하고 계속 일하는 정적 부하가 쌓이기 때문이고, 많은 경우 조직 손상보다 정적 부하로 설명됩니다(개별 원인은 의료기관 판단).</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목 사건에서 목을 만지지 않고 등받이에 등 상부만 붙여 등을 세운 뒤 좌우 회전을 다시 합니다. 목을 건드리지 않았는데 회전 느낌이 달라지면 적어도 자세가 목 감각에 영향을 준다는 것을 각자 확인한 셈입니다(가설 지지). 사후 QR 소결에서 쟁점 1 번호를 붙여 회수합니다.</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r>
              <a:tr h="502920">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2</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좋은 의자와 바른 자세만으로 해결되지 않는 이유는 무엇인가?</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좋은 의자는 좋은 변호사입니다 — 부담을 나눠 주지만 대신 걸어 주진 않습니다. 어떤 좋은 자세도 오래 고정되면 다시 정적 부하가 되고, 굳은 엉덩이·등으로는 바른 자세를 만들기 어렵다는 가설이므로, 답은 자세 하나가 아니라 굳은 곳 풀기 + 자세 바꾸기 — 가장 좋은 자세는 '다음 자세'입니다.</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쟁점 2 슬라이드에서 60초 동안 '가장 바른 자세'를 유지하고 어디가 먼저 뻐근한지 기억합니다. 허리 사건에서 같은 의자에 앉은 채 한쪽 엉덩이만 풉니다 — 의자는 그대로인데 다리 들기·3걸음이 좌우로 다르면 의자가 변수가 아니었다는 증거입니다.</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r>
              <a:tr h="502920">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3</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통증이 있을 때 움직여도 되는 것과 병원에 가야 하는 것을 어떻게 구분하는가?</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움직여도 되는 것은 '자세를 바꾸면 덜해지고, 눌렀을 때 시원한 불편감이며, 숨 쉬면서 견딜 수 있는' 뻐근함이고, 저림·힘 빠짐·대소변 장애·발열·야간통·외상·급성 심한 통증 — 대표적 일곱 가지 — 가 있으면 오늘 압박을 생략하고 의료기관 평가가 먼저입니다. 목록은 참가 여부용이며 최종 판단은 의료인의 몫입니다.</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증거능력 고지 슬라이드의 일곱 단어를 각 부위 사전 QR 전 10초 자가 확인합니다. 하나라도 해당되면 그 부위는 관찰만 — 손 들 필요 없이 본인만 알면 됩니다. 실습 중 '숨이 막히는가, 찌릿한가, 어지러운가' 셋 중 하나라도 있으면 그 자리는 패스. 부위별 안전 문구가 같은 기준을 반복합니다.</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r>
              <a:tr h="502920">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4</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재판이나 기록 검토 중 1분밖에 없다면 무엇을 해야 하는가?</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목·허리를 만지지 말고 범인만 건드립니다 — 0~10초 발 3점·엉덩이 한쪽으로 체중 옮기기, 10~40초 등받이에 등 상부 붙이고 배 조여 소리 나게 5초 내쉬기 ×3, 40~55초 어깨 모서리 누르며 만세 ×2·미간 힘 빼기, 55~60초 고개 회전 확인 — 공도 매트도 없이 의자에서, 아무도 눈치채지 못합니다.</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목 사건의 첫 리셋(등 세우기 ×3)과 허리 사건의 골반 중간점이 그 자체로 1분 버전이며 각 소결에서 '쟁점 4' 번호를 붙여 답합니다. 부위마다 '이 부위의 1분 버전'을 한 문장으로 예고하고, 폐정에서 전원이 강사 카운트로 60초 실연합니다.</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r>
              <a:tr h="502920">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5</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어깨·목·허리 중 내 문제를 간단히 확인할 방법이 있는가?</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세 동작 각 10초 — 목은 같은 속도 좌우 회전, 어깨는 양팔 만세, 허리는 앉아서 숙이기 또는 3걸음 — 에서 더 걸리거나 무거운 쪽을 기억하고 0~10으로 적는 것이 오늘 쓴 자가 확인 동작 그대로이며, 이는 진단이 아니라 오늘의 기준선 관찰입니다.</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목·어깨·허리 사건의 '체크' 단계 첫 10초가 그것입니다. 아침·잠들기 전 같은 세 동작을 같은 속도로 하고 숫자만 적으면 집에서도 재현됩니다. 저림·힘 빠짐이 동반되면 관찰이 아니라 의료기관 평가입니다.</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r>
              <a:tr h="502920">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6</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운동을 많이 하는 것과 몸을 잘 관리하는 것은 어떻게 다른가?</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운동은 더하기, 관리는 나누기입니다 — 운동은 주 몇 시간의 '양'이고 관리는 나머지 23시간의 '상태'이며, 둘은 서로 대체되지 않습니다. 관리 없는 운동은 주차장의 스포츠카입니다.</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판결 슬라이드의 결과 공개 — 체육관식 운동 없이 전후 응답이 달라졌는지 봅니다. 변화 없음·증가 비율을 먼저 읽습니다. 무릎 사건의 '풀고 → 발·엉덩이 세우고 → 일어나기' 순서가 단서, 확정은 판결에서.</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r>
              <a:tr h="502920">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7</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오늘 딱 세 가지만 기억한다면 무엇인가?</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① 범인 — 아픈 곳 말고 굳은 곳(목→등, 허리→엉덩이, 어깨→승모근·겨드랑이, 무릎→발·앞허벅지) ② 내쉬기 — 아프면 참지 말고 5초 소리 나게(내쉬고·미간 풀고·심봤다) ③ 다음 자세 — 한 시간에 한 번 1분 리셋, 5%만. 세 단어: 범인 · 내쉬기 · 다음 자세.</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c>
                  <a:txBody>
                    <a:bodyPr/>
                    <a:lstStyle/>
                    <a:p>
                      <a:pPr indent="0" marL="0">
                        <a:buNone/>
                      </a:pPr>
                      <a:r>
                        <a:rPr lang="en-US" sz="1000" dirty="0">
                          <a:solidFill>
                            <a:srgbClr val="F3F6FB"/>
                          </a:solidFill>
                          <a:latin typeface="Malgun Gothic" pitchFamily="34" charset="0"/>
                          <a:ea typeface="Malgun Gothic" pitchFamily="34" charset="-122"/>
                          <a:cs typeface="Malgun Gothic" pitchFamily="34" charset="-120"/>
                        </a:rPr>
                        <a:t>폐정에서 전원 1분 절차 실연(집행의 첫 실행) 후 옆사람에게 한 문장: '내 범인은 ○○이고, 내일 1분 행동은 ○○이다.' 말한 것이 집행됩니다. 재발하면 같은 0~10으로 재측정(재심), 저림·힘 빠짐이 늘면 의료기관.</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1C3260"/>
                      </a:solidFill>
                      <a:prstDash val="solid"/>
                      <a:round/>
                      <a:headEnd type="none" w="med" len="med"/>
                      <a:tailEnd type="none" w="med" len="med"/>
                    </a:lnL>
                    <a:lnR w="6350" cap="flat" cmpd="sng" algn="ctr">
                      <a:solidFill>
                        <a:srgbClr val="1C3260"/>
                      </a:solidFill>
                      <a:prstDash val="solid"/>
                      <a:round/>
                      <a:headEnd type="none" w="med" len="med"/>
                      <a:tailEnd type="none" w="med" len="med"/>
                    </a:lnR>
                    <a:lnT w="6350" cap="flat" cmpd="sng" algn="ctr">
                      <a:solidFill>
                        <a:srgbClr val="1C3260"/>
                      </a:solidFill>
                      <a:prstDash val="solid"/>
                      <a:round/>
                      <a:headEnd type="none" w="med" len="med"/>
                      <a:tailEnd type="none" w="med" len="med"/>
                    </a:lnT>
                    <a:lnB w="6350" cap="flat" cmpd="sng" algn="ctr">
                      <a:solidFill>
                        <a:srgbClr val="1C3260"/>
                      </a:solidFill>
                      <a:prstDash val="solid"/>
                      <a:round/>
                      <a:headEnd type="none" w="med" len="med"/>
                      <a:tailEnd type="none" w="med" len="med"/>
                    </a:lnB>
                    <a:solidFill>
                      <a:srgbClr val="132446"/>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730"/>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320040"/>
          </a:xfrm>
          <a:prstGeom prst="rect">
            <a:avLst/>
          </a:prstGeom>
          <a:noFill/>
          <a:ln/>
        </p:spPr>
        <p:txBody>
          <a:bodyPr wrap="square" lIns="0" tIns="0" rIns="0" bIns="0" rtlCol="0" anchor="ctr"/>
          <a:lstStyle/>
          <a:p>
            <a:pPr indent="0" marL="0">
              <a:buNone/>
            </a:pPr>
            <a:r>
              <a:rPr lang="en-US" sz="1200" b="1" spc="200" kern="0" dirty="0">
                <a:solidFill>
                  <a:srgbClr val="F5B13D"/>
                </a:solidFill>
                <a:latin typeface="Malgun Gothic" pitchFamily="34" charset="0"/>
                <a:ea typeface="Malgun Gothic" pitchFamily="34" charset="-122"/>
                <a:cs typeface="Malgun Gothic" pitchFamily="34" charset="-120"/>
              </a:rPr>
              <a:t>참고 근거 · 감정인 제출</a:t>
            </a:r>
            <a:endParaRPr lang="en-US" sz="1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BF"/>
                </a:solidFill>
                <a:latin typeface="Malgun Gothic" pitchFamily="34" charset="0"/>
                <a:ea typeface="Malgun Gothic" pitchFamily="34" charset="-122"/>
                <a:cs typeface="Malgun Gothic" pitchFamily="34" charset="-120"/>
              </a:rPr>
              <a:t>몸의 법정 — 다섯 부위 사건 심리 · suwon-2</a:t>
            </a:r>
            <a:endParaRPr lang="en-US" sz="900" dirty="0"/>
          </a:p>
        </p:txBody>
      </p:sp>
      <p:sp>
        <p:nvSpPr>
          <p:cNvPr id="4" name="Text 2"/>
          <p:cNvSpPr txBox="1"/>
          <p:nvPr/>
        </p:nvSpPr>
        <p:spPr>
          <a:xfrm>
            <a:off x="10725912" y="6400800"/>
            <a:ext cx="914400" cy="274320"/>
          </a:xfrm>
          <a:prstGeom prst="rect">
            <a:avLst/>
          </a:prstGeom>
          <a:noFill/>
          <a:ln/>
        </p:spPr>
        <p:txBody>
          <a:bodyPr wrap="square" lIns="0" tIns="0" rIns="0" bIns="0" rtlCol="0" anchor="ctr"/>
          <a:lstStyle/>
          <a:p>
            <a:pPr algn="r" indent="0" marL="0">
              <a:buNone/>
            </a:pPr>
            <a:r>
              <a:rPr lang="en-US" sz="900" dirty="0">
                <a:solidFill>
                  <a:srgbClr val="8FA3BF"/>
                </a:solidFill>
                <a:latin typeface="Malgun Gothic" pitchFamily="34" charset="0"/>
                <a:ea typeface="Malgun Gothic" pitchFamily="34" charset="-122"/>
                <a:cs typeface="Malgun Gothic" pitchFamily="34" charset="-120"/>
              </a:rPr>
              <a:t>25</a:t>
            </a:r>
            <a:endParaRPr lang="en-US" sz="900" dirty="0"/>
          </a:p>
        </p:txBody>
      </p:sp>
      <p:sp>
        <p:nvSpPr>
          <p:cNvPr id="5" name="Text 3"/>
          <p:cNvSpPr txBox="1"/>
          <p:nvPr/>
        </p:nvSpPr>
        <p:spPr>
          <a:xfrm>
            <a:off x="548640" y="731520"/>
            <a:ext cx="11091672" cy="1005840"/>
          </a:xfrm>
          <a:prstGeom prst="rect">
            <a:avLst/>
          </a:prstGeom>
          <a:noFill/>
          <a:ln/>
        </p:spPr>
        <p:txBody>
          <a:bodyPr wrap="square" lIns="0" tIns="0" rIns="0" bIns="0" rtlCol="0" anchor="t"/>
          <a:lstStyle/>
          <a:p>
            <a:pPr indent="0" marL="0">
              <a:buNone/>
            </a:pPr>
            <a:r>
              <a:rPr lang="en-US" sz="2600" b="1" dirty="0">
                <a:solidFill>
                  <a:srgbClr val="F3F6FB"/>
                </a:solidFill>
                <a:latin typeface="Malgun Gothic" pitchFamily="34" charset="0"/>
                <a:ea typeface="Malgun Gothic" pitchFamily="34" charset="-122"/>
                <a:cs typeface="Malgun Gothic" pitchFamily="34" charset="-120"/>
              </a:rPr>
              <a:t>이 강의가 기댄 근거</a:t>
            </a:r>
            <a:endParaRPr lang="en-US" sz="2600" dirty="0"/>
          </a:p>
        </p:txBody>
      </p:sp>
      <p:sp>
        <p:nvSpPr>
          <p:cNvPr id="6" name="Text 4"/>
          <p:cNvSpPr txBox="1"/>
          <p:nvPr/>
        </p:nvSpPr>
        <p:spPr>
          <a:xfrm>
            <a:off x="548640" y="1737360"/>
            <a:ext cx="11091672" cy="42062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International Association for the Study of Pain (IASP). Revised definition of pain, 2020 (Raja SN et al., Pain 2020) — 개정·증거능력 고지·어깨 사건 — 통증은 실재하되 조직 손상의 크기와 같은 뜻이 아님. 1회차 '허상' 표현 대체  [신뢰도 high]</a:t>
            </a:r>
            <a:endParaRPr lang="en-US" sz="1100" dirty="0"/>
          </a:p>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World Health Organization. WHO guidelines on physical activity and sedentary behaviour, 2020 — 쟁점 1·2·4·6·7 — 좌식 시간 감소 별도 권고, 어떤 활동이든 안 하는 것보다 낫다, 운동량과 좌식은 별개 항목, 근력 주 2회  [신뢰도 high]</a:t>
            </a:r>
            <a:endParaRPr lang="en-US" sz="1100" dirty="0"/>
          </a:p>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NICE. Low back pain and sciatica in over 16s: assessment and management (NG59), 2016 (updated 2020) — 쟁점 2·3·7, 허리 사건 — 일상 활동 지속·운동 권고, 레드플래그 시 별도 평가. 요통 지침이므로 목·어깨·무릎은 같은 원칙의 유추 적용(medium)  [신뢰도 high]</a:t>
            </a:r>
            <a:endParaRPr lang="en-US" sz="1100" dirty="0"/>
          </a:p>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고용노동부 고시 「근골격계부담작업의 범위 및 유해요인조사 방법에 관한 고시」 (산업안전보건법 근거) — 하루 4시간 이상 집중적 자료입력 키보드·마우스 조작 작업 포함 — 쟁점 1, 목 사건 — 장시간 정적 사무작업이 부담작업으로 지정됨. '4시간' 외 세부 수치는 인용하지 않음 (기록 검토·재판 진행은 고시의 직접 대상이 아니며 취지만 인용)  [신뢰도 high]</a:t>
            </a:r>
            <a:endParaRPr lang="en-US" sz="1100" dirty="0"/>
          </a:p>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고용노동부 고시 「영상표시단말기(VDT) 취급근로자 작업관리지침」 — 쟁점 4 — 장시간 화면 작업 시 주기적 휴식·자세 변화 권고. 구체 시간 수치는 인용하지 않음  [신뢰도 medium]</a:t>
            </a:r>
            <a:endParaRPr lang="en-US" sz="1100" dirty="0"/>
          </a:p>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자세와 통증의 관계에 관한 일반 원칙 — 단일 이상적 자세의 근거는 약하고 자세 변화·움직임이 더 중요 (예: Slater D et al., 'Sit Up Straight': Time to Re-evaluate, JOSPT 2019 논평) — 쟁점 2 — '바른 자세는 지키는 것이 아니라 바꾸는 것', '가장 좋은 자세는 다음 자세'. 원칙은 일반 원칙으로 표기  [신뢰도 medium]</a:t>
            </a:r>
            <a:endParaRPr lang="en-US" sz="1100" dirty="0"/>
          </a:p>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근육 정적 부하(장시간 저강도 지속 수축 → 혈류 감소·피로 누적)에 관한 근생리학 일반 원칙 — 쟁점 1·4, 목 사건 — 구체 수치·특정 가설명 없이 '일반 원칙'으로만 사용  [신뢰도 medium]</a:t>
            </a:r>
            <a:endParaRPr lang="en-US" sz="1100" dirty="0"/>
          </a:p>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자가 근막 이완(공·폼롤러 압박)의 단기 관절가동범위 증가·주관적 이완 효과에 관한 일반 원칙 — 효과는 단기·개인차, 구조 변화 근거 아님 — 어깨 사건·판결·쟁점 6·7 — '가벼워지는지 확인', 매일 반복하는 관리의 근거  [신뢰도 medium]</a:t>
            </a:r>
            <a:endParaRPr lang="en-US" sz="1100" dirty="0"/>
          </a:p>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발·무릎·고관절의 하지 운동 사슬과 발바닥 감각 입력에 관한 운동학 일반 원칙 — 특정 논문 수치 인용 없음 — 발·무릎 사건 — '1층·2층·3층' 가설. 인과의 크기는 개인차가 큼을 명시  [신뢰도 medium]</a:t>
            </a:r>
            <a:endParaRPr lang="en-US" sz="1100" dirty="0"/>
          </a:p>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임상 가이드라인 공통 레드플래그 일반 원칙 — 신경학적 결손(저림·힘 빠짐), 대소변 이상, 감염·종양 의심(발열·야간통), 외상, 급성 심한 통증 — 쟁점 3, 증거능력 고지·부위별 안전 문구 — 관할(이송) 기준 일곱 단어  [신뢰도 high]</a:t>
            </a:r>
            <a:endParaRPr lang="en-US" sz="1100" dirty="0"/>
          </a:p>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0~10 숫자 평가 척도(NRS)의 통증 자기보고 표준 사용 — 임상·연구 일반 원칙 — 쟁점 5·7, 측정 엔진 — 같은 기준 반복 측정. '2점 이상 감소' 비율은 표시하되 임상적 의미는 단정하지 않음  [신뢰도 high]</a:t>
            </a:r>
            <a:endParaRPr lang="en-US" sz="1100" dirty="0"/>
          </a:p>
          <a:p>
            <a:pPr marL="342900" indent="-342900">
              <a:spcAft>
                <a:spcPts val="600"/>
              </a:spcAft>
              <a:buSzPct val="100000"/>
              <a:buChar char="•"/>
            </a:pPr>
            <a:r>
              <a:rPr lang="en-US" sz="1100" dirty="0">
                <a:solidFill>
                  <a:srgbClr val="C5D0E2"/>
                </a:solidFill>
                <a:latin typeface="Malgun Gothic" pitchFamily="34" charset="0"/>
                <a:ea typeface="Malgun Gothic" pitchFamily="34" charset="-122"/>
                <a:cs typeface="Malgun Gothic" pitchFamily="34" charset="-120"/>
              </a:rPr>
              <a:t>기대효과(플라시보)·평균으로의 회귀·자기보고 편향 — 전후 비교 연구의 대표적 교란 요인에 관한 연구방법론 일반 원칙 — 증거능력 고지·판결 한계 — 강사가 먼저 인정하는 한계와 '한쪽만 풀기'의 설계 이유  [신뢰도 high]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몸의 법정 — 다섯 부위 사건 심리</dc:title>
  <dc:subject>PptxGenJS Presentation</dc:subject>
  <dc:creator>김진</dc:creator>
  <cp:lastModifiedBy>김진</cp:lastModifiedBy>
  <cp:revision>1</cp:revision>
  <dcterms:created xsi:type="dcterms:W3CDTF">2026-09-02T02:55:10Z</dcterms:created>
  <dcterms:modified xsi:type="dcterms:W3CDTF">2026-09-02T02:55:10Z</dcterms:modified>
</cp:coreProperties>
</file>